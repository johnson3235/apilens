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I'm walking through ApiLens — a QA tool that gives us visibility into API calls on both the browser and server side, lets us simulate failures safely, and exports evidence for defects.</a:t>
            </a:r>
          </a:p>
          <a:p/>
          <a:p>
            <a:r>
              <a:t>Goal for this session: by the end, everyone can run their first API failure test independently. I'll demo live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roadmap. The part most people care about is section 3 — browser-side testing — because that works with zero setup. Section 4 needs a developer to add an SDK, so I'll flag that clearly.</a:t>
            </a:r>
          </a:p>
          <a:p/>
          <a:p>
            <a:r>
              <a:t>Section 5 on safety is the one I'd ask you not to skip: this tool can modify live traffic, so knowing the guardrails matters.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start with the pain, because the tool only matters if it removes real friction.</a:t>
            </a:r>
          </a:p>
          <a:p/>
          <a:p>
            <a:r>
              <a:t>Ask the room: how many of you have asked a developer to 'just make it fail' so you could test an error state? That round trip is usually a day.</a:t>
            </a:r>
          </a:p>
          <a:p/>
          <a:p>
            <a:r>
              <a:t>The third column is the one people underestimate — when the BFF calls three upstream services, the browser only sees one request. We're blind to the rest.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verbs: capture, simulate, correlate, prove.</a:t>
            </a:r>
          </a:p>
          <a:p/>
          <a:p>
            <a:r>
              <a:t>The thing that makes it more than DevTools is that these share one session. The call you captured is the call you mock, and it's the call that ends up in the evidence pack — no copying identifiers between tools.</a:t>
            </a:r>
          </a:p>
          <a:p/>
          <a:p>
            <a:r>
              <a:t>Emphasise local-first. This matters for the data protection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put this early deliberately. Tools lose trust when they over-promise.</a:t>
            </a:r>
          </a:p>
          <a:p/>
          <a:p>
            <a:r>
              <a:t>The top two rows are free — install the extension and you have them.</a:t>
            </a:r>
          </a:p>
          <a:p/>
          <a:p>
            <a:r>
              <a:t>Rows three and four need a developer to add the SDK and switch it on. That's a real ask, so be clear about it when you request it.</a:t>
            </a:r>
          </a:p>
          <a:p/>
          <a:p>
            <a:r>
              <a:t>The last two rows are honest limits. We cannot see DB queries. If someone asks for that, the answer is application logging, not this tool.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screenshot and pin in the team channel.</a:t>
            </a:r>
          </a:p>
          <a:p/>
          <a:p>
            <a:r>
              <a:t>Step 2 trips people up — you must reload the page once after opening the panel, otherwise the hooks aren't attached and you'll see fewer calls.</a:t>
            </a:r>
          </a:p>
          <a:p/>
          <a:p>
            <a:r>
              <a:t>Mention the built-in walkthrough. It covers everything in this deck, so nobody has to find these slides again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orientation so the demo makes sense.</a:t>
            </a:r>
          </a:p>
          <a:p/>
          <a:p>
            <a:r>
              <a:t>Be honest that 80% of day-to-day use is the Network section. Server API only matters once a developer has switched the SDK on. Traces only light up when both sides are instrumented.</a:t>
            </a:r>
          </a:p>
          <a:p/>
          <a:p>
            <a:r>
              <a:t>Don't dwell here — move to the real content.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mock-up of the real list so people recognise it in the demo.</a:t>
            </a:r>
          </a:p>
          <a:p/>
          <a:p>
            <a:r>
              <a:t>Two things to point out: the purple row is a mocked response — you always know when you're looking at simulated traffic, which matters when you write the defect.</a:t>
            </a:r>
          </a:p>
          <a:p/>
          <a:p>
            <a:r>
              <a:t>And the Source column is about honesty: 'page' means we hooked fetch and have the payload; 'browser' means we only saw metadata. The tool never pretends to have data it doesn't have.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teach this as a syntax to memorise. Lead with: type a word, it works.</a:t>
            </a:r>
          </a:p>
          <a:p/>
          <a:p>
            <a:r>
              <a:t>Then show that when you need precision it's there. The three I actually use daily are status:5xx, body:&lt;something&gt; and slow:&gt;1000.</a:t>
            </a:r>
          </a:p>
          <a:p/>
          <a:p>
            <a:r>
              <a:t>The last line is the UX detail I'm proudest of: an empty list always tells you WHICH filter emptied it and gives you a button to undo it. No dead ends.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controls are what make a 400-call session usable.</a:t>
            </a:r>
          </a:p>
          <a:p/>
          <a:p>
            <a:r>
              <a:t>API-only is the default and it's opinionated — if you're hunting a failed image, you must switch to Everything. The empty state tells you that, but mention it.</a:t>
            </a:r>
          </a:p>
          <a:p/>
          <a:p>
            <a:r>
              <a:t>Page scoping is the feature to demo: open billing, then orders, then show how 'This page' isolates each screen's calls.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tab's failure analysis is worth demoing — for a failed call it tells you what was observed and what the likely cause is, in plain English.</a:t>
            </a:r>
          </a:p>
          <a:p/>
          <a:p>
            <a:r>
              <a:t>The Code tab saves real time: you get a working cURL for the exact call, with the real headers, which you can hand to a developer in the defect.</a:t>
            </a:r>
          </a:p>
          <a:p/>
          <a:p>
            <a:r>
              <a:t>Flag redaction here — people will ask whether this is safe with customer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capability — the reason the tool exists.</a:t>
            </a:r>
          </a:p>
          <a:p/>
          <a:p>
            <a:r>
              <a:t>Stress step 1: always start from a real captured call. That gives you an exact URL pattern. If you hand-write a pattern like */api/* you will break the whole app for yourself and wonder why.</a:t>
            </a:r>
          </a:p>
          <a:p/>
          <a:p>
            <a:r>
              <a:t>The guardrail band is not decoration. Read it to the room. Rules start disabled on purpose, and the environment policy will block mocking where it isn't allowed.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problem before the solution.</a:t>
            </a:r>
          </a:p>
          <a:p/>
          <a:p>
            <a:r>
              <a:t>Draw the room's attention to the invisible section: when billing fails, the browser sees one 500 from /api/billing. Which of the three upstream services actually broke? Today we read logs.</a:t>
            </a:r>
          </a:p>
          <a:p/>
          <a:p>
            <a:r>
              <a:t>The last line matters for us specifically: our CLEAR app dev environment is remote, and the original design only worked on localhost. That's been solved.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code only to make the ask concrete when you talk to a developer — you're not expected to write it.</a:t>
            </a:r>
          </a:p>
          <a:p/>
          <a:p>
            <a:r>
              <a:t>The practical value: when billing breaks, you can now say 'the offers service returned 503 in 1.4 seconds' instead of 'billing is broken'. That's a far better defect.</a:t>
            </a:r>
          </a:p>
          <a:p/>
          <a:p>
            <a:r>
              <a:t>Server mocks are the advanced case — you can fail the offers service and watch how the BFF degrades, without anyone deploying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that changes our defect quality: filter down to the failing call, Extract → cURL → Copy, paste into the ticket. The developer can reproduce it in one command.</a:t>
            </a:r>
          </a:p>
          <a:p/>
          <a:p>
            <a:r>
              <a:t>For sign-off evidence, use the full Evidence pack instead — it has the HTML report that non-engineers can actually read.</a:t>
            </a:r>
          </a:p>
          <a:p/>
          <a:p>
            <a:r>
              <a:t>Reminder about reviewing exports: redaction is strong but it's not a guarantee.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This is the slide that keeps us out of trouble.</a:t>
            </a:r>
          </a:p>
          <a:p/>
          <a:p>
            <a:r>
              <a:t>The first three are reassurance — the tool is built to be safe by default.</a:t>
            </a:r>
          </a:p>
          <a:p/>
          <a:p>
            <a:r>
              <a:t>The last two are obligations on us. The control token one especially: if someone puts it on a preprod environment with real customer data, that's a data incident. Dev environments with synthetic data only.</a:t>
            </a:r>
          </a:p>
          <a:p/>
          <a:p>
            <a:r>
              <a:t>And never, ever fake a successful order submission. The screenshot will outlive the context and someone will believe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SCRIPT — keep it to about 8 minutes.</a:t>
            </a:r>
          </a:p>
          <a:p/>
          <a:p>
            <a:r>
              <a:t>Have the billing page already open and the panel docked before you start talking.</a:t>
            </a:r>
          </a:p>
          <a:p/>
          <a:p>
            <a:r>
              <a:t>If the demo breaks: the most common cause is forgetting to reload the page after opening the panel. Second most common is a mock rule left enabled from a previous run — check QA Mocks.</a:t>
            </a:r>
          </a:p>
          <a:p/>
          <a:p>
            <a:r>
              <a:t>Have a backup screenshot of each step in case the environment is down.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slide. The two shortcuts people actually use are / and Escape.</a:t>
            </a:r>
          </a:p>
          <a:p/>
          <a:p>
            <a:r>
              <a:t>The closing line usually lands well with a QA audience — we hold applications to WCAG, so our own tooling should meet it too.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first ask small and achievable — install it and use it once this week.</a:t>
            </a:r>
          </a:p>
          <a:p/>
          <a:p>
            <a:r>
              <a:t>The sprint ask is the one that creates value: pick a negative path nobody has tested and actually test it. Bring the result back here.</a:t>
            </a:r>
          </a:p>
          <a:p/>
          <a:p>
            <a:r>
              <a:t>The developer conversation is a separate negotiation. Don't promise it will happen this sprint; it needs their buy-in and an environment decision.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repeating the three takeaways — they're the ones that prevent the common mistakes.</a:t>
            </a:r>
          </a:p>
          <a:p/>
          <a:p>
            <a:r>
              <a:t>Offer to pair with anyone this week on their first failure test. The tool only sticks if people use it on a real story within a few days of this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10409"/>
        </a:solidFill>
        <a:effectLst/>
      </p:bgPr>
    </p:bg>
    <p:spTree>
      <p:nvGrpSpPr>
        <p:cNvPr id="1" name=""/>
        <p:cNvGrpSpPr/>
        <p:nvPr/>
      </p:nvGrpSpPr>
      <p:grpSpPr/>
      <p:sp>
        <p:nvSpPr>
          <p:cNvPr id="2" name="Oval 1"/>
          <p:cNvSpPr/>
          <p:nvPr/>
        </p:nvSpPr>
        <p:spPr>
          <a:xfrm>
            <a:off x="-914400" y="-1280160"/>
            <a:ext cx="7863840" cy="7863840"/>
          </a:xfrm>
          <a:prstGeom prst="ellipse">
            <a:avLst/>
          </a:prstGeom>
          <a:solidFill>
            <a:srgbClr val="101A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3" name="Rounded Rectangle 2"/>
          <p:cNvSpPr/>
          <p:nvPr/>
        </p:nvSpPr>
        <p:spPr>
          <a:xfrm>
            <a:off x="777240" y="1371600"/>
            <a:ext cx="713232" cy="713232"/>
          </a:xfrm>
          <a:prstGeom prst="roundRect">
            <a:avLst>
              <a:gd name="adj" fmla="val 22000"/>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3400" b="1" i="0">
                <a:solidFill>
                  <a:srgbClr val="010409"/>
                </a:solidFill>
                <a:latin typeface="Segoe UI"/>
              </a:rPr>
              <a:t>A</a:t>
            </a:r>
          </a:p>
        </p:txBody>
      </p:sp>
      <p:sp>
        <p:nvSpPr>
          <p:cNvPr id="4" name="TextBox 3"/>
          <p:cNvSpPr txBox="1"/>
          <p:nvPr/>
        </p:nvSpPr>
        <p:spPr>
          <a:xfrm>
            <a:off x="1737360" y="1389888"/>
            <a:ext cx="6400800" cy="731520"/>
          </a:xfrm>
          <a:prstGeom prst="rect">
            <a:avLst/>
          </a:prstGeom>
          <a:noFill/>
        </p:spPr>
        <p:txBody>
          <a:bodyPr wrap="square" anchor="t" lIns="0" rIns="0" tIns="0" bIns="0">
            <a:spAutoFit/>
          </a:bodyPr>
          <a:lstStyle/>
          <a:p>
            <a:pPr algn="l">
              <a:spcBef>
                <a:spcPts val="0"/>
              </a:spcBef>
              <a:spcAft>
                <a:spcPts val="0"/>
              </a:spcAft>
            </a:pPr>
            <a:r>
              <a:rPr sz="3000" b="1" i="0">
                <a:solidFill>
                  <a:srgbClr val="E6EDF3"/>
                </a:solidFill>
                <a:latin typeface="Segoe UI"/>
              </a:rPr>
              <a:t>ApiLens</a:t>
            </a:r>
          </a:p>
          <a:p>
            <a:pPr algn="l">
              <a:spcBef>
                <a:spcPts val="0"/>
              </a:spcBef>
              <a:spcAft>
                <a:spcPts val="0"/>
              </a:spcAft>
            </a:pPr>
            <a:r>
              <a:rPr sz="1600" b="0" i="0">
                <a:solidFill>
                  <a:srgbClr val="8B949E"/>
                </a:solidFill>
                <a:latin typeface="Segoe UI"/>
              </a:rPr>
              <a:t>QA Network Lab</a:t>
            </a:r>
          </a:p>
        </p:txBody>
      </p:sp>
      <p:sp>
        <p:nvSpPr>
          <p:cNvPr id="5" name="TextBox 4"/>
          <p:cNvSpPr txBox="1"/>
          <p:nvPr/>
        </p:nvSpPr>
        <p:spPr>
          <a:xfrm>
            <a:off x="777240" y="2395728"/>
            <a:ext cx="8961120" cy="2468880"/>
          </a:xfrm>
          <a:prstGeom prst="rect">
            <a:avLst/>
          </a:prstGeom>
          <a:noFill/>
        </p:spPr>
        <p:txBody>
          <a:bodyPr wrap="square" anchor="t" lIns="0" rIns="0" tIns="0" bIns="0">
            <a:spAutoFit/>
          </a:bodyPr>
          <a:lstStyle/>
          <a:p>
            <a:pPr algn="l">
              <a:lnSpc>
                <a:spcPct val="105000"/>
              </a:lnSpc>
              <a:spcBef>
                <a:spcPts val="0"/>
              </a:spcBef>
              <a:spcAft>
                <a:spcPts val="400"/>
              </a:spcAft>
            </a:pPr>
            <a:r>
              <a:rPr sz="4600" b="1" i="0">
                <a:solidFill>
                  <a:srgbClr val="E6EDF3"/>
                </a:solidFill>
                <a:latin typeface="Segoe UI"/>
              </a:rPr>
              <a:t>See every API call.</a:t>
            </a:r>
          </a:p>
          <a:p>
            <a:pPr algn="l">
              <a:lnSpc>
                <a:spcPct val="105000"/>
              </a:lnSpc>
              <a:spcBef>
                <a:spcPts val="0"/>
              </a:spcBef>
              <a:spcAft>
                <a:spcPts val="400"/>
              </a:spcAft>
            </a:pPr>
            <a:r>
              <a:rPr sz="4600" b="1" i="0">
                <a:solidFill>
                  <a:srgbClr val="58A6FF"/>
                </a:solidFill>
                <a:latin typeface="Segoe UI"/>
              </a:rPr>
              <a:t>Break it on purpose.</a:t>
            </a:r>
          </a:p>
          <a:p>
            <a:pPr algn="l">
              <a:lnSpc>
                <a:spcPct val="105000"/>
              </a:lnSpc>
              <a:spcBef>
                <a:spcPts val="0"/>
              </a:spcBef>
              <a:spcAft>
                <a:spcPts val="0"/>
              </a:spcAft>
            </a:pPr>
            <a:r>
              <a:rPr sz="4600" b="1" i="0">
                <a:solidFill>
                  <a:srgbClr val="E6EDF3"/>
                </a:solidFill>
                <a:latin typeface="Segoe UI"/>
              </a:rPr>
              <a:t>Prove what happened.</a:t>
            </a:r>
          </a:p>
        </p:txBody>
      </p:sp>
      <p:sp>
        <p:nvSpPr>
          <p:cNvPr id="6" name="TextBox 5"/>
          <p:cNvSpPr txBox="1"/>
          <p:nvPr/>
        </p:nvSpPr>
        <p:spPr>
          <a:xfrm>
            <a:off x="777240" y="4956048"/>
            <a:ext cx="8686800" cy="822960"/>
          </a:xfrm>
          <a:prstGeom prst="rect">
            <a:avLst/>
          </a:prstGeom>
          <a:noFill/>
        </p:spPr>
        <p:txBody>
          <a:bodyPr wrap="square" anchor="t" lIns="0" rIns="0" tIns="0" bIns="0">
            <a:spAutoFit/>
          </a:bodyPr>
          <a:lstStyle/>
          <a:p>
            <a:pPr algn="l">
              <a:spcBef>
                <a:spcPts val="0"/>
              </a:spcBef>
              <a:spcAft>
                <a:spcPts val="200"/>
              </a:spcAft>
            </a:pPr>
            <a:r>
              <a:rPr sz="1650" b="0" i="0">
                <a:solidFill>
                  <a:srgbClr val="B9C2CC"/>
                </a:solidFill>
                <a:latin typeface="Segoe UI"/>
              </a:rPr>
              <a:t>Browser and server-side API testing, controlled failure simulation,</a:t>
            </a:r>
          </a:p>
          <a:p>
            <a:pPr algn="l">
              <a:spcBef>
                <a:spcPts val="0"/>
              </a:spcBef>
              <a:spcAft>
                <a:spcPts val="0"/>
              </a:spcAft>
            </a:pPr>
            <a:r>
              <a:rPr sz="1650" b="0" i="0">
                <a:solidFill>
                  <a:srgbClr val="B9C2CC"/>
                </a:solidFill>
                <a:latin typeface="Segoe UI"/>
              </a:rPr>
              <a:t>and audit-ready evidence — without touching production data.</a:t>
            </a:r>
          </a:p>
        </p:txBody>
      </p:sp>
      <p:sp>
        <p:nvSpPr>
          <p:cNvPr id="7" name="Rectangle 6"/>
          <p:cNvSpPr/>
          <p:nvPr/>
        </p:nvSpPr>
        <p:spPr>
          <a:xfrm>
            <a:off x="777240" y="5806440"/>
            <a:ext cx="2377440" cy="3175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035040"/>
            <a:ext cx="8229600" cy="548640"/>
          </a:xfrm>
          <a:prstGeom prst="rect">
            <a:avLst/>
          </a:prstGeom>
          <a:noFill/>
        </p:spPr>
        <p:txBody>
          <a:bodyPr wrap="square" anchor="t" lIns="0" rIns="0" tIns="0" bIns="0">
            <a:spAutoFit/>
          </a:bodyPr>
          <a:lstStyle/>
          <a:p>
            <a:pPr algn="l">
              <a:spcBef>
                <a:spcPts val="0"/>
              </a:spcBef>
              <a:spcAft>
                <a:spcPts val="200"/>
              </a:spcAft>
            </a:pPr>
            <a:r>
              <a:rPr sz="1500" b="1" i="0">
                <a:solidFill>
                  <a:srgbClr val="E6EDF3"/>
                </a:solidFill>
                <a:latin typeface="Segoe UI"/>
              </a:rPr>
              <a:t>Testing Guild  ·  Knowledge Transfer</a:t>
            </a:r>
          </a:p>
          <a:p>
            <a:pPr algn="l">
              <a:spcBef>
                <a:spcPts val="0"/>
              </a:spcBef>
              <a:spcAft>
                <a:spcPts val="0"/>
              </a:spcAft>
            </a:pPr>
            <a:r>
              <a:rPr sz="1250" b="0" i="0">
                <a:solidFill>
                  <a:srgbClr val="8B949E"/>
                </a:solidFill>
                <a:latin typeface="Segoe UI"/>
              </a:rPr>
              <a:t>VOIS IE  ·  Quality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58A6FF"/>
                </a:solidFill>
                <a:latin typeface="Segoe UI"/>
              </a:rPr>
              <a:t>AGENDA</a:t>
            </a:r>
          </a:p>
          <a:p>
            <a:pPr algn="l">
              <a:lnSpc>
                <a:spcPct val="100000"/>
              </a:lnSpc>
              <a:spcBef>
                <a:spcPts val="0"/>
              </a:spcBef>
              <a:spcAft>
                <a:spcPts val="400"/>
              </a:spcAft>
            </a:pPr>
            <a:r>
              <a:rPr sz="3300" b="1" i="0">
                <a:solidFill>
                  <a:srgbClr val="E6EDF3"/>
                </a:solidFill>
                <a:latin typeface="Segoe UI"/>
              </a:rPr>
              <a:t>What we will cover</a:t>
            </a:r>
          </a:p>
          <a:p>
            <a:pPr algn="l">
              <a:lnSpc>
                <a:spcPct val="115000"/>
              </a:lnSpc>
              <a:spcBef>
                <a:spcPts val="0"/>
              </a:spcBef>
              <a:spcAft>
                <a:spcPts val="0"/>
              </a:spcAft>
            </a:pPr>
            <a:r>
              <a:rPr sz="1550" b="0" i="0">
                <a:solidFill>
                  <a:srgbClr val="8B949E"/>
                </a:solidFill>
                <a:latin typeface="Segoe UI"/>
              </a:rPr>
              <a:t>Roughly 35 minutes, with a live demo and questions at the end.</a:t>
            </a:r>
          </a:p>
        </p:txBody>
      </p:sp>
      <p:sp>
        <p:nvSpPr>
          <p:cNvPr id="4" name="Rounded Rectangle 3"/>
          <p:cNvSpPr/>
          <p:nvPr/>
        </p:nvSpPr>
        <p:spPr>
          <a:xfrm>
            <a:off x="777240" y="1874520"/>
            <a:ext cx="566928" cy="566928"/>
          </a:xfrm>
          <a:prstGeom prst="roundRect">
            <a:avLst>
              <a:gd name="adj" fmla="val 25000"/>
            </a:avLst>
          </a:prstGeom>
          <a:no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5" name="TextBox 4"/>
          <p:cNvSpPr txBox="1"/>
          <p:nvPr/>
        </p:nvSpPr>
        <p:spPr>
          <a:xfrm>
            <a:off x="777240" y="2002536"/>
            <a:ext cx="566928" cy="365760"/>
          </a:xfrm>
          <a:prstGeom prst="rect">
            <a:avLst/>
          </a:prstGeom>
          <a:noFill/>
        </p:spPr>
        <p:txBody>
          <a:bodyPr wrap="square" anchor="t" lIns="0" rIns="0" tIns="0" bIns="0">
            <a:spAutoFit/>
          </a:bodyPr>
          <a:lstStyle/>
          <a:p>
            <a:pPr algn="ctr"/>
            <a:r>
              <a:rPr sz="1500" b="1" i="0">
                <a:solidFill>
                  <a:srgbClr val="58A6FF"/>
                </a:solidFill>
                <a:latin typeface="Consolas"/>
              </a:rPr>
              <a:t>01</a:t>
            </a:r>
          </a:p>
        </p:txBody>
      </p:sp>
      <p:sp>
        <p:nvSpPr>
          <p:cNvPr id="6" name="TextBox 5"/>
          <p:cNvSpPr txBox="1"/>
          <p:nvPr/>
        </p:nvSpPr>
        <p:spPr>
          <a:xfrm>
            <a:off x="1618488" y="1911096"/>
            <a:ext cx="9144000" cy="548640"/>
          </a:xfrm>
          <a:prstGeom prst="rect">
            <a:avLst/>
          </a:prstGeom>
          <a:noFill/>
        </p:spPr>
        <p:txBody>
          <a:bodyPr wrap="square" anchor="t" lIns="0" rIns="0" tIns="0" bIns="0">
            <a:spAutoFit/>
          </a:bodyPr>
          <a:lstStyle/>
          <a:p>
            <a:pPr algn="l">
              <a:spcBef>
                <a:spcPts val="0"/>
              </a:spcBef>
              <a:spcAft>
                <a:spcPts val="100"/>
              </a:spcAft>
            </a:pPr>
            <a:r>
              <a:rPr sz="1900" b="1" i="0">
                <a:solidFill>
                  <a:srgbClr val="E6EDF3"/>
                </a:solidFill>
                <a:latin typeface="Segoe UI"/>
              </a:rPr>
              <a:t>The problem</a:t>
            </a:r>
          </a:p>
          <a:p>
            <a:pPr algn="l">
              <a:spcBef>
                <a:spcPts val="0"/>
              </a:spcBef>
              <a:spcAft>
                <a:spcPts val="0"/>
              </a:spcAft>
            </a:pPr>
            <a:r>
              <a:rPr sz="1350" b="0" i="0">
                <a:solidFill>
                  <a:srgbClr val="8B949E"/>
                </a:solidFill>
                <a:latin typeface="Segoe UI"/>
              </a:rPr>
              <a:t>What QA cannot see today — and why it costs us</a:t>
            </a:r>
          </a:p>
        </p:txBody>
      </p:sp>
      <p:sp>
        <p:nvSpPr>
          <p:cNvPr id="7" name="Rounded Rectangle 6"/>
          <p:cNvSpPr/>
          <p:nvPr/>
        </p:nvSpPr>
        <p:spPr>
          <a:xfrm>
            <a:off x="777240" y="2587752"/>
            <a:ext cx="566928" cy="566928"/>
          </a:xfrm>
          <a:prstGeom prst="roundRect">
            <a:avLst>
              <a:gd name="adj" fmla="val 25000"/>
            </a:avLst>
          </a:prstGeom>
          <a:no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8" name="TextBox 7"/>
          <p:cNvSpPr txBox="1"/>
          <p:nvPr/>
        </p:nvSpPr>
        <p:spPr>
          <a:xfrm>
            <a:off x="777240" y="2715768"/>
            <a:ext cx="566928" cy="365760"/>
          </a:xfrm>
          <a:prstGeom prst="rect">
            <a:avLst/>
          </a:prstGeom>
          <a:noFill/>
        </p:spPr>
        <p:txBody>
          <a:bodyPr wrap="square" anchor="t" lIns="0" rIns="0" tIns="0" bIns="0">
            <a:spAutoFit/>
          </a:bodyPr>
          <a:lstStyle/>
          <a:p>
            <a:pPr algn="ctr"/>
            <a:r>
              <a:rPr sz="1500" b="1" i="0">
                <a:solidFill>
                  <a:srgbClr val="3FB950"/>
                </a:solidFill>
                <a:latin typeface="Consolas"/>
              </a:rPr>
              <a:t>02</a:t>
            </a:r>
          </a:p>
        </p:txBody>
      </p:sp>
      <p:sp>
        <p:nvSpPr>
          <p:cNvPr id="9" name="TextBox 8"/>
          <p:cNvSpPr txBox="1"/>
          <p:nvPr/>
        </p:nvSpPr>
        <p:spPr>
          <a:xfrm>
            <a:off x="1618488" y="2624328"/>
            <a:ext cx="9144000" cy="548640"/>
          </a:xfrm>
          <a:prstGeom prst="rect">
            <a:avLst/>
          </a:prstGeom>
          <a:noFill/>
        </p:spPr>
        <p:txBody>
          <a:bodyPr wrap="square" anchor="t" lIns="0" rIns="0" tIns="0" bIns="0">
            <a:spAutoFit/>
          </a:bodyPr>
          <a:lstStyle/>
          <a:p>
            <a:pPr algn="l">
              <a:spcBef>
                <a:spcPts val="0"/>
              </a:spcBef>
              <a:spcAft>
                <a:spcPts val="100"/>
              </a:spcAft>
            </a:pPr>
            <a:r>
              <a:rPr sz="1900" b="1" i="0">
                <a:solidFill>
                  <a:srgbClr val="E6EDF3"/>
                </a:solidFill>
                <a:latin typeface="Segoe UI"/>
              </a:rPr>
              <a:t>What ApiLens does</a:t>
            </a:r>
          </a:p>
          <a:p>
            <a:pPr algn="l">
              <a:spcBef>
                <a:spcPts val="0"/>
              </a:spcBef>
              <a:spcAft>
                <a:spcPts val="0"/>
              </a:spcAft>
            </a:pPr>
            <a:r>
              <a:rPr sz="1350" b="0" i="0">
                <a:solidFill>
                  <a:srgbClr val="8B949E"/>
                </a:solidFill>
                <a:latin typeface="Segoe UI"/>
              </a:rPr>
              <a:t>Four capabilities, one workspace</a:t>
            </a:r>
          </a:p>
        </p:txBody>
      </p:sp>
      <p:sp>
        <p:nvSpPr>
          <p:cNvPr id="10" name="Rounded Rectangle 9"/>
          <p:cNvSpPr/>
          <p:nvPr/>
        </p:nvSpPr>
        <p:spPr>
          <a:xfrm>
            <a:off x="777240" y="3300984"/>
            <a:ext cx="566928" cy="566928"/>
          </a:xfrm>
          <a:prstGeom prst="roundRect">
            <a:avLst>
              <a:gd name="adj" fmla="val 25000"/>
            </a:avLst>
          </a:prstGeom>
          <a:noFill/>
          <a:ln w="19050">
            <a:solidFill>
              <a:srgbClr val="A371F7"/>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11" name="TextBox 10"/>
          <p:cNvSpPr txBox="1"/>
          <p:nvPr/>
        </p:nvSpPr>
        <p:spPr>
          <a:xfrm>
            <a:off x="777240" y="3429000"/>
            <a:ext cx="566928" cy="365760"/>
          </a:xfrm>
          <a:prstGeom prst="rect">
            <a:avLst/>
          </a:prstGeom>
          <a:noFill/>
        </p:spPr>
        <p:txBody>
          <a:bodyPr wrap="square" anchor="t" lIns="0" rIns="0" tIns="0" bIns="0">
            <a:spAutoFit/>
          </a:bodyPr>
          <a:lstStyle/>
          <a:p>
            <a:pPr algn="ctr"/>
            <a:r>
              <a:rPr sz="1500" b="1" i="0">
                <a:solidFill>
                  <a:srgbClr val="A371F7"/>
                </a:solidFill>
                <a:latin typeface="Consolas"/>
              </a:rPr>
              <a:t>03</a:t>
            </a:r>
          </a:p>
        </p:txBody>
      </p:sp>
      <p:sp>
        <p:nvSpPr>
          <p:cNvPr id="12" name="TextBox 11"/>
          <p:cNvSpPr txBox="1"/>
          <p:nvPr/>
        </p:nvSpPr>
        <p:spPr>
          <a:xfrm>
            <a:off x="1618488" y="3337560"/>
            <a:ext cx="9144000" cy="548640"/>
          </a:xfrm>
          <a:prstGeom prst="rect">
            <a:avLst/>
          </a:prstGeom>
          <a:noFill/>
        </p:spPr>
        <p:txBody>
          <a:bodyPr wrap="square" anchor="t" lIns="0" rIns="0" tIns="0" bIns="0">
            <a:spAutoFit/>
          </a:bodyPr>
          <a:lstStyle/>
          <a:p>
            <a:pPr algn="l">
              <a:spcBef>
                <a:spcPts val="0"/>
              </a:spcBef>
              <a:spcAft>
                <a:spcPts val="100"/>
              </a:spcAft>
            </a:pPr>
            <a:r>
              <a:rPr sz="1900" b="1" i="0">
                <a:solidFill>
                  <a:srgbClr val="E6EDF3"/>
                </a:solidFill>
                <a:latin typeface="Segoe UI"/>
              </a:rPr>
              <a:t>Browser-side testing</a:t>
            </a:r>
          </a:p>
          <a:p>
            <a:pPr algn="l">
              <a:spcBef>
                <a:spcPts val="0"/>
              </a:spcBef>
              <a:spcAft>
                <a:spcPts val="0"/>
              </a:spcAft>
            </a:pPr>
            <a:r>
              <a:rPr sz="1350" b="0" i="0">
                <a:solidFill>
                  <a:srgbClr val="8B949E"/>
                </a:solidFill>
                <a:latin typeface="Segoe UI"/>
              </a:rPr>
              <a:t>Capture, filter, inspect, mock, extract</a:t>
            </a:r>
          </a:p>
        </p:txBody>
      </p:sp>
      <p:sp>
        <p:nvSpPr>
          <p:cNvPr id="13" name="Rounded Rectangle 12"/>
          <p:cNvSpPr/>
          <p:nvPr/>
        </p:nvSpPr>
        <p:spPr>
          <a:xfrm>
            <a:off x="777240" y="4014216"/>
            <a:ext cx="566928" cy="566928"/>
          </a:xfrm>
          <a:prstGeom prst="roundRect">
            <a:avLst>
              <a:gd name="adj" fmla="val 25000"/>
            </a:avLst>
          </a:prstGeom>
          <a:noFill/>
          <a:ln w="19050">
            <a:solidFill>
              <a:srgbClr val="39C5C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14" name="TextBox 13"/>
          <p:cNvSpPr txBox="1"/>
          <p:nvPr/>
        </p:nvSpPr>
        <p:spPr>
          <a:xfrm>
            <a:off x="777240" y="4142232"/>
            <a:ext cx="566928" cy="365760"/>
          </a:xfrm>
          <a:prstGeom prst="rect">
            <a:avLst/>
          </a:prstGeom>
          <a:noFill/>
        </p:spPr>
        <p:txBody>
          <a:bodyPr wrap="square" anchor="t" lIns="0" rIns="0" tIns="0" bIns="0">
            <a:spAutoFit/>
          </a:bodyPr>
          <a:lstStyle/>
          <a:p>
            <a:pPr algn="ctr"/>
            <a:r>
              <a:rPr sz="1500" b="1" i="0">
                <a:solidFill>
                  <a:srgbClr val="39C5CF"/>
                </a:solidFill>
                <a:latin typeface="Consolas"/>
              </a:rPr>
              <a:t>04</a:t>
            </a:r>
          </a:p>
        </p:txBody>
      </p:sp>
      <p:sp>
        <p:nvSpPr>
          <p:cNvPr id="15" name="TextBox 14"/>
          <p:cNvSpPr txBox="1"/>
          <p:nvPr/>
        </p:nvSpPr>
        <p:spPr>
          <a:xfrm>
            <a:off x="1618488" y="4050792"/>
            <a:ext cx="9144000" cy="548640"/>
          </a:xfrm>
          <a:prstGeom prst="rect">
            <a:avLst/>
          </a:prstGeom>
          <a:noFill/>
        </p:spPr>
        <p:txBody>
          <a:bodyPr wrap="square" anchor="t" lIns="0" rIns="0" tIns="0" bIns="0">
            <a:spAutoFit/>
          </a:bodyPr>
          <a:lstStyle/>
          <a:p>
            <a:pPr algn="l">
              <a:spcBef>
                <a:spcPts val="0"/>
              </a:spcBef>
              <a:spcAft>
                <a:spcPts val="100"/>
              </a:spcAft>
            </a:pPr>
            <a:r>
              <a:rPr sz="1900" b="1" i="0">
                <a:solidFill>
                  <a:srgbClr val="E6EDF3"/>
                </a:solidFill>
                <a:latin typeface="Segoe UI"/>
              </a:rPr>
              <a:t>Server-side testing</a:t>
            </a:r>
          </a:p>
          <a:p>
            <a:pPr algn="l">
              <a:spcBef>
                <a:spcPts val="0"/>
              </a:spcBef>
              <a:spcAft>
                <a:spcPts val="0"/>
              </a:spcAft>
            </a:pPr>
            <a:r>
              <a:rPr sz="1350" b="0" i="0">
                <a:solidFill>
                  <a:srgbClr val="8B949E"/>
                </a:solidFill>
                <a:latin typeface="Segoe UI"/>
              </a:rPr>
              <a:t>Payloads and mocks on a remote dev server</a:t>
            </a:r>
          </a:p>
        </p:txBody>
      </p:sp>
      <p:sp>
        <p:nvSpPr>
          <p:cNvPr id="16" name="Rounded Rectangle 15"/>
          <p:cNvSpPr/>
          <p:nvPr/>
        </p:nvSpPr>
        <p:spPr>
          <a:xfrm>
            <a:off x="777240" y="4727448"/>
            <a:ext cx="566928" cy="566928"/>
          </a:xfrm>
          <a:prstGeom prst="roundRect">
            <a:avLst>
              <a:gd name="adj" fmla="val 25000"/>
            </a:avLst>
          </a:prstGeom>
          <a:noFill/>
          <a:ln w="1905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17" name="TextBox 16"/>
          <p:cNvSpPr txBox="1"/>
          <p:nvPr/>
        </p:nvSpPr>
        <p:spPr>
          <a:xfrm>
            <a:off x="777240" y="4855464"/>
            <a:ext cx="566928" cy="365760"/>
          </a:xfrm>
          <a:prstGeom prst="rect">
            <a:avLst/>
          </a:prstGeom>
          <a:noFill/>
        </p:spPr>
        <p:txBody>
          <a:bodyPr wrap="square" anchor="t" lIns="0" rIns="0" tIns="0" bIns="0">
            <a:spAutoFit/>
          </a:bodyPr>
          <a:lstStyle/>
          <a:p>
            <a:pPr algn="ctr"/>
            <a:r>
              <a:rPr sz="1500" b="1" i="0">
                <a:solidFill>
                  <a:srgbClr val="D29922"/>
                </a:solidFill>
                <a:latin typeface="Consolas"/>
              </a:rPr>
              <a:t>05</a:t>
            </a:r>
          </a:p>
        </p:txBody>
      </p:sp>
      <p:sp>
        <p:nvSpPr>
          <p:cNvPr id="18" name="TextBox 17"/>
          <p:cNvSpPr txBox="1"/>
          <p:nvPr/>
        </p:nvSpPr>
        <p:spPr>
          <a:xfrm>
            <a:off x="1618488" y="4764024"/>
            <a:ext cx="9144000" cy="548640"/>
          </a:xfrm>
          <a:prstGeom prst="rect">
            <a:avLst/>
          </a:prstGeom>
          <a:noFill/>
        </p:spPr>
        <p:txBody>
          <a:bodyPr wrap="square" anchor="t" lIns="0" rIns="0" tIns="0" bIns="0">
            <a:spAutoFit/>
          </a:bodyPr>
          <a:lstStyle/>
          <a:p>
            <a:pPr algn="l">
              <a:spcBef>
                <a:spcPts val="0"/>
              </a:spcBef>
              <a:spcAft>
                <a:spcPts val="100"/>
              </a:spcAft>
            </a:pPr>
            <a:r>
              <a:rPr sz="1900" b="1" i="0">
                <a:solidFill>
                  <a:srgbClr val="E6EDF3"/>
                </a:solidFill>
                <a:latin typeface="Segoe UI"/>
              </a:rPr>
              <a:t>Safety and limits</a:t>
            </a:r>
          </a:p>
          <a:p>
            <a:pPr algn="l">
              <a:spcBef>
                <a:spcPts val="0"/>
              </a:spcBef>
              <a:spcAft>
                <a:spcPts val="0"/>
              </a:spcAft>
            </a:pPr>
            <a:r>
              <a:rPr sz="1350" b="0" i="0">
                <a:solidFill>
                  <a:srgbClr val="8B949E"/>
                </a:solidFill>
                <a:latin typeface="Segoe UI"/>
              </a:rPr>
              <a:t>What it does not do, and why that matters</a:t>
            </a:r>
          </a:p>
        </p:txBody>
      </p:sp>
      <p:sp>
        <p:nvSpPr>
          <p:cNvPr id="19" name="Rounded Rectangle 18"/>
          <p:cNvSpPr/>
          <p:nvPr/>
        </p:nvSpPr>
        <p:spPr>
          <a:xfrm>
            <a:off x="777240" y="5440680"/>
            <a:ext cx="566928" cy="566928"/>
          </a:xfrm>
          <a:prstGeom prst="roundRect">
            <a:avLst>
              <a:gd name="adj" fmla="val 25000"/>
            </a:avLst>
          </a:prstGeom>
          <a:noFill/>
          <a:ln w="1905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20" name="TextBox 19"/>
          <p:cNvSpPr txBox="1"/>
          <p:nvPr/>
        </p:nvSpPr>
        <p:spPr>
          <a:xfrm>
            <a:off x="777240" y="5568696"/>
            <a:ext cx="566928" cy="365760"/>
          </a:xfrm>
          <a:prstGeom prst="rect">
            <a:avLst/>
          </a:prstGeom>
          <a:noFill/>
        </p:spPr>
        <p:txBody>
          <a:bodyPr wrap="square" anchor="t" lIns="0" rIns="0" tIns="0" bIns="0">
            <a:spAutoFit/>
          </a:bodyPr>
          <a:lstStyle/>
          <a:p>
            <a:pPr algn="ctr"/>
            <a:r>
              <a:rPr sz="1500" b="1" i="0">
                <a:solidFill>
                  <a:srgbClr val="F85149"/>
                </a:solidFill>
                <a:latin typeface="Consolas"/>
              </a:rPr>
              <a:t>06</a:t>
            </a:r>
          </a:p>
        </p:txBody>
      </p:sp>
      <p:sp>
        <p:nvSpPr>
          <p:cNvPr id="21" name="TextBox 20"/>
          <p:cNvSpPr txBox="1"/>
          <p:nvPr/>
        </p:nvSpPr>
        <p:spPr>
          <a:xfrm>
            <a:off x="1618488" y="5477256"/>
            <a:ext cx="9144000" cy="548640"/>
          </a:xfrm>
          <a:prstGeom prst="rect">
            <a:avLst/>
          </a:prstGeom>
          <a:noFill/>
        </p:spPr>
        <p:txBody>
          <a:bodyPr wrap="square" anchor="t" lIns="0" rIns="0" tIns="0" bIns="0">
            <a:spAutoFit/>
          </a:bodyPr>
          <a:lstStyle/>
          <a:p>
            <a:pPr algn="l">
              <a:spcBef>
                <a:spcPts val="0"/>
              </a:spcBef>
              <a:spcAft>
                <a:spcPts val="100"/>
              </a:spcAft>
            </a:pPr>
            <a:r>
              <a:rPr sz="1900" b="1" i="0">
                <a:solidFill>
                  <a:srgbClr val="E6EDF3"/>
                </a:solidFill>
                <a:latin typeface="Segoe UI"/>
              </a:rPr>
              <a:t>Live demo &amp; rollout</a:t>
            </a:r>
          </a:p>
          <a:p>
            <a:pPr algn="l">
              <a:spcBef>
                <a:spcPts val="0"/>
              </a:spcBef>
              <a:spcAft>
                <a:spcPts val="0"/>
              </a:spcAft>
            </a:pPr>
            <a:r>
              <a:rPr sz="1350" b="0" i="0">
                <a:solidFill>
                  <a:srgbClr val="8B949E"/>
                </a:solidFill>
                <a:latin typeface="Segoe UI"/>
              </a:rPr>
              <a:t>A real failure test, end to end</a:t>
            </a:r>
          </a:p>
        </p:txBody>
      </p:sp>
      <p:sp>
        <p:nvSpPr>
          <p:cNvPr id="22" name="TextBox 21"/>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23" name="TextBox 22"/>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F85149"/>
                </a:solidFill>
                <a:latin typeface="Segoe UI"/>
              </a:rPr>
              <a:t>THE PROBLEM</a:t>
            </a:r>
          </a:p>
          <a:p>
            <a:pPr algn="l">
              <a:lnSpc>
                <a:spcPct val="100000"/>
              </a:lnSpc>
              <a:spcBef>
                <a:spcPts val="0"/>
              </a:spcBef>
              <a:spcAft>
                <a:spcPts val="400"/>
              </a:spcAft>
            </a:pPr>
            <a:r>
              <a:rPr sz="3300" b="1" i="0">
                <a:solidFill>
                  <a:srgbClr val="E6EDF3"/>
                </a:solidFill>
                <a:latin typeface="Segoe UI"/>
              </a:rPr>
              <a:t>Three questions we answer slowly today</a:t>
            </a:r>
          </a:p>
          <a:p>
            <a:pPr algn="l">
              <a:lnSpc>
                <a:spcPct val="115000"/>
              </a:lnSpc>
              <a:spcBef>
                <a:spcPts val="0"/>
              </a:spcBef>
              <a:spcAft>
                <a:spcPts val="0"/>
              </a:spcAft>
            </a:pPr>
            <a:r>
              <a:rPr sz="1550" b="0" i="0">
                <a:solidFill>
                  <a:srgbClr val="8B949E"/>
                </a:solidFill>
                <a:latin typeface="Segoe UI"/>
              </a:rPr>
              <a:t>Every one of these turns into a developer interrupt or a guess.</a:t>
            </a:r>
          </a:p>
        </p:txBody>
      </p:sp>
      <p:sp>
        <p:nvSpPr>
          <p:cNvPr id="4" name="Rounded Rectangle 3"/>
          <p:cNvSpPr/>
          <p:nvPr/>
        </p:nvSpPr>
        <p:spPr>
          <a:xfrm>
            <a:off x="777240" y="1783080"/>
            <a:ext cx="3393338" cy="25146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lnSpc>
                <a:spcPct val="110000"/>
              </a:lnSpc>
              <a:spcBef>
                <a:spcPts val="0"/>
              </a:spcBef>
              <a:spcAft>
                <a:spcPts val="1200"/>
              </a:spcAft>
            </a:pPr>
            <a:r>
              <a:rPr sz="1600" b="1" i="0">
                <a:solidFill>
                  <a:srgbClr val="F85149"/>
                </a:solidFill>
                <a:latin typeface="Segoe UI"/>
              </a:rPr>
              <a:t>“What did the API return?”</a:t>
            </a:r>
          </a:p>
          <a:p>
            <a:pPr algn="l">
              <a:lnSpc>
                <a:spcPct val="125000"/>
              </a:lnSpc>
              <a:spcBef>
                <a:spcPts val="0"/>
              </a:spcBef>
              <a:spcAft>
                <a:spcPts val="1000"/>
              </a:spcAft>
            </a:pPr>
            <a:r>
              <a:rPr sz="1350" b="0" i="0">
                <a:solidFill>
                  <a:srgbClr val="B9C2CC"/>
                </a:solidFill>
                <a:latin typeface="Segoe UI"/>
              </a:rPr>
              <a:t>DevTools shows it — until you reload, navigate, or close the tab.</a:t>
            </a:r>
          </a:p>
          <a:p>
            <a:pPr algn="l">
              <a:lnSpc>
                <a:spcPct val="125000"/>
              </a:lnSpc>
              <a:spcBef>
                <a:spcPts val="0"/>
              </a:spcBef>
              <a:spcAft>
                <a:spcPts val="1000"/>
              </a:spcAft>
            </a:pPr>
            <a:r>
              <a:rPr sz="1350" b="0" i="0">
                <a:solidFill>
                  <a:srgbClr val="B9C2CC"/>
                </a:solidFill>
                <a:latin typeface="Segoe UI"/>
              </a:rPr>
              <a:t>No session. No history. No export.</a:t>
            </a:r>
          </a:p>
        </p:txBody>
      </p:sp>
      <p:sp>
        <p:nvSpPr>
          <p:cNvPr id="5" name="Rounded Rectangle 4"/>
          <p:cNvSpPr/>
          <p:nvPr/>
        </p:nvSpPr>
        <p:spPr>
          <a:xfrm>
            <a:off x="4399178" y="1783080"/>
            <a:ext cx="3393338" cy="25146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lnSpc>
                <a:spcPct val="110000"/>
              </a:lnSpc>
              <a:spcBef>
                <a:spcPts val="0"/>
              </a:spcBef>
              <a:spcAft>
                <a:spcPts val="1200"/>
              </a:spcAft>
            </a:pPr>
            <a:r>
              <a:rPr sz="1600" b="1" i="0">
                <a:solidFill>
                  <a:srgbClr val="D29922"/>
                </a:solidFill>
                <a:latin typeface="Segoe UI"/>
              </a:rPr>
              <a:t>“How does the UI handle a 500?”</a:t>
            </a:r>
          </a:p>
          <a:p>
            <a:pPr algn="l">
              <a:lnSpc>
                <a:spcPct val="125000"/>
              </a:lnSpc>
              <a:spcBef>
                <a:spcPts val="0"/>
              </a:spcBef>
              <a:spcAft>
                <a:spcPts val="1000"/>
              </a:spcAft>
            </a:pPr>
            <a:r>
              <a:rPr sz="1350" b="0" i="0">
                <a:solidFill>
                  <a:srgbClr val="B9C2CC"/>
                </a:solidFill>
                <a:latin typeface="Segoe UI"/>
              </a:rPr>
              <a:t>We ask a developer to break something, or wait for it to happen.</a:t>
            </a:r>
          </a:p>
          <a:p>
            <a:pPr algn="l">
              <a:lnSpc>
                <a:spcPct val="125000"/>
              </a:lnSpc>
              <a:spcBef>
                <a:spcPts val="0"/>
              </a:spcBef>
              <a:spcAft>
                <a:spcPts val="1000"/>
              </a:spcAft>
            </a:pPr>
            <a:r>
              <a:rPr sz="1350" b="0" i="0">
                <a:solidFill>
                  <a:srgbClr val="B9C2CC"/>
                </a:solidFill>
                <a:latin typeface="Segoe UI"/>
              </a:rPr>
              <a:t>Negative paths get tested last, or never.</a:t>
            </a:r>
          </a:p>
        </p:txBody>
      </p:sp>
      <p:sp>
        <p:nvSpPr>
          <p:cNvPr id="6" name="Rounded Rectangle 5"/>
          <p:cNvSpPr/>
          <p:nvPr/>
        </p:nvSpPr>
        <p:spPr>
          <a:xfrm>
            <a:off x="8021116" y="1783080"/>
            <a:ext cx="3393338" cy="25146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lnSpc>
                <a:spcPct val="110000"/>
              </a:lnSpc>
              <a:spcBef>
                <a:spcPts val="0"/>
              </a:spcBef>
              <a:spcAft>
                <a:spcPts val="1200"/>
              </a:spcAft>
            </a:pPr>
            <a:r>
              <a:rPr sz="1600" b="1" i="0">
                <a:solidFill>
                  <a:srgbClr val="A371F7"/>
                </a:solidFill>
                <a:latin typeface="Segoe UI"/>
              </a:rPr>
              <a:t>“What did the server call?”</a:t>
            </a:r>
          </a:p>
          <a:p>
            <a:pPr algn="l">
              <a:lnSpc>
                <a:spcPct val="125000"/>
              </a:lnSpc>
              <a:spcBef>
                <a:spcPts val="0"/>
              </a:spcBef>
              <a:spcAft>
                <a:spcPts val="1000"/>
              </a:spcAft>
            </a:pPr>
            <a:r>
              <a:rPr sz="1350" b="0" i="0">
                <a:solidFill>
                  <a:srgbClr val="B9C2CC"/>
                </a:solidFill>
                <a:latin typeface="Segoe UI"/>
              </a:rPr>
              <a:t>The browser cannot see BFF to upstream traffic at all.</a:t>
            </a:r>
          </a:p>
          <a:p>
            <a:pPr algn="l">
              <a:lnSpc>
                <a:spcPct val="125000"/>
              </a:lnSpc>
              <a:spcBef>
                <a:spcPts val="0"/>
              </a:spcBef>
              <a:spcAft>
                <a:spcPts val="1000"/>
              </a:spcAft>
            </a:pPr>
            <a:r>
              <a:rPr sz="1350" b="0" i="0">
                <a:solidFill>
                  <a:srgbClr val="B9C2CC"/>
                </a:solidFill>
                <a:latin typeface="Segoe UI"/>
              </a:rPr>
              <a:t>We read logs, or we guess.</a:t>
            </a:r>
          </a:p>
        </p:txBody>
      </p:sp>
      <p:sp>
        <p:nvSpPr>
          <p:cNvPr id="7" name="Rounded Rectangle 6"/>
          <p:cNvSpPr/>
          <p:nvPr/>
        </p:nvSpPr>
        <p:spPr>
          <a:xfrm>
            <a:off x="777240" y="4572000"/>
            <a:ext cx="10637215" cy="914400"/>
          </a:xfrm>
          <a:prstGeom prst="roundRect">
            <a:avLst>
              <a:gd name="adj" fmla="val 4000"/>
            </a:avLst>
          </a:prstGeom>
          <a:solidFill>
            <a:srgbClr val="1A1212"/>
          </a:solidFill>
          <a:ln w="1270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400"/>
              </a:spcAft>
            </a:pPr>
            <a:r>
              <a:rPr sz="1250" b="1" i="0">
                <a:solidFill>
                  <a:srgbClr val="F85149"/>
                </a:solidFill>
                <a:latin typeface="Segoe UI"/>
              </a:rPr>
              <a:t>The cost</a:t>
            </a:r>
          </a:p>
          <a:p>
            <a:pPr algn="l">
              <a:lnSpc>
                <a:spcPct val="115000"/>
              </a:lnSpc>
              <a:spcBef>
                <a:spcPts val="0"/>
              </a:spcBef>
              <a:spcAft>
                <a:spcPts val="0"/>
              </a:spcAft>
            </a:pPr>
            <a:r>
              <a:rPr sz="1600" b="0" i="0">
                <a:solidFill>
                  <a:srgbClr val="E6EDF3"/>
                </a:solidFill>
                <a:latin typeface="Segoe UI"/>
              </a:rPr>
              <a:t>Defects reach UAT because the unhappy path was never exercised — and when one is found, the evidence is a screenshot and a sentence.</a:t>
            </a:r>
          </a:p>
        </p:txBody>
      </p:sp>
      <p:sp>
        <p:nvSpPr>
          <p:cNvPr id="8" name="TextBox 7"/>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9" name="TextBox 8"/>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3FB950"/>
                </a:solidFill>
                <a:latin typeface="Segoe UI"/>
              </a:rPr>
              <a:t>WHAT IT IS</a:t>
            </a:r>
          </a:p>
          <a:p>
            <a:pPr algn="l">
              <a:lnSpc>
                <a:spcPct val="100000"/>
              </a:lnSpc>
              <a:spcBef>
                <a:spcPts val="0"/>
              </a:spcBef>
              <a:spcAft>
                <a:spcPts val="400"/>
              </a:spcAft>
            </a:pPr>
            <a:r>
              <a:rPr sz="3300" b="1" i="0">
                <a:solidFill>
                  <a:srgbClr val="E6EDF3"/>
                </a:solidFill>
                <a:latin typeface="Segoe UI"/>
              </a:rPr>
              <a:t>A DevTools panel built for API testing</a:t>
            </a:r>
          </a:p>
          <a:p>
            <a:pPr algn="l">
              <a:lnSpc>
                <a:spcPct val="115000"/>
              </a:lnSpc>
              <a:spcBef>
                <a:spcPts val="0"/>
              </a:spcBef>
              <a:spcAft>
                <a:spcPts val="0"/>
              </a:spcAft>
            </a:pPr>
            <a:r>
              <a:rPr sz="1550" b="0" i="0">
                <a:solidFill>
                  <a:srgbClr val="8B949E"/>
                </a:solidFill>
                <a:latin typeface="Segoe UI"/>
              </a:rPr>
              <a:t>Four capabilities that share one captured session.</a:t>
            </a:r>
          </a:p>
        </p:txBody>
      </p:sp>
      <p:sp>
        <p:nvSpPr>
          <p:cNvPr id="4" name="Rounded Rectangle 3"/>
          <p:cNvSpPr/>
          <p:nvPr/>
        </p:nvSpPr>
        <p:spPr>
          <a:xfrm>
            <a:off x="777240" y="1783080"/>
            <a:ext cx="2494711" cy="27432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pPr>
            <a:r>
              <a:rPr sz="1100" b="1" i="0">
                <a:solidFill>
                  <a:srgbClr val="58A6FF"/>
                </a:solidFill>
                <a:latin typeface="Segoe UI"/>
              </a:rPr>
              <a:t>CAPTURE</a:t>
            </a:r>
          </a:p>
          <a:p>
            <a:pPr algn="l">
              <a:lnSpc>
                <a:spcPct val="105000"/>
              </a:lnSpc>
              <a:spcBef>
                <a:spcPts val="0"/>
              </a:spcBef>
              <a:spcAft>
                <a:spcPts val="1000"/>
              </a:spcAft>
            </a:pPr>
            <a:r>
              <a:rPr sz="1800" b="1" i="0">
                <a:solidFill>
                  <a:srgbClr val="E6EDF3"/>
                </a:solidFill>
                <a:latin typeface="Segoe UI"/>
              </a:rPr>
              <a:t>See every call</a:t>
            </a:r>
          </a:p>
          <a:p>
            <a:pPr algn="l">
              <a:lnSpc>
                <a:spcPct val="120000"/>
              </a:lnSpc>
              <a:spcBef>
                <a:spcPts val="0"/>
              </a:spcBef>
              <a:spcAft>
                <a:spcPts val="200"/>
              </a:spcAft>
            </a:pPr>
            <a:r>
              <a:rPr sz="1300" b="0" i="0">
                <a:solidFill>
                  <a:srgbClr val="B9C2CC"/>
                </a:solidFill>
                <a:latin typeface="Segoe UI"/>
              </a:rPr>
              <a:t>Browser fetch, XHR, GraphQL,</a:t>
            </a:r>
          </a:p>
          <a:p>
            <a:pPr algn="l">
              <a:lnSpc>
                <a:spcPct val="120000"/>
              </a:lnSpc>
              <a:spcBef>
                <a:spcPts val="0"/>
              </a:spcBef>
              <a:spcAft>
                <a:spcPts val="200"/>
              </a:spcAft>
            </a:pPr>
            <a:r>
              <a:rPr sz="1300" b="0" i="0">
                <a:solidFill>
                  <a:srgbClr val="B9C2CC"/>
                </a:solidFill>
                <a:latin typeface="Segoe UI"/>
              </a:rPr>
              <a:t>WebSocket and SSE — with full</a:t>
            </a:r>
          </a:p>
          <a:p>
            <a:pPr algn="l">
              <a:lnSpc>
                <a:spcPct val="120000"/>
              </a:lnSpc>
              <a:spcBef>
                <a:spcPts val="0"/>
              </a:spcBef>
              <a:spcAft>
                <a:spcPts val="200"/>
              </a:spcAft>
            </a:pPr>
            <a:r>
              <a:rPr sz="1300" b="0" i="0">
                <a:solidFill>
                  <a:srgbClr val="B9C2CC"/>
                </a:solidFill>
                <a:latin typeface="Segoe UI"/>
              </a:rPr>
              <a:t>payloads and timing.</a:t>
            </a:r>
          </a:p>
        </p:txBody>
      </p:sp>
      <p:sp>
        <p:nvSpPr>
          <p:cNvPr id="5" name="Rounded Rectangle 4"/>
          <p:cNvSpPr/>
          <p:nvPr/>
        </p:nvSpPr>
        <p:spPr>
          <a:xfrm>
            <a:off x="3491407" y="1783080"/>
            <a:ext cx="2494711" cy="27432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pPr>
            <a:r>
              <a:rPr sz="1100" b="1" i="0">
                <a:solidFill>
                  <a:srgbClr val="A371F7"/>
                </a:solidFill>
                <a:latin typeface="Segoe UI"/>
              </a:rPr>
              <a:t>SIMULATE</a:t>
            </a:r>
          </a:p>
          <a:p>
            <a:pPr algn="l">
              <a:lnSpc>
                <a:spcPct val="105000"/>
              </a:lnSpc>
              <a:spcBef>
                <a:spcPts val="0"/>
              </a:spcBef>
              <a:spcAft>
                <a:spcPts val="1000"/>
              </a:spcAft>
            </a:pPr>
            <a:r>
              <a:rPr sz="1800" b="1" i="0">
                <a:solidFill>
                  <a:srgbClr val="E6EDF3"/>
                </a:solidFill>
                <a:latin typeface="Segoe UI"/>
              </a:rPr>
              <a:t>Break it safely</a:t>
            </a:r>
          </a:p>
          <a:p>
            <a:pPr algn="l">
              <a:lnSpc>
                <a:spcPct val="120000"/>
              </a:lnSpc>
              <a:spcBef>
                <a:spcPts val="0"/>
              </a:spcBef>
              <a:spcAft>
                <a:spcPts val="200"/>
              </a:spcAft>
            </a:pPr>
            <a:r>
              <a:rPr sz="1300" b="0" i="0">
                <a:solidFill>
                  <a:srgbClr val="B9C2CC"/>
                </a:solidFill>
                <a:latin typeface="Segoe UI"/>
              </a:rPr>
              <a:t>Return 500, 401, 429, timeout,</a:t>
            </a:r>
          </a:p>
          <a:p>
            <a:pPr algn="l">
              <a:lnSpc>
                <a:spcPct val="120000"/>
              </a:lnSpc>
              <a:spcBef>
                <a:spcPts val="0"/>
              </a:spcBef>
              <a:spcAft>
                <a:spcPts val="200"/>
              </a:spcAft>
            </a:pPr>
            <a:r>
              <a:rPr sz="1300" b="0" i="0">
                <a:solidFill>
                  <a:srgbClr val="B9C2CC"/>
                </a:solidFill>
                <a:latin typeface="Segoe UI"/>
              </a:rPr>
              <a:t>malformed JSON or latency —</a:t>
            </a:r>
          </a:p>
          <a:p>
            <a:pPr algn="l">
              <a:lnSpc>
                <a:spcPct val="120000"/>
              </a:lnSpc>
              <a:spcBef>
                <a:spcPts val="0"/>
              </a:spcBef>
              <a:spcAft>
                <a:spcPts val="200"/>
              </a:spcAft>
            </a:pPr>
            <a:r>
              <a:rPr sz="1300" b="0" i="0">
                <a:solidFill>
                  <a:srgbClr val="B9C2CC"/>
                </a:solidFill>
                <a:latin typeface="Segoe UI"/>
              </a:rPr>
              <a:t>without a backend change.</a:t>
            </a:r>
          </a:p>
        </p:txBody>
      </p:sp>
      <p:sp>
        <p:nvSpPr>
          <p:cNvPr id="6" name="Rounded Rectangle 5"/>
          <p:cNvSpPr/>
          <p:nvPr/>
        </p:nvSpPr>
        <p:spPr>
          <a:xfrm>
            <a:off x="6205575" y="1783080"/>
            <a:ext cx="2494711" cy="27432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pPr>
            <a:r>
              <a:rPr sz="1100" b="1" i="0">
                <a:solidFill>
                  <a:srgbClr val="39C5CF"/>
                </a:solidFill>
                <a:latin typeface="Segoe UI"/>
              </a:rPr>
              <a:t>CORRELATE</a:t>
            </a:r>
          </a:p>
          <a:p>
            <a:pPr algn="l">
              <a:lnSpc>
                <a:spcPct val="105000"/>
              </a:lnSpc>
              <a:spcBef>
                <a:spcPts val="0"/>
              </a:spcBef>
              <a:spcAft>
                <a:spcPts val="1000"/>
              </a:spcAft>
            </a:pPr>
            <a:r>
              <a:rPr sz="1800" b="1" i="0">
                <a:solidFill>
                  <a:srgbClr val="E6EDF3"/>
                </a:solidFill>
                <a:latin typeface="Segoe UI"/>
              </a:rPr>
              <a:t>Follow the journey</a:t>
            </a:r>
          </a:p>
          <a:p>
            <a:pPr algn="l">
              <a:lnSpc>
                <a:spcPct val="120000"/>
              </a:lnSpc>
              <a:spcBef>
                <a:spcPts val="0"/>
              </a:spcBef>
              <a:spcAft>
                <a:spcPts val="200"/>
              </a:spcAft>
            </a:pPr>
            <a:r>
              <a:rPr sz="1300" b="0" i="0">
                <a:solidFill>
                  <a:srgbClr val="B9C2CC"/>
                </a:solidFill>
                <a:latin typeface="Segoe UI"/>
              </a:rPr>
              <a:t>Join a browser call to the server</a:t>
            </a:r>
          </a:p>
          <a:p>
            <a:pPr algn="l">
              <a:lnSpc>
                <a:spcPct val="120000"/>
              </a:lnSpc>
              <a:spcBef>
                <a:spcPts val="0"/>
              </a:spcBef>
              <a:spcAft>
                <a:spcPts val="200"/>
              </a:spcAft>
            </a:pPr>
            <a:r>
              <a:rPr sz="1300" b="0" i="0">
                <a:solidFill>
                  <a:srgbClr val="B9C2CC"/>
                </a:solidFill>
                <a:latin typeface="Segoe UI"/>
              </a:rPr>
              <a:t>route it triggered and the upstream</a:t>
            </a:r>
          </a:p>
          <a:p>
            <a:pPr algn="l">
              <a:lnSpc>
                <a:spcPct val="120000"/>
              </a:lnSpc>
              <a:spcBef>
                <a:spcPts val="0"/>
              </a:spcBef>
              <a:spcAft>
                <a:spcPts val="200"/>
              </a:spcAft>
            </a:pPr>
            <a:r>
              <a:rPr sz="1300" b="0" i="0">
                <a:solidFill>
                  <a:srgbClr val="B9C2CC"/>
                </a:solidFill>
                <a:latin typeface="Segoe UI"/>
              </a:rPr>
              <a:t>calls that route made.</a:t>
            </a:r>
          </a:p>
        </p:txBody>
      </p:sp>
      <p:sp>
        <p:nvSpPr>
          <p:cNvPr id="7" name="Rounded Rectangle 6"/>
          <p:cNvSpPr/>
          <p:nvPr/>
        </p:nvSpPr>
        <p:spPr>
          <a:xfrm>
            <a:off x="8919743" y="1783080"/>
            <a:ext cx="2494711" cy="27432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pPr>
            <a:r>
              <a:rPr sz="1100" b="1" i="0">
                <a:solidFill>
                  <a:srgbClr val="3FB950"/>
                </a:solidFill>
                <a:latin typeface="Segoe UI"/>
              </a:rPr>
              <a:t>PROVE</a:t>
            </a:r>
          </a:p>
          <a:p>
            <a:pPr algn="l">
              <a:lnSpc>
                <a:spcPct val="105000"/>
              </a:lnSpc>
              <a:spcBef>
                <a:spcPts val="0"/>
              </a:spcBef>
              <a:spcAft>
                <a:spcPts val="1000"/>
              </a:spcAft>
            </a:pPr>
            <a:r>
              <a:rPr sz="1800" b="1" i="0">
                <a:solidFill>
                  <a:srgbClr val="E6EDF3"/>
                </a:solidFill>
                <a:latin typeface="Segoe UI"/>
              </a:rPr>
              <a:t>Export the evidence</a:t>
            </a:r>
          </a:p>
          <a:p>
            <a:pPr algn="l">
              <a:lnSpc>
                <a:spcPct val="120000"/>
              </a:lnSpc>
              <a:spcBef>
                <a:spcPts val="0"/>
              </a:spcBef>
              <a:spcAft>
                <a:spcPts val="200"/>
              </a:spcAft>
            </a:pPr>
            <a:r>
              <a:rPr sz="1300" b="0" i="0">
                <a:solidFill>
                  <a:srgbClr val="B9C2CC"/>
                </a:solidFill>
                <a:latin typeface="Segoe UI"/>
              </a:rPr>
              <a:t>cURL, HAR, CSV, JSON, Markdown</a:t>
            </a:r>
          </a:p>
          <a:p>
            <a:pPr algn="l">
              <a:lnSpc>
                <a:spcPct val="120000"/>
              </a:lnSpc>
              <a:spcBef>
                <a:spcPts val="0"/>
              </a:spcBef>
              <a:spcAft>
                <a:spcPts val="200"/>
              </a:spcAft>
            </a:pPr>
            <a:r>
              <a:rPr sz="1300" b="0" i="0">
                <a:solidFill>
                  <a:srgbClr val="B9C2CC"/>
                </a:solidFill>
                <a:latin typeface="Segoe UI"/>
              </a:rPr>
              <a:t>or a full HTML report — attached</a:t>
            </a:r>
          </a:p>
          <a:p>
            <a:pPr algn="l">
              <a:lnSpc>
                <a:spcPct val="120000"/>
              </a:lnSpc>
              <a:spcBef>
                <a:spcPts val="0"/>
              </a:spcBef>
              <a:spcAft>
                <a:spcPts val="200"/>
              </a:spcAft>
            </a:pPr>
            <a:r>
              <a:rPr sz="1300" b="0" i="0">
                <a:solidFill>
                  <a:srgbClr val="B9C2CC"/>
                </a:solidFill>
                <a:latin typeface="Segoe UI"/>
              </a:rPr>
              <a:t>straight to the defect.</a:t>
            </a:r>
          </a:p>
        </p:txBody>
      </p:sp>
      <p:sp>
        <p:nvSpPr>
          <p:cNvPr id="8" name="TextBox 7"/>
          <p:cNvSpPr txBox="1"/>
          <p:nvPr/>
        </p:nvSpPr>
        <p:spPr>
          <a:xfrm>
            <a:off x="777240" y="4846320"/>
            <a:ext cx="10637215" cy="822960"/>
          </a:xfrm>
          <a:prstGeom prst="rect">
            <a:avLst/>
          </a:prstGeom>
          <a:noFill/>
        </p:spPr>
        <p:txBody>
          <a:bodyPr wrap="square" anchor="t" lIns="0" rIns="0" tIns="0" bIns="0">
            <a:spAutoFit/>
          </a:bodyPr>
          <a:lstStyle/>
          <a:p>
            <a:pPr algn="l">
              <a:spcBef>
                <a:spcPts val="0"/>
              </a:spcBef>
              <a:spcAft>
                <a:spcPts val="400"/>
              </a:spcAft>
            </a:pPr>
            <a:r>
              <a:rPr sz="1700" b="1" i="0">
                <a:solidFill>
                  <a:srgbClr val="E6EDF3"/>
                </a:solidFill>
                <a:latin typeface="Segoe UI"/>
              </a:rPr>
              <a:t>It runs entirely on your machine.</a:t>
            </a:r>
          </a:p>
          <a:p>
            <a:pPr algn="l">
              <a:spcBef>
                <a:spcPts val="0"/>
              </a:spcBef>
              <a:spcAft>
                <a:spcPts val="0"/>
              </a:spcAft>
            </a:pPr>
            <a:r>
              <a:rPr sz="1450" b="0" i="0">
                <a:solidFill>
                  <a:srgbClr val="8B949E"/>
                </a:solidFill>
                <a:latin typeface="Segoe UI"/>
              </a:rPr>
              <a:t>Nothing is uploaded. Captured traffic stays local until you choose to export it.</a:t>
            </a:r>
          </a:p>
        </p:txBody>
      </p:sp>
      <p:sp>
        <p:nvSpPr>
          <p:cNvPr id="9" name="TextBox 8"/>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10" name="TextBox 9"/>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D299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D29922"/>
                </a:solidFill>
                <a:latin typeface="Segoe UI"/>
              </a:rPr>
              <a:t>BE HONEST ABOUT SCOPE</a:t>
            </a:r>
          </a:p>
          <a:p>
            <a:pPr algn="l">
              <a:lnSpc>
                <a:spcPct val="100000"/>
              </a:lnSpc>
              <a:spcBef>
                <a:spcPts val="0"/>
              </a:spcBef>
              <a:spcAft>
                <a:spcPts val="400"/>
              </a:spcAft>
            </a:pPr>
            <a:r>
              <a:rPr sz="3300" b="1" i="0">
                <a:solidFill>
                  <a:srgbClr val="E6EDF3"/>
                </a:solidFill>
                <a:latin typeface="Segoe UI"/>
              </a:rPr>
              <a:t>What it can and cannot see</a:t>
            </a:r>
          </a:p>
          <a:p>
            <a:pPr algn="l">
              <a:lnSpc>
                <a:spcPct val="115000"/>
              </a:lnSpc>
              <a:spcBef>
                <a:spcPts val="0"/>
              </a:spcBef>
              <a:spcAft>
                <a:spcPts val="0"/>
              </a:spcAft>
            </a:pPr>
            <a:r>
              <a:rPr sz="1550" b="0" i="0">
                <a:solidFill>
                  <a:srgbClr val="8B949E"/>
                </a:solidFill>
                <a:latin typeface="Segoe UI"/>
              </a:rPr>
              <a:t>Credibility depends on this slide. A browser extension cannot observe arbitrary traffic inside remote infrastructure.</a:t>
            </a:r>
          </a:p>
        </p:txBody>
      </p:sp>
      <p:sp>
        <p:nvSpPr>
          <p:cNvPr id="4" name="TextBox 3"/>
          <p:cNvSpPr txBox="1"/>
          <p:nvPr/>
        </p:nvSpPr>
        <p:spPr>
          <a:xfrm>
            <a:off x="886968" y="1847088"/>
            <a:ext cx="4389120" cy="338328"/>
          </a:xfrm>
          <a:prstGeom prst="rect">
            <a:avLst/>
          </a:prstGeom>
          <a:noFill/>
        </p:spPr>
        <p:txBody>
          <a:bodyPr wrap="square" anchor="t" lIns="0" rIns="0" tIns="0" bIns="0">
            <a:spAutoFit/>
          </a:bodyPr>
          <a:lstStyle/>
          <a:p>
            <a:pPr algn="l"/>
            <a:r>
              <a:rPr sz="1200" b="1" i="0">
                <a:solidFill>
                  <a:srgbClr val="D29922"/>
                </a:solidFill>
                <a:latin typeface="Segoe UI"/>
              </a:rPr>
              <a:t>Traffic</a:t>
            </a:r>
          </a:p>
        </p:txBody>
      </p:sp>
      <p:sp>
        <p:nvSpPr>
          <p:cNvPr id="5" name="TextBox 4"/>
          <p:cNvSpPr txBox="1"/>
          <p:nvPr/>
        </p:nvSpPr>
        <p:spPr>
          <a:xfrm>
            <a:off x="5458968" y="1847088"/>
            <a:ext cx="3840480" cy="338328"/>
          </a:xfrm>
          <a:prstGeom prst="rect">
            <a:avLst/>
          </a:prstGeom>
          <a:noFill/>
        </p:spPr>
        <p:txBody>
          <a:bodyPr wrap="square" anchor="t" lIns="0" rIns="0" tIns="0" bIns="0">
            <a:spAutoFit/>
          </a:bodyPr>
          <a:lstStyle/>
          <a:p>
            <a:pPr algn="l"/>
            <a:r>
              <a:rPr sz="1200" b="1" i="0">
                <a:solidFill>
                  <a:srgbClr val="D29922"/>
                </a:solidFill>
                <a:latin typeface="Segoe UI"/>
              </a:rPr>
              <a:t>How it becomes visible</a:t>
            </a:r>
          </a:p>
        </p:txBody>
      </p:sp>
      <p:sp>
        <p:nvSpPr>
          <p:cNvPr id="6" name="TextBox 5"/>
          <p:cNvSpPr txBox="1"/>
          <p:nvPr/>
        </p:nvSpPr>
        <p:spPr>
          <a:xfrm>
            <a:off x="9482328" y="1847088"/>
            <a:ext cx="1828800" cy="338328"/>
          </a:xfrm>
          <a:prstGeom prst="rect">
            <a:avLst/>
          </a:prstGeom>
          <a:noFill/>
        </p:spPr>
        <p:txBody>
          <a:bodyPr wrap="square" anchor="t" lIns="0" rIns="0" tIns="0" bIns="0">
            <a:spAutoFit/>
          </a:bodyPr>
          <a:lstStyle/>
          <a:p>
            <a:pPr algn="l"/>
            <a:r>
              <a:rPr sz="1200" b="1" i="0">
                <a:solidFill>
                  <a:srgbClr val="D29922"/>
                </a:solidFill>
                <a:latin typeface="Segoe UI"/>
              </a:rPr>
              <a:t>Setup needed</a:t>
            </a:r>
          </a:p>
        </p:txBody>
      </p:sp>
      <p:sp>
        <p:nvSpPr>
          <p:cNvPr id="7" name="Rectangle 6"/>
          <p:cNvSpPr/>
          <p:nvPr/>
        </p:nvSpPr>
        <p:spPr>
          <a:xfrm>
            <a:off x="777240" y="2157984"/>
            <a:ext cx="10607040" cy="1524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2276856"/>
            <a:ext cx="4389120" cy="338328"/>
          </a:xfrm>
          <a:prstGeom prst="rect">
            <a:avLst/>
          </a:prstGeom>
          <a:noFill/>
        </p:spPr>
        <p:txBody>
          <a:bodyPr wrap="square" anchor="t" lIns="0" rIns="0" tIns="0" bIns="0">
            <a:spAutoFit/>
          </a:bodyPr>
          <a:lstStyle/>
          <a:p>
            <a:pPr algn="l"/>
            <a:r>
              <a:rPr sz="1300" b="0" i="0">
                <a:solidFill>
                  <a:srgbClr val="E6EDF3"/>
                </a:solidFill>
                <a:latin typeface="Segoe UI"/>
              </a:rPr>
              <a:t>Page fetch / XHR / GraphQL / WS / SSE</a:t>
            </a:r>
          </a:p>
        </p:txBody>
      </p:sp>
      <p:sp>
        <p:nvSpPr>
          <p:cNvPr id="9" name="TextBox 8"/>
          <p:cNvSpPr txBox="1"/>
          <p:nvPr/>
        </p:nvSpPr>
        <p:spPr>
          <a:xfrm>
            <a:off x="5458968" y="2276856"/>
            <a:ext cx="3840480" cy="338328"/>
          </a:xfrm>
          <a:prstGeom prst="rect">
            <a:avLst/>
          </a:prstGeom>
          <a:noFill/>
        </p:spPr>
        <p:txBody>
          <a:bodyPr wrap="square" anchor="t" lIns="0" rIns="0" tIns="0" bIns="0">
            <a:spAutoFit/>
          </a:bodyPr>
          <a:lstStyle/>
          <a:p>
            <a:pPr algn="l"/>
            <a:r>
              <a:rPr sz="1300" b="0" i="0">
                <a:solidFill>
                  <a:srgbClr val="B9C2CC"/>
                </a:solidFill>
                <a:latin typeface="Segoe UI"/>
              </a:rPr>
              <a:t>Captured directly by the extension</a:t>
            </a:r>
          </a:p>
        </p:txBody>
      </p:sp>
      <p:sp>
        <p:nvSpPr>
          <p:cNvPr id="10" name="TextBox 9"/>
          <p:cNvSpPr txBox="1"/>
          <p:nvPr/>
        </p:nvSpPr>
        <p:spPr>
          <a:xfrm>
            <a:off x="9482328" y="2276856"/>
            <a:ext cx="1828800" cy="338328"/>
          </a:xfrm>
          <a:prstGeom prst="rect">
            <a:avLst/>
          </a:prstGeom>
          <a:noFill/>
        </p:spPr>
        <p:txBody>
          <a:bodyPr wrap="square" anchor="t" lIns="0" rIns="0" tIns="0" bIns="0">
            <a:spAutoFit/>
          </a:bodyPr>
          <a:lstStyle/>
          <a:p>
            <a:pPr algn="l"/>
            <a:r>
              <a:rPr sz="1300" b="0" i="0">
                <a:solidFill>
                  <a:srgbClr val="B9C2CC"/>
                </a:solidFill>
                <a:latin typeface="Segoe UI"/>
              </a:rPr>
              <a:t>None</a:t>
            </a:r>
          </a:p>
        </p:txBody>
      </p:sp>
      <p:sp>
        <p:nvSpPr>
          <p:cNvPr id="11" name="Rectangle 10"/>
          <p:cNvSpPr/>
          <p:nvPr/>
        </p:nvSpPr>
        <p:spPr>
          <a:xfrm>
            <a:off x="777240" y="2642616"/>
            <a:ext cx="10607040" cy="429768"/>
          </a:xfrm>
          <a:prstGeom prst="rect">
            <a:avLst/>
          </a:prstGeom>
          <a:solidFill>
            <a:srgbClr val="1C21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12" name="TextBox 11"/>
          <p:cNvSpPr txBox="1"/>
          <p:nvPr/>
        </p:nvSpPr>
        <p:spPr>
          <a:xfrm>
            <a:off x="886968" y="2706624"/>
            <a:ext cx="4389120" cy="338328"/>
          </a:xfrm>
          <a:prstGeom prst="rect">
            <a:avLst/>
          </a:prstGeom>
          <a:noFill/>
        </p:spPr>
        <p:txBody>
          <a:bodyPr wrap="square" anchor="t" lIns="0" rIns="0" tIns="0" bIns="0">
            <a:spAutoFit/>
          </a:bodyPr>
          <a:lstStyle/>
          <a:p>
            <a:pPr algn="l"/>
            <a:r>
              <a:rPr sz="1300" b="0" i="0">
                <a:solidFill>
                  <a:srgbClr val="E6EDF3"/>
                </a:solidFill>
                <a:latin typeface="Segoe UI"/>
              </a:rPr>
              <a:t>Navigation and static assets</a:t>
            </a:r>
          </a:p>
        </p:txBody>
      </p:sp>
      <p:sp>
        <p:nvSpPr>
          <p:cNvPr id="13" name="TextBox 12"/>
          <p:cNvSpPr txBox="1"/>
          <p:nvPr/>
        </p:nvSpPr>
        <p:spPr>
          <a:xfrm>
            <a:off x="5458968" y="2706624"/>
            <a:ext cx="3840480" cy="338328"/>
          </a:xfrm>
          <a:prstGeom prst="rect">
            <a:avLst/>
          </a:prstGeom>
          <a:noFill/>
        </p:spPr>
        <p:txBody>
          <a:bodyPr wrap="square" anchor="t" lIns="0" rIns="0" tIns="0" bIns="0">
            <a:spAutoFit/>
          </a:bodyPr>
          <a:lstStyle/>
          <a:p>
            <a:pPr algn="l"/>
            <a:r>
              <a:rPr sz="1300" b="0" i="0">
                <a:solidFill>
                  <a:srgbClr val="B9C2CC"/>
                </a:solidFill>
                <a:latin typeface="Segoe UI"/>
              </a:rPr>
              <a:t>Browser network layer metadata</a:t>
            </a:r>
          </a:p>
        </p:txBody>
      </p:sp>
      <p:sp>
        <p:nvSpPr>
          <p:cNvPr id="14" name="TextBox 13"/>
          <p:cNvSpPr txBox="1"/>
          <p:nvPr/>
        </p:nvSpPr>
        <p:spPr>
          <a:xfrm>
            <a:off x="9482328" y="2706624"/>
            <a:ext cx="1828800" cy="338328"/>
          </a:xfrm>
          <a:prstGeom prst="rect">
            <a:avLst/>
          </a:prstGeom>
          <a:noFill/>
        </p:spPr>
        <p:txBody>
          <a:bodyPr wrap="square" anchor="t" lIns="0" rIns="0" tIns="0" bIns="0">
            <a:spAutoFit/>
          </a:bodyPr>
          <a:lstStyle/>
          <a:p>
            <a:pPr algn="l"/>
            <a:r>
              <a:rPr sz="1300" b="0" i="0">
                <a:solidFill>
                  <a:srgbClr val="B9C2CC"/>
                </a:solidFill>
                <a:latin typeface="Segoe UI"/>
              </a:rPr>
              <a:t>None</a:t>
            </a:r>
          </a:p>
        </p:txBody>
      </p:sp>
      <p:sp>
        <p:nvSpPr>
          <p:cNvPr id="15" name="TextBox 14"/>
          <p:cNvSpPr txBox="1"/>
          <p:nvPr/>
        </p:nvSpPr>
        <p:spPr>
          <a:xfrm>
            <a:off x="886968" y="3136392"/>
            <a:ext cx="4389120" cy="338328"/>
          </a:xfrm>
          <a:prstGeom prst="rect">
            <a:avLst/>
          </a:prstGeom>
          <a:noFill/>
        </p:spPr>
        <p:txBody>
          <a:bodyPr wrap="square" anchor="t" lIns="0" rIns="0" tIns="0" bIns="0">
            <a:spAutoFit/>
          </a:bodyPr>
          <a:lstStyle/>
          <a:p>
            <a:pPr algn="l"/>
            <a:r>
              <a:rPr sz="1300" b="0" i="0">
                <a:solidFill>
                  <a:srgbClr val="E6EDF3"/>
                </a:solidFill>
                <a:latin typeface="Segoe UI"/>
              </a:rPr>
              <a:t>Server route handlers + their payloads</a:t>
            </a:r>
          </a:p>
        </p:txBody>
      </p:sp>
      <p:sp>
        <p:nvSpPr>
          <p:cNvPr id="16" name="TextBox 15"/>
          <p:cNvSpPr txBox="1"/>
          <p:nvPr/>
        </p:nvSpPr>
        <p:spPr>
          <a:xfrm>
            <a:off x="5458968" y="3136392"/>
            <a:ext cx="3840480" cy="338328"/>
          </a:xfrm>
          <a:prstGeom prst="rect">
            <a:avLst/>
          </a:prstGeom>
          <a:noFill/>
        </p:spPr>
        <p:txBody>
          <a:bodyPr wrap="square" anchor="t" lIns="0" rIns="0" tIns="0" bIns="0">
            <a:spAutoFit/>
          </a:bodyPr>
          <a:lstStyle/>
          <a:p>
            <a:pPr algn="l"/>
            <a:r>
              <a:rPr sz="1300" b="0" i="0">
                <a:solidFill>
                  <a:srgbClr val="B9C2CC"/>
                </a:solidFill>
                <a:latin typeface="Segoe UI"/>
              </a:rPr>
              <a:t>Reported by the ApiLens server SDK</a:t>
            </a:r>
          </a:p>
        </p:txBody>
      </p:sp>
      <p:sp>
        <p:nvSpPr>
          <p:cNvPr id="17" name="TextBox 16"/>
          <p:cNvSpPr txBox="1"/>
          <p:nvPr/>
        </p:nvSpPr>
        <p:spPr>
          <a:xfrm>
            <a:off x="9482328" y="3136392"/>
            <a:ext cx="1828800" cy="338328"/>
          </a:xfrm>
          <a:prstGeom prst="rect">
            <a:avLst/>
          </a:prstGeom>
          <a:noFill/>
        </p:spPr>
        <p:txBody>
          <a:bodyPr wrap="square" anchor="t" lIns="0" rIns="0" tIns="0" bIns="0">
            <a:spAutoFit/>
          </a:bodyPr>
          <a:lstStyle/>
          <a:p>
            <a:pPr algn="l"/>
            <a:r>
              <a:rPr sz="1300" b="0" i="0">
                <a:solidFill>
                  <a:srgbClr val="B9C2CC"/>
                </a:solidFill>
                <a:latin typeface="Segoe UI"/>
              </a:rPr>
              <a:t>Developer adds SDK</a:t>
            </a:r>
          </a:p>
        </p:txBody>
      </p:sp>
      <p:sp>
        <p:nvSpPr>
          <p:cNvPr id="18" name="Rectangle 17"/>
          <p:cNvSpPr/>
          <p:nvPr/>
        </p:nvSpPr>
        <p:spPr>
          <a:xfrm>
            <a:off x="777240" y="3502152"/>
            <a:ext cx="10607040" cy="429768"/>
          </a:xfrm>
          <a:prstGeom prst="rect">
            <a:avLst/>
          </a:prstGeom>
          <a:solidFill>
            <a:srgbClr val="1C21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19" name="TextBox 18"/>
          <p:cNvSpPr txBox="1"/>
          <p:nvPr/>
        </p:nvSpPr>
        <p:spPr>
          <a:xfrm>
            <a:off x="886968" y="3566160"/>
            <a:ext cx="4389120" cy="338328"/>
          </a:xfrm>
          <a:prstGeom prst="rect">
            <a:avLst/>
          </a:prstGeom>
          <a:noFill/>
        </p:spPr>
        <p:txBody>
          <a:bodyPr wrap="square" anchor="t" lIns="0" rIns="0" tIns="0" bIns="0">
            <a:spAutoFit/>
          </a:bodyPr>
          <a:lstStyle/>
          <a:p>
            <a:pPr algn="l"/>
            <a:r>
              <a:rPr sz="1300" b="0" i="0">
                <a:solidFill>
                  <a:srgbClr val="E6EDF3"/>
                </a:solidFill>
                <a:latin typeface="Segoe UI"/>
              </a:rPr>
              <a:t>BFF → upstream service calls</a:t>
            </a:r>
          </a:p>
        </p:txBody>
      </p:sp>
      <p:sp>
        <p:nvSpPr>
          <p:cNvPr id="20" name="TextBox 19"/>
          <p:cNvSpPr txBox="1"/>
          <p:nvPr/>
        </p:nvSpPr>
        <p:spPr>
          <a:xfrm>
            <a:off x="5458968" y="3566160"/>
            <a:ext cx="3840480" cy="338328"/>
          </a:xfrm>
          <a:prstGeom prst="rect">
            <a:avLst/>
          </a:prstGeom>
          <a:noFill/>
        </p:spPr>
        <p:txBody>
          <a:bodyPr wrap="square" anchor="t" lIns="0" rIns="0" tIns="0" bIns="0">
            <a:spAutoFit/>
          </a:bodyPr>
          <a:lstStyle/>
          <a:p>
            <a:pPr algn="l"/>
            <a:r>
              <a:rPr sz="1300" b="0" i="0">
                <a:solidFill>
                  <a:srgbClr val="B9C2CC"/>
                </a:solidFill>
                <a:latin typeface="Segoe UI"/>
              </a:rPr>
              <a:t>Reported by the ApiLens server SDK</a:t>
            </a:r>
          </a:p>
        </p:txBody>
      </p:sp>
      <p:sp>
        <p:nvSpPr>
          <p:cNvPr id="21" name="TextBox 20"/>
          <p:cNvSpPr txBox="1"/>
          <p:nvPr/>
        </p:nvSpPr>
        <p:spPr>
          <a:xfrm>
            <a:off x="9482328" y="3566160"/>
            <a:ext cx="1828800" cy="338328"/>
          </a:xfrm>
          <a:prstGeom prst="rect">
            <a:avLst/>
          </a:prstGeom>
          <a:noFill/>
        </p:spPr>
        <p:txBody>
          <a:bodyPr wrap="square" anchor="t" lIns="0" rIns="0" tIns="0" bIns="0">
            <a:spAutoFit/>
          </a:bodyPr>
          <a:lstStyle/>
          <a:p>
            <a:pPr algn="l"/>
            <a:r>
              <a:rPr sz="1300" b="0" i="0">
                <a:solidFill>
                  <a:srgbClr val="B9C2CC"/>
                </a:solidFill>
                <a:latin typeface="Segoe UI"/>
              </a:rPr>
              <a:t>Developer adds SDK</a:t>
            </a:r>
          </a:p>
        </p:txBody>
      </p:sp>
      <p:sp>
        <p:nvSpPr>
          <p:cNvPr id="22" name="TextBox 21"/>
          <p:cNvSpPr txBox="1"/>
          <p:nvPr/>
        </p:nvSpPr>
        <p:spPr>
          <a:xfrm>
            <a:off x="886968" y="3995928"/>
            <a:ext cx="4389120" cy="338328"/>
          </a:xfrm>
          <a:prstGeom prst="rect">
            <a:avLst/>
          </a:prstGeom>
          <a:noFill/>
        </p:spPr>
        <p:txBody>
          <a:bodyPr wrap="square" anchor="t" lIns="0" rIns="0" tIns="0" bIns="0">
            <a:spAutoFit/>
          </a:bodyPr>
          <a:lstStyle/>
          <a:p>
            <a:pPr algn="l"/>
            <a:r>
              <a:rPr sz="1300" b="0" i="0">
                <a:solidFill>
                  <a:srgbClr val="E6EDF3"/>
                </a:solidFill>
                <a:latin typeface="Segoe UI"/>
              </a:rPr>
              <a:t>Database queries, server internals</a:t>
            </a:r>
          </a:p>
        </p:txBody>
      </p:sp>
      <p:sp>
        <p:nvSpPr>
          <p:cNvPr id="23" name="TextBox 22"/>
          <p:cNvSpPr txBox="1"/>
          <p:nvPr/>
        </p:nvSpPr>
        <p:spPr>
          <a:xfrm>
            <a:off x="5458968" y="3995928"/>
            <a:ext cx="3840480" cy="338328"/>
          </a:xfrm>
          <a:prstGeom prst="rect">
            <a:avLst/>
          </a:prstGeom>
          <a:noFill/>
        </p:spPr>
        <p:txBody>
          <a:bodyPr wrap="square" anchor="t" lIns="0" rIns="0" tIns="0" bIns="0">
            <a:spAutoFit/>
          </a:bodyPr>
          <a:lstStyle/>
          <a:p>
            <a:pPr algn="l"/>
            <a:r>
              <a:rPr sz="1300" b="0" i="0">
                <a:solidFill>
                  <a:srgbClr val="B9C2CC"/>
                </a:solidFill>
                <a:latin typeface="Segoe UI"/>
              </a:rPr>
              <a:t>Not visible</a:t>
            </a:r>
          </a:p>
        </p:txBody>
      </p:sp>
      <p:sp>
        <p:nvSpPr>
          <p:cNvPr id="24" name="TextBox 23"/>
          <p:cNvSpPr txBox="1"/>
          <p:nvPr/>
        </p:nvSpPr>
        <p:spPr>
          <a:xfrm>
            <a:off x="9482328" y="3995928"/>
            <a:ext cx="1828800" cy="338328"/>
          </a:xfrm>
          <a:prstGeom prst="rect">
            <a:avLst/>
          </a:prstGeom>
          <a:noFill/>
        </p:spPr>
        <p:txBody>
          <a:bodyPr wrap="square" anchor="t" lIns="0" rIns="0" tIns="0" bIns="0">
            <a:spAutoFit/>
          </a:bodyPr>
          <a:lstStyle/>
          <a:p>
            <a:pPr algn="l"/>
            <a:r>
              <a:rPr sz="1300" b="0" i="0">
                <a:solidFill>
                  <a:srgbClr val="B9C2CC"/>
                </a:solidFill>
                <a:latin typeface="Segoe UI"/>
              </a:rPr>
              <a:t>—</a:t>
            </a:r>
          </a:p>
        </p:txBody>
      </p:sp>
      <p:sp>
        <p:nvSpPr>
          <p:cNvPr id="25" name="Rectangle 24"/>
          <p:cNvSpPr/>
          <p:nvPr/>
        </p:nvSpPr>
        <p:spPr>
          <a:xfrm>
            <a:off x="777240" y="4361688"/>
            <a:ext cx="10607040" cy="429768"/>
          </a:xfrm>
          <a:prstGeom prst="rect">
            <a:avLst/>
          </a:prstGeom>
          <a:solidFill>
            <a:srgbClr val="1C21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26" name="TextBox 25"/>
          <p:cNvSpPr txBox="1"/>
          <p:nvPr/>
        </p:nvSpPr>
        <p:spPr>
          <a:xfrm>
            <a:off x="886968" y="4425696"/>
            <a:ext cx="4389120" cy="338328"/>
          </a:xfrm>
          <a:prstGeom prst="rect">
            <a:avLst/>
          </a:prstGeom>
          <a:noFill/>
        </p:spPr>
        <p:txBody>
          <a:bodyPr wrap="square" anchor="t" lIns="0" rIns="0" tIns="0" bIns="0">
            <a:spAutoFit/>
          </a:bodyPr>
          <a:lstStyle/>
          <a:p>
            <a:pPr algn="l"/>
            <a:r>
              <a:rPr sz="1300" b="0" i="0">
                <a:solidFill>
                  <a:srgbClr val="E6EDF3"/>
                </a:solidFill>
                <a:latin typeface="Segoe UI"/>
              </a:rPr>
              <a:t>Any uninstrumented remote backend</a:t>
            </a:r>
          </a:p>
        </p:txBody>
      </p:sp>
      <p:sp>
        <p:nvSpPr>
          <p:cNvPr id="27" name="TextBox 26"/>
          <p:cNvSpPr txBox="1"/>
          <p:nvPr/>
        </p:nvSpPr>
        <p:spPr>
          <a:xfrm>
            <a:off x="5458968" y="4425696"/>
            <a:ext cx="3840480" cy="338328"/>
          </a:xfrm>
          <a:prstGeom prst="rect">
            <a:avLst/>
          </a:prstGeom>
          <a:noFill/>
        </p:spPr>
        <p:txBody>
          <a:bodyPr wrap="square" anchor="t" lIns="0" rIns="0" tIns="0" bIns="0">
            <a:spAutoFit/>
          </a:bodyPr>
          <a:lstStyle/>
          <a:p>
            <a:pPr algn="l"/>
            <a:r>
              <a:rPr sz="1300" b="0" i="0">
                <a:solidFill>
                  <a:srgbClr val="B9C2CC"/>
                </a:solidFill>
                <a:latin typeface="Segoe UI"/>
              </a:rPr>
              <a:t>Not visible</a:t>
            </a:r>
          </a:p>
        </p:txBody>
      </p:sp>
      <p:sp>
        <p:nvSpPr>
          <p:cNvPr id="28" name="TextBox 27"/>
          <p:cNvSpPr txBox="1"/>
          <p:nvPr/>
        </p:nvSpPr>
        <p:spPr>
          <a:xfrm>
            <a:off x="9482328" y="4425696"/>
            <a:ext cx="1828800" cy="338328"/>
          </a:xfrm>
          <a:prstGeom prst="rect">
            <a:avLst/>
          </a:prstGeom>
          <a:noFill/>
        </p:spPr>
        <p:txBody>
          <a:bodyPr wrap="square" anchor="t" lIns="0" rIns="0" tIns="0" bIns="0">
            <a:spAutoFit/>
          </a:bodyPr>
          <a:lstStyle/>
          <a:p>
            <a:pPr algn="l"/>
            <a:r>
              <a:rPr sz="1300" b="0" i="0">
                <a:solidFill>
                  <a:srgbClr val="B9C2CC"/>
                </a:solidFill>
                <a:latin typeface="Segoe UI"/>
              </a:rPr>
              <a:t>—</a:t>
            </a:r>
          </a:p>
        </p:txBody>
      </p:sp>
      <p:sp>
        <p:nvSpPr>
          <p:cNvPr id="29" name="Rounded Rectangle 28"/>
          <p:cNvSpPr/>
          <p:nvPr/>
        </p:nvSpPr>
        <p:spPr>
          <a:xfrm>
            <a:off x="777240" y="5029200"/>
            <a:ext cx="10637215" cy="841248"/>
          </a:xfrm>
          <a:prstGeom prst="roundRect">
            <a:avLst>
              <a:gd name="adj" fmla="val 4000"/>
            </a:avLst>
          </a:prstGeom>
          <a:solidFill>
            <a:srgbClr val="141912"/>
          </a:solidFill>
          <a:ln w="1270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r>
              <a:rPr sz="1400" b="1" i="0">
                <a:solidFill>
                  <a:srgbClr val="3FB950"/>
                </a:solidFill>
                <a:latin typeface="Segoe UI"/>
              </a:rPr>
              <a:t>Say this out loud in your team:  </a:t>
            </a:r>
            <a:r>
              <a:rPr sz="1400" b="0" i="0">
                <a:solidFill>
                  <a:srgbClr val="E6EDF3"/>
                </a:solidFill>
                <a:latin typeface="Segoe UI"/>
              </a:rPr>
              <a:t>everything above the line works today with no code change. Everything below it needs a developer to switch the SDK on.</a:t>
            </a:r>
          </a:p>
        </p:txBody>
      </p:sp>
      <p:sp>
        <p:nvSpPr>
          <p:cNvPr id="30" name="TextBox 29"/>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31" name="TextBox 30"/>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3FB950"/>
                </a:solidFill>
                <a:latin typeface="Segoe UI"/>
              </a:rPr>
              <a:t>GETTING STARTED</a:t>
            </a:r>
          </a:p>
          <a:p>
            <a:pPr algn="l">
              <a:lnSpc>
                <a:spcPct val="100000"/>
              </a:lnSpc>
              <a:spcBef>
                <a:spcPts val="0"/>
              </a:spcBef>
              <a:spcAft>
                <a:spcPts val="400"/>
              </a:spcAft>
            </a:pPr>
            <a:r>
              <a:rPr sz="3300" b="1" i="0">
                <a:solidFill>
                  <a:srgbClr val="E6EDF3"/>
                </a:solidFill>
                <a:latin typeface="Segoe UI"/>
              </a:rPr>
              <a:t>Four steps to your first capture</a:t>
            </a:r>
          </a:p>
          <a:p>
            <a:pPr algn="l">
              <a:lnSpc>
                <a:spcPct val="115000"/>
              </a:lnSpc>
              <a:spcBef>
                <a:spcPts val="0"/>
              </a:spcBef>
              <a:spcAft>
                <a:spcPts val="0"/>
              </a:spcAft>
            </a:pPr>
            <a:r>
              <a:rPr sz="1550" b="0" i="0">
                <a:solidFill>
                  <a:srgbClr val="8B949E"/>
                </a:solidFill>
                <a:latin typeface="Segoe UI"/>
              </a:rPr>
              <a:t>No application change required for browser-side testing.</a:t>
            </a:r>
          </a:p>
        </p:txBody>
      </p:sp>
      <p:sp>
        <p:nvSpPr>
          <p:cNvPr id="4" name="Rounded Rectangle 3"/>
          <p:cNvSpPr/>
          <p:nvPr/>
        </p:nvSpPr>
        <p:spPr>
          <a:xfrm>
            <a:off x="777240" y="1783080"/>
            <a:ext cx="10637215" cy="768096"/>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5" name="Rounded Rectangle 4"/>
          <p:cNvSpPr/>
          <p:nvPr/>
        </p:nvSpPr>
        <p:spPr>
          <a:xfrm>
            <a:off x="978408" y="1938528"/>
            <a:ext cx="457200" cy="457200"/>
          </a:xfrm>
          <a:prstGeom prst="roundRect">
            <a:avLst>
              <a:gd name="adj" fmla="val 50000"/>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600" b="1" i="0">
                <a:solidFill>
                  <a:srgbClr val="010409"/>
                </a:solidFill>
                <a:latin typeface="Segoe UI"/>
              </a:rPr>
              <a:t>1</a:t>
            </a:r>
          </a:p>
        </p:txBody>
      </p:sp>
      <p:sp>
        <p:nvSpPr>
          <p:cNvPr id="6" name="TextBox 5"/>
          <p:cNvSpPr txBox="1"/>
          <p:nvPr/>
        </p:nvSpPr>
        <p:spPr>
          <a:xfrm>
            <a:off x="1645920" y="1901952"/>
            <a:ext cx="9692640" cy="548640"/>
          </a:xfrm>
          <a:prstGeom prst="rect">
            <a:avLst/>
          </a:prstGeom>
          <a:noFill/>
        </p:spPr>
        <p:txBody>
          <a:bodyPr wrap="square" anchor="t" lIns="0" rIns="0" tIns="0" bIns="0">
            <a:spAutoFit/>
          </a:bodyPr>
          <a:lstStyle/>
          <a:p>
            <a:pPr algn="l">
              <a:spcBef>
                <a:spcPts val="0"/>
              </a:spcBef>
              <a:spcAft>
                <a:spcPts val="100"/>
              </a:spcAft>
            </a:pPr>
            <a:r>
              <a:rPr sz="1700" b="1" i="0">
                <a:solidFill>
                  <a:srgbClr val="E6EDF3"/>
                </a:solidFill>
                <a:latin typeface="Segoe UI"/>
              </a:rPr>
              <a:t>Load the extension</a:t>
            </a:r>
          </a:p>
          <a:p>
            <a:pPr algn="l">
              <a:lnSpc>
                <a:spcPct val="115000"/>
              </a:lnSpc>
              <a:spcBef>
                <a:spcPts val="0"/>
              </a:spcBef>
              <a:spcAft>
                <a:spcPts val="0"/>
              </a:spcAft>
            </a:pPr>
            <a:r>
              <a:rPr sz="1300" b="0" i="0">
                <a:solidFill>
                  <a:srgbClr val="8B949E"/>
                </a:solidFill>
                <a:latin typeface="Segoe UI"/>
              </a:rPr>
              <a:t>Open brave://extensions, enable Developer mode, choose "Load unpacked" and select the dist folder.</a:t>
            </a:r>
          </a:p>
        </p:txBody>
      </p:sp>
      <p:sp>
        <p:nvSpPr>
          <p:cNvPr id="7" name="Rounded Rectangle 6"/>
          <p:cNvSpPr/>
          <p:nvPr/>
        </p:nvSpPr>
        <p:spPr>
          <a:xfrm>
            <a:off x="777240" y="2660904"/>
            <a:ext cx="10637215" cy="768096"/>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8" name="Rounded Rectangle 7"/>
          <p:cNvSpPr/>
          <p:nvPr/>
        </p:nvSpPr>
        <p:spPr>
          <a:xfrm>
            <a:off x="978408" y="2816352"/>
            <a:ext cx="457200" cy="457200"/>
          </a:xfrm>
          <a:prstGeom prst="roundRect">
            <a:avLst>
              <a:gd name="adj" fmla="val 50000"/>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600" b="1" i="0">
                <a:solidFill>
                  <a:srgbClr val="010409"/>
                </a:solidFill>
                <a:latin typeface="Segoe UI"/>
              </a:rPr>
              <a:t>2</a:t>
            </a:r>
          </a:p>
        </p:txBody>
      </p:sp>
      <p:sp>
        <p:nvSpPr>
          <p:cNvPr id="9" name="TextBox 8"/>
          <p:cNvSpPr txBox="1"/>
          <p:nvPr/>
        </p:nvSpPr>
        <p:spPr>
          <a:xfrm>
            <a:off x="1645920" y="2779776"/>
            <a:ext cx="9692640" cy="548640"/>
          </a:xfrm>
          <a:prstGeom prst="rect">
            <a:avLst/>
          </a:prstGeom>
          <a:noFill/>
        </p:spPr>
        <p:txBody>
          <a:bodyPr wrap="square" anchor="t" lIns="0" rIns="0" tIns="0" bIns="0">
            <a:spAutoFit/>
          </a:bodyPr>
          <a:lstStyle/>
          <a:p>
            <a:pPr algn="l">
              <a:spcBef>
                <a:spcPts val="0"/>
              </a:spcBef>
              <a:spcAft>
                <a:spcPts val="100"/>
              </a:spcAft>
            </a:pPr>
            <a:r>
              <a:rPr sz="1700" b="1" i="0">
                <a:solidFill>
                  <a:srgbClr val="E6EDF3"/>
                </a:solidFill>
                <a:latin typeface="Segoe UI"/>
              </a:rPr>
              <a:t>Open the panel</a:t>
            </a:r>
          </a:p>
          <a:p>
            <a:pPr algn="l">
              <a:lnSpc>
                <a:spcPct val="115000"/>
              </a:lnSpc>
              <a:spcBef>
                <a:spcPts val="0"/>
              </a:spcBef>
              <a:spcAft>
                <a:spcPts val="0"/>
              </a:spcAft>
            </a:pPr>
            <a:r>
              <a:rPr sz="1300" b="0" i="0">
                <a:solidFill>
                  <a:srgbClr val="8B949E"/>
                </a:solidFill>
                <a:latin typeface="Segoe UI"/>
              </a:rPr>
              <a:t>On any HTTP(S) page press F12, then pick the ApiLens tab. Reload the page once so the capture hooks attach.</a:t>
            </a:r>
          </a:p>
        </p:txBody>
      </p:sp>
      <p:sp>
        <p:nvSpPr>
          <p:cNvPr id="10" name="Rounded Rectangle 9"/>
          <p:cNvSpPr/>
          <p:nvPr/>
        </p:nvSpPr>
        <p:spPr>
          <a:xfrm>
            <a:off x="777240" y="3538728"/>
            <a:ext cx="10637215" cy="768096"/>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11" name="Rounded Rectangle 10"/>
          <p:cNvSpPr/>
          <p:nvPr/>
        </p:nvSpPr>
        <p:spPr>
          <a:xfrm>
            <a:off x="978408" y="3694176"/>
            <a:ext cx="457200" cy="457200"/>
          </a:xfrm>
          <a:prstGeom prst="roundRect">
            <a:avLst>
              <a:gd name="adj" fmla="val 50000"/>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600" b="1" i="0">
                <a:solidFill>
                  <a:srgbClr val="010409"/>
                </a:solidFill>
                <a:latin typeface="Segoe UI"/>
              </a:rPr>
              <a:t>3</a:t>
            </a:r>
          </a:p>
        </p:txBody>
      </p:sp>
      <p:sp>
        <p:nvSpPr>
          <p:cNvPr id="12" name="TextBox 11"/>
          <p:cNvSpPr txBox="1"/>
          <p:nvPr/>
        </p:nvSpPr>
        <p:spPr>
          <a:xfrm>
            <a:off x="1645920" y="3657600"/>
            <a:ext cx="9692640" cy="548640"/>
          </a:xfrm>
          <a:prstGeom prst="rect">
            <a:avLst/>
          </a:prstGeom>
          <a:noFill/>
        </p:spPr>
        <p:txBody>
          <a:bodyPr wrap="square" anchor="t" lIns="0" rIns="0" tIns="0" bIns="0">
            <a:spAutoFit/>
          </a:bodyPr>
          <a:lstStyle/>
          <a:p>
            <a:pPr algn="l">
              <a:spcBef>
                <a:spcPts val="0"/>
              </a:spcBef>
              <a:spcAft>
                <a:spcPts val="100"/>
              </a:spcAft>
            </a:pPr>
            <a:r>
              <a:rPr sz="1700" b="1" i="0">
                <a:solidFill>
                  <a:srgbClr val="E6EDF3"/>
                </a:solidFill>
                <a:latin typeface="Segoe UI"/>
              </a:rPr>
              <a:t>Start a QA session</a:t>
            </a:r>
          </a:p>
          <a:p>
            <a:pPr algn="l">
              <a:lnSpc>
                <a:spcPct val="115000"/>
              </a:lnSpc>
              <a:spcBef>
                <a:spcPts val="0"/>
              </a:spcBef>
              <a:spcAft>
                <a:spcPts val="0"/>
              </a:spcAft>
            </a:pPr>
            <a:r>
              <a:rPr sz="1300" b="0" i="0">
                <a:solidFill>
                  <a:srgbClr val="8B949E"/>
                </a:solidFill>
                <a:latin typeface="Segoe UI"/>
              </a:rPr>
              <a:t>Press "Start QA session" in the header. This groups one customer journey and everything it produces.</a:t>
            </a:r>
          </a:p>
        </p:txBody>
      </p:sp>
      <p:sp>
        <p:nvSpPr>
          <p:cNvPr id="13" name="Rounded Rectangle 12"/>
          <p:cNvSpPr/>
          <p:nvPr/>
        </p:nvSpPr>
        <p:spPr>
          <a:xfrm>
            <a:off x="777240" y="4416552"/>
            <a:ext cx="10637215" cy="768096"/>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14" name="Rounded Rectangle 13"/>
          <p:cNvSpPr/>
          <p:nvPr/>
        </p:nvSpPr>
        <p:spPr>
          <a:xfrm>
            <a:off x="978408" y="4572000"/>
            <a:ext cx="457200" cy="457200"/>
          </a:xfrm>
          <a:prstGeom prst="roundRect">
            <a:avLst>
              <a:gd name="adj" fmla="val 50000"/>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600" b="1" i="0">
                <a:solidFill>
                  <a:srgbClr val="010409"/>
                </a:solidFill>
                <a:latin typeface="Segoe UI"/>
              </a:rPr>
              <a:t>4</a:t>
            </a:r>
          </a:p>
        </p:txBody>
      </p:sp>
      <p:sp>
        <p:nvSpPr>
          <p:cNvPr id="15" name="TextBox 14"/>
          <p:cNvSpPr txBox="1"/>
          <p:nvPr/>
        </p:nvSpPr>
        <p:spPr>
          <a:xfrm>
            <a:off x="1645920" y="4535424"/>
            <a:ext cx="9692640" cy="548640"/>
          </a:xfrm>
          <a:prstGeom prst="rect">
            <a:avLst/>
          </a:prstGeom>
          <a:noFill/>
        </p:spPr>
        <p:txBody>
          <a:bodyPr wrap="square" anchor="t" lIns="0" rIns="0" tIns="0" bIns="0">
            <a:spAutoFit/>
          </a:bodyPr>
          <a:lstStyle/>
          <a:p>
            <a:pPr algn="l">
              <a:spcBef>
                <a:spcPts val="0"/>
              </a:spcBef>
              <a:spcAft>
                <a:spcPts val="100"/>
              </a:spcAft>
            </a:pPr>
            <a:r>
              <a:rPr sz="1700" b="1" i="0">
                <a:solidFill>
                  <a:srgbClr val="E6EDF3"/>
                </a:solidFill>
                <a:latin typeface="Segoe UI"/>
              </a:rPr>
              <a:t>Use the application</a:t>
            </a:r>
          </a:p>
          <a:p>
            <a:pPr algn="l">
              <a:lnSpc>
                <a:spcPct val="115000"/>
              </a:lnSpc>
              <a:spcBef>
                <a:spcPts val="0"/>
              </a:spcBef>
              <a:spcAft>
                <a:spcPts val="0"/>
              </a:spcAft>
            </a:pPr>
            <a:r>
              <a:rPr sz="1300" b="0" i="0">
                <a:solidFill>
                  <a:srgbClr val="8B949E"/>
                </a:solidFill>
                <a:latin typeface="Segoe UI"/>
              </a:rPr>
              <a:t>Perform the journey. Calls appear live in Network. Stop recording when the journey is complete.</a:t>
            </a:r>
          </a:p>
        </p:txBody>
      </p:sp>
      <p:sp>
        <p:nvSpPr>
          <p:cNvPr id="16" name="TextBox 15"/>
          <p:cNvSpPr txBox="1"/>
          <p:nvPr/>
        </p:nvSpPr>
        <p:spPr>
          <a:xfrm>
            <a:off x="777240" y="5385816"/>
            <a:ext cx="10637215" cy="457200"/>
          </a:xfrm>
          <a:prstGeom prst="rect">
            <a:avLst/>
          </a:prstGeom>
          <a:noFill/>
        </p:spPr>
        <p:txBody>
          <a:bodyPr wrap="square" anchor="t" lIns="0" rIns="0" tIns="0" bIns="0">
            <a:spAutoFit/>
          </a:bodyPr>
          <a:lstStyle/>
          <a:p>
            <a:pPr algn="l"/>
            <a:r>
              <a:rPr sz="1450" b="1" i="0">
                <a:solidFill>
                  <a:srgbClr val="58A6FF"/>
                </a:solidFill>
                <a:latin typeface="Segoe UI"/>
              </a:rPr>
              <a:t>First time? </a:t>
            </a:r>
            <a:r>
              <a:rPr sz="1450" b="0" i="0">
                <a:solidFill>
                  <a:srgbClr val="B9C2CC"/>
                </a:solidFill>
                <a:latin typeface="Segoe UI"/>
              </a:rPr>
              <a:t>Press "How it works" in the header — a 15-slide walkthrough explains every section, and each section has its own "Explain this section" button.</a:t>
            </a:r>
          </a:p>
        </p:txBody>
      </p:sp>
      <p:sp>
        <p:nvSpPr>
          <p:cNvPr id="17" name="TextBox 16"/>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18" name="TextBox 17"/>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58A6FF"/>
                </a:solidFill>
                <a:latin typeface="Segoe UI"/>
              </a:rPr>
              <a:t>ORIENTATION</a:t>
            </a:r>
          </a:p>
          <a:p>
            <a:pPr algn="l">
              <a:lnSpc>
                <a:spcPct val="100000"/>
              </a:lnSpc>
              <a:spcBef>
                <a:spcPts val="0"/>
              </a:spcBef>
              <a:spcAft>
                <a:spcPts val="400"/>
              </a:spcAft>
            </a:pPr>
            <a:r>
              <a:rPr sz="3300" b="1" i="0">
                <a:solidFill>
                  <a:srgbClr val="E6EDF3"/>
                </a:solidFill>
                <a:latin typeface="Segoe UI"/>
              </a:rPr>
              <a:t>The workspace, section by section</a:t>
            </a:r>
          </a:p>
          <a:p>
            <a:pPr algn="l">
              <a:lnSpc>
                <a:spcPct val="115000"/>
              </a:lnSpc>
              <a:spcBef>
                <a:spcPts val="0"/>
              </a:spcBef>
              <a:spcAft>
                <a:spcPts val="0"/>
              </a:spcAft>
            </a:pPr>
            <a:r>
              <a:rPr sz="1550" b="0" i="0">
                <a:solidFill>
                  <a:srgbClr val="8B949E"/>
                </a:solidFill>
                <a:latin typeface="Segoe UI"/>
              </a:rPr>
              <a:t>Nine sections in the left sidebar. Each answers a different question.</a:t>
            </a:r>
          </a:p>
        </p:txBody>
      </p:sp>
      <p:sp>
        <p:nvSpPr>
          <p:cNvPr id="4" name="Rounded Rectangle 3"/>
          <p:cNvSpPr/>
          <p:nvPr/>
        </p:nvSpPr>
        <p:spPr>
          <a:xfrm>
            <a:off x="777240" y="1783080"/>
            <a:ext cx="3393338" cy="987552"/>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pPr>
            <a:r>
              <a:rPr sz="1600" b="1" i="0">
                <a:solidFill>
                  <a:srgbClr val="58A6FF"/>
                </a:solidFill>
                <a:latin typeface="Segoe UI"/>
              </a:rPr>
              <a:t>Start here</a:t>
            </a:r>
          </a:p>
          <a:p>
            <a:pPr algn="l">
              <a:lnSpc>
                <a:spcPct val="118000"/>
              </a:lnSpc>
              <a:spcBef>
                <a:spcPts val="0"/>
              </a:spcBef>
              <a:spcAft>
                <a:spcPts val="0"/>
              </a:spcAft>
            </a:pPr>
            <a:r>
              <a:rPr sz="1250" b="0" i="0">
                <a:solidFill>
                  <a:srgbClr val="B9C2CC"/>
                </a:solidFill>
                <a:latin typeface="Segoe UI"/>
              </a:rPr>
              <a:t>The guided workflow and the walkthrough</a:t>
            </a:r>
          </a:p>
        </p:txBody>
      </p:sp>
      <p:sp>
        <p:nvSpPr>
          <p:cNvPr id="5" name="Rounded Rectangle 4"/>
          <p:cNvSpPr/>
          <p:nvPr/>
        </p:nvSpPr>
        <p:spPr>
          <a:xfrm>
            <a:off x="4399178" y="1783080"/>
            <a:ext cx="3393338" cy="987552"/>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pPr>
            <a:r>
              <a:rPr sz="1600" b="1" i="0">
                <a:solidFill>
                  <a:srgbClr val="8B949E"/>
                </a:solidFill>
                <a:latin typeface="Segoe UI"/>
              </a:rPr>
              <a:t>Integration setup</a:t>
            </a:r>
          </a:p>
          <a:p>
            <a:pPr algn="l">
              <a:lnSpc>
                <a:spcPct val="118000"/>
              </a:lnSpc>
              <a:spcBef>
                <a:spcPts val="0"/>
              </a:spcBef>
              <a:spcAft>
                <a:spcPts val="0"/>
              </a:spcAft>
            </a:pPr>
            <a:r>
              <a:rPr sz="1250" b="0" i="0">
                <a:solidFill>
                  <a:srgbClr val="B9C2CC"/>
                </a:solidFill>
                <a:latin typeface="Segoe UI"/>
              </a:rPr>
              <a:t>How to connect React, Next.js or Express</a:t>
            </a:r>
          </a:p>
        </p:txBody>
      </p:sp>
      <p:sp>
        <p:nvSpPr>
          <p:cNvPr id="6" name="Rounded Rectangle 5"/>
          <p:cNvSpPr/>
          <p:nvPr/>
        </p:nvSpPr>
        <p:spPr>
          <a:xfrm>
            <a:off x="8021116" y="1783080"/>
            <a:ext cx="3393338" cy="987552"/>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pPr>
            <a:r>
              <a:rPr sz="1600" b="1" i="0">
                <a:solidFill>
                  <a:srgbClr val="3FB950"/>
                </a:solidFill>
                <a:latin typeface="Segoe UI"/>
              </a:rPr>
              <a:t>Network</a:t>
            </a:r>
          </a:p>
          <a:p>
            <a:pPr algn="l">
              <a:lnSpc>
                <a:spcPct val="118000"/>
              </a:lnSpc>
              <a:spcBef>
                <a:spcPts val="0"/>
              </a:spcBef>
              <a:spcAft>
                <a:spcPts val="0"/>
              </a:spcAft>
            </a:pPr>
            <a:r>
              <a:rPr sz="1250" b="0" i="0">
                <a:solidFill>
                  <a:srgbClr val="B9C2CC"/>
                </a:solidFill>
                <a:latin typeface="Segoe UI"/>
              </a:rPr>
              <a:t>Every call the browser made</a:t>
            </a:r>
          </a:p>
        </p:txBody>
      </p:sp>
      <p:sp>
        <p:nvSpPr>
          <p:cNvPr id="7" name="Rounded Rectangle 6"/>
          <p:cNvSpPr/>
          <p:nvPr/>
        </p:nvSpPr>
        <p:spPr>
          <a:xfrm>
            <a:off x="777240" y="2953512"/>
            <a:ext cx="3393338" cy="987552"/>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pPr>
            <a:r>
              <a:rPr sz="1600" b="1" i="0">
                <a:solidFill>
                  <a:srgbClr val="39C5CF"/>
                </a:solidFill>
                <a:latin typeface="Segoe UI"/>
              </a:rPr>
              <a:t>Server API</a:t>
            </a:r>
          </a:p>
          <a:p>
            <a:pPr algn="l">
              <a:lnSpc>
                <a:spcPct val="118000"/>
              </a:lnSpc>
              <a:spcBef>
                <a:spcPts val="0"/>
              </a:spcBef>
              <a:spcAft>
                <a:spcPts val="0"/>
              </a:spcAft>
            </a:pPr>
            <a:r>
              <a:rPr sz="1250" b="0" i="0">
                <a:solidFill>
                  <a:srgbClr val="B9C2CC"/>
                </a:solidFill>
                <a:latin typeface="Segoe UI"/>
              </a:rPr>
              <a:t>Every call the server made, with payloads</a:t>
            </a:r>
          </a:p>
        </p:txBody>
      </p:sp>
      <p:sp>
        <p:nvSpPr>
          <p:cNvPr id="8" name="Rounded Rectangle 7"/>
          <p:cNvSpPr/>
          <p:nvPr/>
        </p:nvSpPr>
        <p:spPr>
          <a:xfrm>
            <a:off x="4399178" y="2953512"/>
            <a:ext cx="3393338" cy="987552"/>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pPr>
            <a:r>
              <a:rPr sz="1600" b="1" i="0">
                <a:solidFill>
                  <a:srgbClr val="A371F7"/>
                </a:solidFill>
                <a:latin typeface="Segoe UI"/>
              </a:rPr>
              <a:t>Traces</a:t>
            </a:r>
          </a:p>
          <a:p>
            <a:pPr algn="l">
              <a:lnSpc>
                <a:spcPct val="118000"/>
              </a:lnSpc>
              <a:spcBef>
                <a:spcPts val="0"/>
              </a:spcBef>
              <a:spcAft>
                <a:spcPts val="0"/>
              </a:spcAft>
            </a:pPr>
            <a:r>
              <a:rPr sz="1250" b="0" i="0">
                <a:solidFill>
                  <a:srgbClr val="B9C2CC"/>
                </a:solidFill>
                <a:latin typeface="Segoe UI"/>
              </a:rPr>
              <a:t>Browser and server joined into one journey</a:t>
            </a:r>
          </a:p>
        </p:txBody>
      </p:sp>
      <p:sp>
        <p:nvSpPr>
          <p:cNvPr id="9" name="Rounded Rectangle 8"/>
          <p:cNvSpPr/>
          <p:nvPr/>
        </p:nvSpPr>
        <p:spPr>
          <a:xfrm>
            <a:off x="8021116" y="2953512"/>
            <a:ext cx="3393338" cy="987552"/>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pPr>
            <a:r>
              <a:rPr sz="1600" b="1" i="0">
                <a:solidFill>
                  <a:srgbClr val="D29922"/>
                </a:solidFill>
                <a:latin typeface="Segoe UI"/>
              </a:rPr>
              <a:t>QA Mocks</a:t>
            </a:r>
          </a:p>
          <a:p>
            <a:pPr algn="l">
              <a:lnSpc>
                <a:spcPct val="118000"/>
              </a:lnSpc>
              <a:spcBef>
                <a:spcPts val="0"/>
              </a:spcBef>
              <a:spcAft>
                <a:spcPts val="0"/>
              </a:spcAft>
            </a:pPr>
            <a:r>
              <a:rPr sz="1250" b="0" i="0">
                <a:solidFill>
                  <a:srgbClr val="B9C2CC"/>
                </a:solidFill>
                <a:latin typeface="Segoe UI"/>
              </a:rPr>
              <a:t>The failure rules you have created</a:t>
            </a:r>
          </a:p>
        </p:txBody>
      </p:sp>
      <p:sp>
        <p:nvSpPr>
          <p:cNvPr id="10" name="Rounded Rectangle 9"/>
          <p:cNvSpPr/>
          <p:nvPr/>
        </p:nvSpPr>
        <p:spPr>
          <a:xfrm>
            <a:off x="777240" y="4123944"/>
            <a:ext cx="3393338" cy="987552"/>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pPr>
            <a:r>
              <a:rPr sz="1600" b="1" i="0">
                <a:solidFill>
                  <a:srgbClr val="3FB950"/>
                </a:solidFill>
                <a:latin typeface="Segoe UI"/>
              </a:rPr>
              <a:t>Evidence</a:t>
            </a:r>
          </a:p>
          <a:p>
            <a:pPr algn="l">
              <a:lnSpc>
                <a:spcPct val="118000"/>
              </a:lnSpc>
              <a:spcBef>
                <a:spcPts val="0"/>
              </a:spcBef>
              <a:spcAft>
                <a:spcPts val="0"/>
              </a:spcAft>
            </a:pPr>
            <a:r>
              <a:rPr sz="1250" b="0" i="0">
                <a:solidFill>
                  <a:srgbClr val="B9C2CC"/>
                </a:solidFill>
                <a:latin typeface="Segoe UI"/>
              </a:rPr>
              <a:t>The exportable proof pack</a:t>
            </a:r>
          </a:p>
        </p:txBody>
      </p:sp>
      <p:sp>
        <p:nvSpPr>
          <p:cNvPr id="11" name="Rounded Rectangle 10"/>
          <p:cNvSpPr/>
          <p:nvPr/>
        </p:nvSpPr>
        <p:spPr>
          <a:xfrm>
            <a:off x="4399178" y="4123944"/>
            <a:ext cx="3393338" cy="987552"/>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pPr>
            <a:r>
              <a:rPr sz="1600" b="1" i="0">
                <a:solidFill>
                  <a:srgbClr val="8B949E"/>
                </a:solidFill>
                <a:latin typeface="Segoe UI"/>
              </a:rPr>
              <a:t>Feature academy</a:t>
            </a:r>
          </a:p>
          <a:p>
            <a:pPr algn="l">
              <a:lnSpc>
                <a:spcPct val="118000"/>
              </a:lnSpc>
              <a:spcBef>
                <a:spcPts val="0"/>
              </a:spcBef>
              <a:spcAft>
                <a:spcPts val="0"/>
              </a:spcAft>
            </a:pPr>
            <a:r>
              <a:rPr sz="1250" b="0" i="0">
                <a:solidFill>
                  <a:srgbClr val="B9C2CC"/>
                </a:solidFill>
                <a:latin typeface="Segoe UI"/>
              </a:rPr>
              <a:t>Short lessons per capability</a:t>
            </a:r>
          </a:p>
        </p:txBody>
      </p:sp>
      <p:sp>
        <p:nvSpPr>
          <p:cNvPr id="12" name="Rounded Rectangle 11"/>
          <p:cNvSpPr/>
          <p:nvPr/>
        </p:nvSpPr>
        <p:spPr>
          <a:xfrm>
            <a:off x="8021116" y="4123944"/>
            <a:ext cx="3393338" cy="987552"/>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pPr>
            <a:r>
              <a:rPr sz="1600" b="1" i="0">
                <a:solidFill>
                  <a:srgbClr val="F85149"/>
                </a:solidFill>
                <a:latin typeface="Segoe UI"/>
              </a:rPr>
              <a:t>Settings</a:t>
            </a:r>
          </a:p>
          <a:p>
            <a:pPr algn="l">
              <a:lnSpc>
                <a:spcPct val="118000"/>
              </a:lnSpc>
              <a:spcBef>
                <a:spcPts val="0"/>
              </a:spcBef>
              <a:spcAft>
                <a:spcPts val="0"/>
              </a:spcAft>
            </a:pPr>
            <a:r>
              <a:rPr sz="1250" b="0" i="0">
                <a:solidFill>
                  <a:srgbClr val="B9C2CC"/>
                </a:solidFill>
                <a:latin typeface="Segoe UI"/>
              </a:rPr>
              <a:t>Safety, redaction and connections</a:t>
            </a:r>
          </a:p>
        </p:txBody>
      </p:sp>
      <p:sp>
        <p:nvSpPr>
          <p:cNvPr id="13" name="TextBox 12"/>
          <p:cNvSpPr txBox="1"/>
          <p:nvPr/>
        </p:nvSpPr>
        <p:spPr>
          <a:xfrm>
            <a:off x="777240" y="5394960"/>
            <a:ext cx="10637215" cy="457200"/>
          </a:xfrm>
          <a:prstGeom prst="rect">
            <a:avLst/>
          </a:prstGeom>
          <a:noFill/>
        </p:spPr>
        <p:txBody>
          <a:bodyPr wrap="square" anchor="t" lIns="0" rIns="0" tIns="0" bIns="0">
            <a:spAutoFit/>
          </a:bodyPr>
          <a:lstStyle/>
          <a:p>
            <a:pPr algn="l">
              <a:spcBef>
                <a:spcPts val="0"/>
              </a:spcBef>
              <a:spcAft>
                <a:spcPts val="0"/>
              </a:spcAft>
            </a:pPr>
            <a:r>
              <a:rPr sz="1500" b="0" i="0">
                <a:solidFill>
                  <a:srgbClr val="8B949E"/>
                </a:solidFill>
                <a:latin typeface="Segoe UI"/>
              </a:rPr>
              <a:t>Most of your time is spent in Network. Everything else supports it.</a:t>
            </a:r>
          </a:p>
        </p:txBody>
      </p:sp>
      <p:sp>
        <p:nvSpPr>
          <p:cNvPr id="14" name="TextBox 13"/>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15" name="TextBox 14"/>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3FB950"/>
                </a:solidFill>
                <a:latin typeface="Segoe UI"/>
              </a:rPr>
              <a:t>NETWORK</a:t>
            </a:r>
          </a:p>
          <a:p>
            <a:pPr algn="l">
              <a:lnSpc>
                <a:spcPct val="100000"/>
              </a:lnSpc>
              <a:spcBef>
                <a:spcPts val="0"/>
              </a:spcBef>
              <a:spcAft>
                <a:spcPts val="400"/>
              </a:spcAft>
            </a:pPr>
            <a:r>
              <a:rPr sz="3300" b="1" i="0">
                <a:solidFill>
                  <a:srgbClr val="E6EDF3"/>
                </a:solidFill>
                <a:latin typeface="Segoe UI"/>
              </a:rPr>
              <a:t>Anatomy of the capture list</a:t>
            </a:r>
          </a:p>
          <a:p>
            <a:pPr algn="l">
              <a:lnSpc>
                <a:spcPct val="115000"/>
              </a:lnSpc>
              <a:spcBef>
                <a:spcPts val="0"/>
              </a:spcBef>
              <a:spcAft>
                <a:spcPts val="0"/>
              </a:spcAft>
            </a:pPr>
            <a:r>
              <a:rPr sz="1550" b="0" i="0">
                <a:solidFill>
                  <a:srgbClr val="8B949E"/>
                </a:solidFill>
                <a:latin typeface="Segoe UI"/>
              </a:rPr>
              <a:t>Live, newest last, updating as you use the application.</a:t>
            </a:r>
          </a:p>
        </p:txBody>
      </p:sp>
      <p:sp>
        <p:nvSpPr>
          <p:cNvPr id="4" name="Rounded Rectangle 3"/>
          <p:cNvSpPr/>
          <p:nvPr/>
        </p:nvSpPr>
        <p:spPr>
          <a:xfrm>
            <a:off x="777240" y="1783080"/>
            <a:ext cx="6675120" cy="32004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5" name="TextBox 4"/>
          <p:cNvSpPr txBox="1"/>
          <p:nvPr/>
        </p:nvSpPr>
        <p:spPr>
          <a:xfrm>
            <a:off x="1005840" y="1984248"/>
            <a:ext cx="1463040" cy="274320"/>
          </a:xfrm>
          <a:prstGeom prst="rect">
            <a:avLst/>
          </a:prstGeom>
          <a:noFill/>
        </p:spPr>
        <p:txBody>
          <a:bodyPr wrap="square" anchor="t" lIns="0" rIns="0" tIns="0" bIns="0">
            <a:spAutoFit/>
          </a:bodyPr>
          <a:lstStyle/>
          <a:p>
            <a:pPr algn="l"/>
            <a:r>
              <a:rPr sz="950" b="1" i="0">
                <a:solidFill>
                  <a:srgbClr val="8B949E"/>
                </a:solidFill>
                <a:latin typeface="Segoe UI"/>
              </a:rPr>
              <a:t>METHOD</a:t>
            </a:r>
          </a:p>
        </p:txBody>
      </p:sp>
      <p:sp>
        <p:nvSpPr>
          <p:cNvPr id="6" name="TextBox 5"/>
          <p:cNvSpPr txBox="1"/>
          <p:nvPr/>
        </p:nvSpPr>
        <p:spPr>
          <a:xfrm>
            <a:off x="1874520" y="1984248"/>
            <a:ext cx="1463040" cy="274320"/>
          </a:xfrm>
          <a:prstGeom prst="rect">
            <a:avLst/>
          </a:prstGeom>
          <a:noFill/>
        </p:spPr>
        <p:txBody>
          <a:bodyPr wrap="square" anchor="t" lIns="0" rIns="0" tIns="0" bIns="0">
            <a:spAutoFit/>
          </a:bodyPr>
          <a:lstStyle/>
          <a:p>
            <a:pPr algn="l"/>
            <a:r>
              <a:rPr sz="950" b="1" i="0">
                <a:solidFill>
                  <a:srgbClr val="8B949E"/>
                </a:solidFill>
                <a:latin typeface="Segoe UI"/>
              </a:rPr>
              <a:t>STATUS</a:t>
            </a:r>
          </a:p>
        </p:txBody>
      </p:sp>
      <p:sp>
        <p:nvSpPr>
          <p:cNvPr id="7" name="TextBox 6"/>
          <p:cNvSpPr txBox="1"/>
          <p:nvPr/>
        </p:nvSpPr>
        <p:spPr>
          <a:xfrm>
            <a:off x="2788920" y="1984248"/>
            <a:ext cx="1463040" cy="274320"/>
          </a:xfrm>
          <a:prstGeom prst="rect">
            <a:avLst/>
          </a:prstGeom>
          <a:noFill/>
        </p:spPr>
        <p:txBody>
          <a:bodyPr wrap="square" anchor="t" lIns="0" rIns="0" tIns="0" bIns="0">
            <a:spAutoFit/>
          </a:bodyPr>
          <a:lstStyle/>
          <a:p>
            <a:pPr algn="l"/>
            <a:r>
              <a:rPr sz="950" b="1" i="0">
                <a:solidFill>
                  <a:srgbClr val="8B949E"/>
                </a:solidFill>
                <a:latin typeface="Segoe UI"/>
              </a:rPr>
              <a:t>ENDPOINT</a:t>
            </a:r>
          </a:p>
        </p:txBody>
      </p:sp>
      <p:sp>
        <p:nvSpPr>
          <p:cNvPr id="8" name="TextBox 7"/>
          <p:cNvSpPr txBox="1"/>
          <p:nvPr/>
        </p:nvSpPr>
        <p:spPr>
          <a:xfrm>
            <a:off x="5120640" y="1984248"/>
            <a:ext cx="1463040" cy="274320"/>
          </a:xfrm>
          <a:prstGeom prst="rect">
            <a:avLst/>
          </a:prstGeom>
          <a:noFill/>
        </p:spPr>
        <p:txBody>
          <a:bodyPr wrap="square" anchor="t" lIns="0" rIns="0" tIns="0" bIns="0">
            <a:spAutoFit/>
          </a:bodyPr>
          <a:lstStyle/>
          <a:p>
            <a:pPr algn="l"/>
            <a:r>
              <a:rPr sz="950" b="1" i="0">
                <a:solidFill>
                  <a:srgbClr val="8B949E"/>
                </a:solidFill>
                <a:latin typeface="Segoe UI"/>
              </a:rPr>
              <a:t>SOURCE</a:t>
            </a:r>
          </a:p>
        </p:txBody>
      </p:sp>
      <p:sp>
        <p:nvSpPr>
          <p:cNvPr id="9" name="TextBox 8"/>
          <p:cNvSpPr txBox="1"/>
          <p:nvPr/>
        </p:nvSpPr>
        <p:spPr>
          <a:xfrm>
            <a:off x="6007608" y="1984248"/>
            <a:ext cx="1463040" cy="274320"/>
          </a:xfrm>
          <a:prstGeom prst="rect">
            <a:avLst/>
          </a:prstGeom>
          <a:noFill/>
        </p:spPr>
        <p:txBody>
          <a:bodyPr wrap="square" anchor="t" lIns="0" rIns="0" tIns="0" bIns="0">
            <a:spAutoFit/>
          </a:bodyPr>
          <a:lstStyle/>
          <a:p>
            <a:pPr algn="l"/>
            <a:r>
              <a:rPr sz="950" b="1" i="0">
                <a:solidFill>
                  <a:srgbClr val="8B949E"/>
                </a:solidFill>
                <a:latin typeface="Segoe UI"/>
              </a:rPr>
              <a:t>TIME</a:t>
            </a:r>
          </a:p>
        </p:txBody>
      </p:sp>
      <p:sp>
        <p:nvSpPr>
          <p:cNvPr id="10" name="TextBox 9"/>
          <p:cNvSpPr txBox="1"/>
          <p:nvPr/>
        </p:nvSpPr>
        <p:spPr>
          <a:xfrm>
            <a:off x="1005840" y="2313432"/>
            <a:ext cx="2286000" cy="292608"/>
          </a:xfrm>
          <a:prstGeom prst="rect">
            <a:avLst/>
          </a:prstGeom>
          <a:noFill/>
        </p:spPr>
        <p:txBody>
          <a:bodyPr wrap="square" anchor="t" lIns="0" rIns="0" tIns="0" bIns="0">
            <a:spAutoFit/>
          </a:bodyPr>
          <a:lstStyle/>
          <a:p>
            <a:pPr algn="l"/>
            <a:r>
              <a:rPr sz="1100" b="1" i="0">
                <a:solidFill>
                  <a:srgbClr val="58A6FF"/>
                </a:solidFill>
                <a:latin typeface="Consolas"/>
              </a:rPr>
              <a:t>GET</a:t>
            </a:r>
          </a:p>
        </p:txBody>
      </p:sp>
      <p:sp>
        <p:nvSpPr>
          <p:cNvPr id="11" name="TextBox 10"/>
          <p:cNvSpPr txBox="1"/>
          <p:nvPr/>
        </p:nvSpPr>
        <p:spPr>
          <a:xfrm>
            <a:off x="1874520" y="2313432"/>
            <a:ext cx="2286000" cy="292608"/>
          </a:xfrm>
          <a:prstGeom prst="rect">
            <a:avLst/>
          </a:prstGeom>
          <a:noFill/>
        </p:spPr>
        <p:txBody>
          <a:bodyPr wrap="square" anchor="t" lIns="0" rIns="0" tIns="0" bIns="0">
            <a:spAutoFit/>
          </a:bodyPr>
          <a:lstStyle/>
          <a:p>
            <a:pPr algn="l"/>
            <a:r>
              <a:rPr sz="1150" b="1" i="0">
                <a:solidFill>
                  <a:srgbClr val="3FB950"/>
                </a:solidFill>
                <a:latin typeface="Consolas"/>
              </a:rPr>
              <a:t>200</a:t>
            </a:r>
          </a:p>
        </p:txBody>
      </p:sp>
      <p:sp>
        <p:nvSpPr>
          <p:cNvPr id="12" name="TextBox 11"/>
          <p:cNvSpPr txBox="1"/>
          <p:nvPr/>
        </p:nvSpPr>
        <p:spPr>
          <a:xfrm>
            <a:off x="2788920" y="2313432"/>
            <a:ext cx="2286000" cy="292608"/>
          </a:xfrm>
          <a:prstGeom prst="rect">
            <a:avLst/>
          </a:prstGeom>
          <a:noFill/>
        </p:spPr>
        <p:txBody>
          <a:bodyPr wrap="square" anchor="t" lIns="0" rIns="0" tIns="0" bIns="0">
            <a:spAutoFit/>
          </a:bodyPr>
          <a:lstStyle/>
          <a:p>
            <a:pPr algn="l"/>
            <a:r>
              <a:rPr sz="1200" b="0" i="0">
                <a:solidFill>
                  <a:srgbClr val="E6EDF3"/>
                </a:solidFill>
                <a:latin typeface="Consolas"/>
              </a:rPr>
              <a:t>/api/billing</a:t>
            </a:r>
          </a:p>
        </p:txBody>
      </p:sp>
      <p:sp>
        <p:nvSpPr>
          <p:cNvPr id="13" name="TextBox 12"/>
          <p:cNvSpPr txBox="1"/>
          <p:nvPr/>
        </p:nvSpPr>
        <p:spPr>
          <a:xfrm>
            <a:off x="5120640" y="2313432"/>
            <a:ext cx="2286000" cy="292608"/>
          </a:xfrm>
          <a:prstGeom prst="rect">
            <a:avLst/>
          </a:prstGeom>
          <a:noFill/>
        </p:spPr>
        <p:txBody>
          <a:bodyPr wrap="square" anchor="t" lIns="0" rIns="0" tIns="0" bIns="0">
            <a:spAutoFit/>
          </a:bodyPr>
          <a:lstStyle/>
          <a:p>
            <a:pPr algn="l"/>
            <a:r>
              <a:rPr sz="1100" b="0" i="0">
                <a:solidFill>
                  <a:srgbClr val="8B949E"/>
                </a:solidFill>
                <a:latin typeface="Segoe UI"/>
              </a:rPr>
              <a:t>page</a:t>
            </a:r>
          </a:p>
        </p:txBody>
      </p:sp>
      <p:sp>
        <p:nvSpPr>
          <p:cNvPr id="14" name="TextBox 13"/>
          <p:cNvSpPr txBox="1"/>
          <p:nvPr/>
        </p:nvSpPr>
        <p:spPr>
          <a:xfrm>
            <a:off x="6007608" y="2313432"/>
            <a:ext cx="2286000" cy="292608"/>
          </a:xfrm>
          <a:prstGeom prst="rect">
            <a:avLst/>
          </a:prstGeom>
          <a:noFill/>
        </p:spPr>
        <p:txBody>
          <a:bodyPr wrap="square" anchor="t" lIns="0" rIns="0" tIns="0" bIns="0">
            <a:spAutoFit/>
          </a:bodyPr>
          <a:lstStyle/>
          <a:p>
            <a:pPr algn="l"/>
            <a:r>
              <a:rPr sz="1100" b="0" i="0">
                <a:solidFill>
                  <a:srgbClr val="B9C2CC"/>
                </a:solidFill>
                <a:latin typeface="Consolas"/>
              </a:rPr>
              <a:t>312 ms</a:t>
            </a:r>
          </a:p>
        </p:txBody>
      </p:sp>
      <p:sp>
        <p:nvSpPr>
          <p:cNvPr id="15" name="TextBox 14"/>
          <p:cNvSpPr txBox="1"/>
          <p:nvPr/>
        </p:nvSpPr>
        <p:spPr>
          <a:xfrm>
            <a:off x="1005840" y="2743200"/>
            <a:ext cx="2286000" cy="292608"/>
          </a:xfrm>
          <a:prstGeom prst="rect">
            <a:avLst/>
          </a:prstGeom>
          <a:noFill/>
        </p:spPr>
        <p:txBody>
          <a:bodyPr wrap="square" anchor="t" lIns="0" rIns="0" tIns="0" bIns="0">
            <a:spAutoFit/>
          </a:bodyPr>
          <a:lstStyle/>
          <a:p>
            <a:pPr algn="l"/>
            <a:r>
              <a:rPr sz="1100" b="1" i="0">
                <a:solidFill>
                  <a:srgbClr val="58A6FF"/>
                </a:solidFill>
                <a:latin typeface="Consolas"/>
              </a:rPr>
              <a:t>GET</a:t>
            </a:r>
          </a:p>
        </p:txBody>
      </p:sp>
      <p:sp>
        <p:nvSpPr>
          <p:cNvPr id="16" name="TextBox 15"/>
          <p:cNvSpPr txBox="1"/>
          <p:nvPr/>
        </p:nvSpPr>
        <p:spPr>
          <a:xfrm>
            <a:off x="1874520" y="2743200"/>
            <a:ext cx="2286000" cy="292608"/>
          </a:xfrm>
          <a:prstGeom prst="rect">
            <a:avLst/>
          </a:prstGeom>
          <a:noFill/>
        </p:spPr>
        <p:txBody>
          <a:bodyPr wrap="square" anchor="t" lIns="0" rIns="0" tIns="0" bIns="0">
            <a:spAutoFit/>
          </a:bodyPr>
          <a:lstStyle/>
          <a:p>
            <a:pPr algn="l"/>
            <a:r>
              <a:rPr sz="1150" b="1" i="0">
                <a:solidFill>
                  <a:srgbClr val="3FB950"/>
                </a:solidFill>
                <a:latin typeface="Consolas"/>
              </a:rPr>
              <a:t>200</a:t>
            </a:r>
          </a:p>
        </p:txBody>
      </p:sp>
      <p:sp>
        <p:nvSpPr>
          <p:cNvPr id="17" name="TextBox 16"/>
          <p:cNvSpPr txBox="1"/>
          <p:nvPr/>
        </p:nvSpPr>
        <p:spPr>
          <a:xfrm>
            <a:off x="2788920" y="2743200"/>
            <a:ext cx="2286000" cy="292608"/>
          </a:xfrm>
          <a:prstGeom prst="rect">
            <a:avLst/>
          </a:prstGeom>
          <a:noFill/>
        </p:spPr>
        <p:txBody>
          <a:bodyPr wrap="square" anchor="t" lIns="0" rIns="0" tIns="0" bIns="0">
            <a:spAutoFit/>
          </a:bodyPr>
          <a:lstStyle/>
          <a:p>
            <a:pPr algn="l"/>
            <a:r>
              <a:rPr sz="1200" b="0" i="0">
                <a:solidFill>
                  <a:srgbClr val="E6EDF3"/>
                </a:solidFill>
                <a:latin typeface="Consolas"/>
              </a:rPr>
              <a:t>/v2/billing/summary</a:t>
            </a:r>
          </a:p>
        </p:txBody>
      </p:sp>
      <p:sp>
        <p:nvSpPr>
          <p:cNvPr id="18" name="TextBox 17"/>
          <p:cNvSpPr txBox="1"/>
          <p:nvPr/>
        </p:nvSpPr>
        <p:spPr>
          <a:xfrm>
            <a:off x="5120640" y="2743200"/>
            <a:ext cx="2286000" cy="292608"/>
          </a:xfrm>
          <a:prstGeom prst="rect">
            <a:avLst/>
          </a:prstGeom>
          <a:noFill/>
        </p:spPr>
        <p:txBody>
          <a:bodyPr wrap="square" anchor="t" lIns="0" rIns="0" tIns="0" bIns="0">
            <a:spAutoFit/>
          </a:bodyPr>
          <a:lstStyle/>
          <a:p>
            <a:pPr algn="l"/>
            <a:r>
              <a:rPr sz="1100" b="0" i="0">
                <a:solidFill>
                  <a:srgbClr val="8B949E"/>
                </a:solidFill>
                <a:latin typeface="Segoe UI"/>
              </a:rPr>
              <a:t>page</a:t>
            </a:r>
          </a:p>
        </p:txBody>
      </p:sp>
      <p:sp>
        <p:nvSpPr>
          <p:cNvPr id="19" name="TextBox 18"/>
          <p:cNvSpPr txBox="1"/>
          <p:nvPr/>
        </p:nvSpPr>
        <p:spPr>
          <a:xfrm>
            <a:off x="6007608" y="2743200"/>
            <a:ext cx="2286000" cy="292608"/>
          </a:xfrm>
          <a:prstGeom prst="rect">
            <a:avLst/>
          </a:prstGeom>
          <a:noFill/>
        </p:spPr>
        <p:txBody>
          <a:bodyPr wrap="square" anchor="t" lIns="0" rIns="0" tIns="0" bIns="0">
            <a:spAutoFit/>
          </a:bodyPr>
          <a:lstStyle/>
          <a:p>
            <a:pPr algn="l"/>
            <a:r>
              <a:rPr sz="1100" b="0" i="0">
                <a:solidFill>
                  <a:srgbClr val="B9C2CC"/>
                </a:solidFill>
                <a:latin typeface="Consolas"/>
              </a:rPr>
              <a:t>248 ms</a:t>
            </a:r>
          </a:p>
        </p:txBody>
      </p:sp>
      <p:sp>
        <p:nvSpPr>
          <p:cNvPr id="20" name="TextBox 19"/>
          <p:cNvSpPr txBox="1"/>
          <p:nvPr/>
        </p:nvSpPr>
        <p:spPr>
          <a:xfrm>
            <a:off x="1005840" y="3172968"/>
            <a:ext cx="2286000" cy="292608"/>
          </a:xfrm>
          <a:prstGeom prst="rect">
            <a:avLst/>
          </a:prstGeom>
          <a:noFill/>
        </p:spPr>
        <p:txBody>
          <a:bodyPr wrap="square" anchor="t" lIns="0" rIns="0" tIns="0" bIns="0">
            <a:spAutoFit/>
          </a:bodyPr>
          <a:lstStyle/>
          <a:p>
            <a:pPr algn="l"/>
            <a:r>
              <a:rPr sz="1100" b="1" i="0">
                <a:solidFill>
                  <a:srgbClr val="3FB950"/>
                </a:solidFill>
                <a:latin typeface="Consolas"/>
              </a:rPr>
              <a:t>POST</a:t>
            </a:r>
          </a:p>
        </p:txBody>
      </p:sp>
      <p:sp>
        <p:nvSpPr>
          <p:cNvPr id="21" name="TextBox 20"/>
          <p:cNvSpPr txBox="1"/>
          <p:nvPr/>
        </p:nvSpPr>
        <p:spPr>
          <a:xfrm>
            <a:off x="1874520" y="3172968"/>
            <a:ext cx="2286000" cy="292608"/>
          </a:xfrm>
          <a:prstGeom prst="rect">
            <a:avLst/>
          </a:prstGeom>
          <a:noFill/>
        </p:spPr>
        <p:txBody>
          <a:bodyPr wrap="square" anchor="t" lIns="0" rIns="0" tIns="0" bIns="0">
            <a:spAutoFit/>
          </a:bodyPr>
          <a:lstStyle/>
          <a:p>
            <a:pPr algn="l"/>
            <a:r>
              <a:rPr sz="1150" b="1" i="0">
                <a:solidFill>
                  <a:srgbClr val="3FB950"/>
                </a:solidFill>
                <a:latin typeface="Consolas"/>
              </a:rPr>
              <a:t>201</a:t>
            </a:r>
          </a:p>
        </p:txBody>
      </p:sp>
      <p:sp>
        <p:nvSpPr>
          <p:cNvPr id="22" name="TextBox 21"/>
          <p:cNvSpPr txBox="1"/>
          <p:nvPr/>
        </p:nvSpPr>
        <p:spPr>
          <a:xfrm>
            <a:off x="2788920" y="3172968"/>
            <a:ext cx="2286000" cy="292608"/>
          </a:xfrm>
          <a:prstGeom prst="rect">
            <a:avLst/>
          </a:prstGeom>
          <a:noFill/>
        </p:spPr>
        <p:txBody>
          <a:bodyPr wrap="square" anchor="t" lIns="0" rIns="0" tIns="0" bIns="0">
            <a:spAutoFit/>
          </a:bodyPr>
          <a:lstStyle/>
          <a:p>
            <a:pPr algn="l"/>
            <a:r>
              <a:rPr sz="1200" b="0" i="0">
                <a:solidFill>
                  <a:srgbClr val="E6EDF3"/>
                </a:solidFill>
                <a:latin typeface="Consolas"/>
              </a:rPr>
              <a:t>/v2/payments</a:t>
            </a:r>
          </a:p>
        </p:txBody>
      </p:sp>
      <p:sp>
        <p:nvSpPr>
          <p:cNvPr id="23" name="TextBox 22"/>
          <p:cNvSpPr txBox="1"/>
          <p:nvPr/>
        </p:nvSpPr>
        <p:spPr>
          <a:xfrm>
            <a:off x="5120640" y="3172968"/>
            <a:ext cx="2286000" cy="292608"/>
          </a:xfrm>
          <a:prstGeom prst="rect">
            <a:avLst/>
          </a:prstGeom>
          <a:noFill/>
        </p:spPr>
        <p:txBody>
          <a:bodyPr wrap="square" anchor="t" lIns="0" rIns="0" tIns="0" bIns="0">
            <a:spAutoFit/>
          </a:bodyPr>
          <a:lstStyle/>
          <a:p>
            <a:pPr algn="l"/>
            <a:r>
              <a:rPr sz="1100" b="0" i="0">
                <a:solidFill>
                  <a:srgbClr val="8B949E"/>
                </a:solidFill>
                <a:latin typeface="Segoe UI"/>
              </a:rPr>
              <a:t>page</a:t>
            </a:r>
          </a:p>
        </p:txBody>
      </p:sp>
      <p:sp>
        <p:nvSpPr>
          <p:cNvPr id="24" name="TextBox 23"/>
          <p:cNvSpPr txBox="1"/>
          <p:nvPr/>
        </p:nvSpPr>
        <p:spPr>
          <a:xfrm>
            <a:off x="6007608" y="3172968"/>
            <a:ext cx="2286000" cy="292608"/>
          </a:xfrm>
          <a:prstGeom prst="rect">
            <a:avLst/>
          </a:prstGeom>
          <a:noFill/>
        </p:spPr>
        <p:txBody>
          <a:bodyPr wrap="square" anchor="t" lIns="0" rIns="0" tIns="0" bIns="0">
            <a:spAutoFit/>
          </a:bodyPr>
          <a:lstStyle/>
          <a:p>
            <a:pPr algn="l"/>
            <a:r>
              <a:rPr sz="1100" b="0" i="0">
                <a:solidFill>
                  <a:srgbClr val="B9C2CC"/>
                </a:solidFill>
                <a:latin typeface="Consolas"/>
              </a:rPr>
              <a:t>88 ms</a:t>
            </a:r>
          </a:p>
        </p:txBody>
      </p:sp>
      <p:sp>
        <p:nvSpPr>
          <p:cNvPr id="25" name="Rectangle 24"/>
          <p:cNvSpPr/>
          <p:nvPr/>
        </p:nvSpPr>
        <p:spPr>
          <a:xfrm>
            <a:off x="868680" y="3575304"/>
            <a:ext cx="6492240" cy="384048"/>
          </a:xfrm>
          <a:prstGeom prst="rect">
            <a:avLst/>
          </a:prstGeom>
          <a:solidFill>
            <a:srgbClr val="1C162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26" name="TextBox 25"/>
          <p:cNvSpPr txBox="1"/>
          <p:nvPr/>
        </p:nvSpPr>
        <p:spPr>
          <a:xfrm>
            <a:off x="1005840" y="3602736"/>
            <a:ext cx="2286000" cy="292608"/>
          </a:xfrm>
          <a:prstGeom prst="rect">
            <a:avLst/>
          </a:prstGeom>
          <a:noFill/>
        </p:spPr>
        <p:txBody>
          <a:bodyPr wrap="square" anchor="t" lIns="0" rIns="0" tIns="0" bIns="0">
            <a:spAutoFit/>
          </a:bodyPr>
          <a:lstStyle/>
          <a:p>
            <a:pPr algn="l"/>
            <a:r>
              <a:rPr sz="1100" b="1" i="0">
                <a:solidFill>
                  <a:srgbClr val="58A6FF"/>
                </a:solidFill>
                <a:latin typeface="Consolas"/>
              </a:rPr>
              <a:t>GET</a:t>
            </a:r>
          </a:p>
        </p:txBody>
      </p:sp>
      <p:sp>
        <p:nvSpPr>
          <p:cNvPr id="27" name="TextBox 26"/>
          <p:cNvSpPr txBox="1"/>
          <p:nvPr/>
        </p:nvSpPr>
        <p:spPr>
          <a:xfrm>
            <a:off x="1874520" y="3602736"/>
            <a:ext cx="2286000" cy="292608"/>
          </a:xfrm>
          <a:prstGeom prst="rect">
            <a:avLst/>
          </a:prstGeom>
          <a:noFill/>
        </p:spPr>
        <p:txBody>
          <a:bodyPr wrap="square" anchor="t" lIns="0" rIns="0" tIns="0" bIns="0">
            <a:spAutoFit/>
          </a:bodyPr>
          <a:lstStyle/>
          <a:p>
            <a:pPr algn="l"/>
            <a:r>
              <a:rPr sz="1150" b="1" i="0">
                <a:solidFill>
                  <a:srgbClr val="F85149"/>
                </a:solidFill>
                <a:latin typeface="Consolas"/>
              </a:rPr>
              <a:t>503</a:t>
            </a:r>
          </a:p>
        </p:txBody>
      </p:sp>
      <p:sp>
        <p:nvSpPr>
          <p:cNvPr id="28" name="TextBox 27"/>
          <p:cNvSpPr txBox="1"/>
          <p:nvPr/>
        </p:nvSpPr>
        <p:spPr>
          <a:xfrm>
            <a:off x="2788920" y="3602736"/>
            <a:ext cx="2286000" cy="292608"/>
          </a:xfrm>
          <a:prstGeom prst="rect">
            <a:avLst/>
          </a:prstGeom>
          <a:noFill/>
        </p:spPr>
        <p:txBody>
          <a:bodyPr wrap="square" anchor="t" lIns="0" rIns="0" tIns="0" bIns="0">
            <a:spAutoFit/>
          </a:bodyPr>
          <a:lstStyle/>
          <a:p>
            <a:pPr algn="l"/>
            <a:r>
              <a:rPr sz="1200" b="0" i="0">
                <a:solidFill>
                  <a:srgbClr val="E6EDF3"/>
                </a:solidFill>
                <a:latin typeface="Consolas"/>
              </a:rPr>
              <a:t>/v2/offers</a:t>
            </a:r>
          </a:p>
        </p:txBody>
      </p:sp>
      <p:sp>
        <p:nvSpPr>
          <p:cNvPr id="29" name="TextBox 28"/>
          <p:cNvSpPr txBox="1"/>
          <p:nvPr/>
        </p:nvSpPr>
        <p:spPr>
          <a:xfrm>
            <a:off x="5120640" y="3602736"/>
            <a:ext cx="2286000" cy="292608"/>
          </a:xfrm>
          <a:prstGeom prst="rect">
            <a:avLst/>
          </a:prstGeom>
          <a:noFill/>
        </p:spPr>
        <p:txBody>
          <a:bodyPr wrap="square" anchor="t" lIns="0" rIns="0" tIns="0" bIns="0">
            <a:spAutoFit/>
          </a:bodyPr>
          <a:lstStyle/>
          <a:p>
            <a:pPr algn="l"/>
            <a:r>
              <a:rPr sz="1100" b="0" i="0">
                <a:solidFill>
                  <a:srgbClr val="8B949E"/>
                </a:solidFill>
                <a:latin typeface="Segoe UI"/>
              </a:rPr>
              <a:t>page</a:t>
            </a:r>
          </a:p>
        </p:txBody>
      </p:sp>
      <p:sp>
        <p:nvSpPr>
          <p:cNvPr id="30" name="TextBox 29"/>
          <p:cNvSpPr txBox="1"/>
          <p:nvPr/>
        </p:nvSpPr>
        <p:spPr>
          <a:xfrm>
            <a:off x="6007608" y="3602736"/>
            <a:ext cx="2286000" cy="292608"/>
          </a:xfrm>
          <a:prstGeom prst="rect">
            <a:avLst/>
          </a:prstGeom>
          <a:noFill/>
        </p:spPr>
        <p:txBody>
          <a:bodyPr wrap="square" anchor="t" lIns="0" rIns="0" tIns="0" bIns="0">
            <a:spAutoFit/>
          </a:bodyPr>
          <a:lstStyle/>
          <a:p>
            <a:pPr algn="l"/>
            <a:r>
              <a:rPr sz="1100" b="0" i="0">
                <a:solidFill>
                  <a:srgbClr val="B9C2CC"/>
                </a:solidFill>
                <a:latin typeface="Consolas"/>
              </a:rPr>
              <a:t>1480 ms</a:t>
            </a:r>
          </a:p>
        </p:txBody>
      </p:sp>
      <p:sp>
        <p:nvSpPr>
          <p:cNvPr id="31" name="Rounded Rectangle 30"/>
          <p:cNvSpPr/>
          <p:nvPr/>
        </p:nvSpPr>
        <p:spPr>
          <a:xfrm>
            <a:off x="6812280" y="3584448"/>
            <a:ext cx="786384" cy="237744"/>
          </a:xfrm>
          <a:prstGeom prst="roundRect">
            <a:avLst>
              <a:gd name="adj" fmla="val 50000"/>
            </a:avLst>
          </a:prstGeom>
          <a:noFill/>
          <a:ln w="15875">
            <a:solidFill>
              <a:srgbClr val="A371F7"/>
            </a:solid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900" b="1" i="0">
                <a:solidFill>
                  <a:srgbClr val="A371F7"/>
                </a:solidFill>
                <a:latin typeface="Segoe UI"/>
              </a:rPr>
              <a:t>mock</a:t>
            </a:r>
          </a:p>
        </p:txBody>
      </p:sp>
      <p:sp>
        <p:nvSpPr>
          <p:cNvPr id="32" name="TextBox 31"/>
          <p:cNvSpPr txBox="1"/>
          <p:nvPr/>
        </p:nvSpPr>
        <p:spPr>
          <a:xfrm>
            <a:off x="1005840" y="4032504"/>
            <a:ext cx="2286000" cy="292608"/>
          </a:xfrm>
          <a:prstGeom prst="rect">
            <a:avLst/>
          </a:prstGeom>
          <a:noFill/>
        </p:spPr>
        <p:txBody>
          <a:bodyPr wrap="square" anchor="t" lIns="0" rIns="0" tIns="0" bIns="0">
            <a:spAutoFit/>
          </a:bodyPr>
          <a:lstStyle/>
          <a:p>
            <a:pPr algn="l"/>
            <a:r>
              <a:rPr sz="1100" b="1" i="0">
                <a:solidFill>
                  <a:srgbClr val="58A6FF"/>
                </a:solidFill>
                <a:latin typeface="Consolas"/>
              </a:rPr>
              <a:t>GET</a:t>
            </a:r>
          </a:p>
        </p:txBody>
      </p:sp>
      <p:sp>
        <p:nvSpPr>
          <p:cNvPr id="33" name="TextBox 32"/>
          <p:cNvSpPr txBox="1"/>
          <p:nvPr/>
        </p:nvSpPr>
        <p:spPr>
          <a:xfrm>
            <a:off x="1874520" y="4032504"/>
            <a:ext cx="2286000" cy="292608"/>
          </a:xfrm>
          <a:prstGeom prst="rect">
            <a:avLst/>
          </a:prstGeom>
          <a:noFill/>
        </p:spPr>
        <p:txBody>
          <a:bodyPr wrap="square" anchor="t" lIns="0" rIns="0" tIns="0" bIns="0">
            <a:spAutoFit/>
          </a:bodyPr>
          <a:lstStyle/>
          <a:p>
            <a:pPr algn="l"/>
            <a:r>
              <a:rPr sz="1150" b="1" i="0">
                <a:solidFill>
                  <a:srgbClr val="F85149"/>
                </a:solidFill>
                <a:latin typeface="Consolas"/>
              </a:rPr>
              <a:t>ERR</a:t>
            </a:r>
          </a:p>
        </p:txBody>
      </p:sp>
      <p:sp>
        <p:nvSpPr>
          <p:cNvPr id="34" name="TextBox 33"/>
          <p:cNvSpPr txBox="1"/>
          <p:nvPr/>
        </p:nvSpPr>
        <p:spPr>
          <a:xfrm>
            <a:off x="2788920" y="4032504"/>
            <a:ext cx="2286000" cy="292608"/>
          </a:xfrm>
          <a:prstGeom prst="rect">
            <a:avLst/>
          </a:prstGeom>
          <a:noFill/>
        </p:spPr>
        <p:txBody>
          <a:bodyPr wrap="square" anchor="t" lIns="0" rIns="0" tIns="0" bIns="0">
            <a:spAutoFit/>
          </a:bodyPr>
          <a:lstStyle/>
          <a:p>
            <a:pPr algn="l"/>
            <a:r>
              <a:rPr sz="1200" b="0" i="0">
                <a:solidFill>
                  <a:srgbClr val="E6EDF3"/>
                </a:solidFill>
                <a:latin typeface="Consolas"/>
              </a:rPr>
              <a:t>/v2/profile</a:t>
            </a:r>
          </a:p>
        </p:txBody>
      </p:sp>
      <p:sp>
        <p:nvSpPr>
          <p:cNvPr id="35" name="TextBox 34"/>
          <p:cNvSpPr txBox="1"/>
          <p:nvPr/>
        </p:nvSpPr>
        <p:spPr>
          <a:xfrm>
            <a:off x="5120640" y="4032504"/>
            <a:ext cx="2286000" cy="292608"/>
          </a:xfrm>
          <a:prstGeom prst="rect">
            <a:avLst/>
          </a:prstGeom>
          <a:noFill/>
        </p:spPr>
        <p:txBody>
          <a:bodyPr wrap="square" anchor="t" lIns="0" rIns="0" tIns="0" bIns="0">
            <a:spAutoFit/>
          </a:bodyPr>
          <a:lstStyle/>
          <a:p>
            <a:pPr algn="l"/>
            <a:r>
              <a:rPr sz="1100" b="0" i="0">
                <a:solidFill>
                  <a:srgbClr val="8B949E"/>
                </a:solidFill>
                <a:latin typeface="Segoe UI"/>
              </a:rPr>
              <a:t>page</a:t>
            </a:r>
          </a:p>
        </p:txBody>
      </p:sp>
      <p:sp>
        <p:nvSpPr>
          <p:cNvPr id="36" name="TextBox 35"/>
          <p:cNvSpPr txBox="1"/>
          <p:nvPr/>
        </p:nvSpPr>
        <p:spPr>
          <a:xfrm>
            <a:off x="6007608" y="4032504"/>
            <a:ext cx="2286000" cy="292608"/>
          </a:xfrm>
          <a:prstGeom prst="rect">
            <a:avLst/>
          </a:prstGeom>
          <a:noFill/>
        </p:spPr>
        <p:txBody>
          <a:bodyPr wrap="square" anchor="t" lIns="0" rIns="0" tIns="0" bIns="0">
            <a:spAutoFit/>
          </a:bodyPr>
          <a:lstStyle/>
          <a:p>
            <a:pPr algn="l"/>
            <a:r>
              <a:rPr sz="1100" b="0" i="0">
                <a:solidFill>
                  <a:srgbClr val="B9C2CC"/>
                </a:solidFill>
                <a:latin typeface="Consolas"/>
              </a:rPr>
              <a:t>30012 ms</a:t>
            </a:r>
          </a:p>
        </p:txBody>
      </p:sp>
      <p:sp>
        <p:nvSpPr>
          <p:cNvPr id="37" name="TextBox 36"/>
          <p:cNvSpPr txBox="1"/>
          <p:nvPr/>
        </p:nvSpPr>
        <p:spPr>
          <a:xfrm>
            <a:off x="1005840" y="4462272"/>
            <a:ext cx="2286000" cy="292608"/>
          </a:xfrm>
          <a:prstGeom prst="rect">
            <a:avLst/>
          </a:prstGeom>
          <a:noFill/>
        </p:spPr>
        <p:txBody>
          <a:bodyPr wrap="square" anchor="t" lIns="0" rIns="0" tIns="0" bIns="0">
            <a:spAutoFit/>
          </a:bodyPr>
          <a:lstStyle/>
          <a:p>
            <a:pPr algn="l"/>
            <a:r>
              <a:rPr sz="1100" b="1" i="0">
                <a:solidFill>
                  <a:srgbClr val="3FB950"/>
                </a:solidFill>
                <a:latin typeface="Consolas"/>
              </a:rPr>
              <a:t>POST</a:t>
            </a:r>
          </a:p>
        </p:txBody>
      </p:sp>
      <p:sp>
        <p:nvSpPr>
          <p:cNvPr id="38" name="TextBox 37"/>
          <p:cNvSpPr txBox="1"/>
          <p:nvPr/>
        </p:nvSpPr>
        <p:spPr>
          <a:xfrm>
            <a:off x="1874520" y="4462272"/>
            <a:ext cx="2286000" cy="292608"/>
          </a:xfrm>
          <a:prstGeom prst="rect">
            <a:avLst/>
          </a:prstGeom>
          <a:noFill/>
        </p:spPr>
        <p:txBody>
          <a:bodyPr wrap="square" anchor="t" lIns="0" rIns="0" tIns="0" bIns="0">
            <a:spAutoFit/>
          </a:bodyPr>
          <a:lstStyle/>
          <a:p>
            <a:pPr algn="l"/>
            <a:r>
              <a:rPr sz="1150" b="1" i="0">
                <a:solidFill>
                  <a:srgbClr val="3FB950"/>
                </a:solidFill>
                <a:latin typeface="Consolas"/>
              </a:rPr>
              <a:t>200</a:t>
            </a:r>
          </a:p>
        </p:txBody>
      </p:sp>
      <p:sp>
        <p:nvSpPr>
          <p:cNvPr id="39" name="TextBox 38"/>
          <p:cNvSpPr txBox="1"/>
          <p:nvPr/>
        </p:nvSpPr>
        <p:spPr>
          <a:xfrm>
            <a:off x="2788920" y="4462272"/>
            <a:ext cx="2286000" cy="292608"/>
          </a:xfrm>
          <a:prstGeom prst="rect">
            <a:avLst/>
          </a:prstGeom>
          <a:noFill/>
        </p:spPr>
        <p:txBody>
          <a:bodyPr wrap="square" anchor="t" lIns="0" rIns="0" tIns="0" bIns="0">
            <a:spAutoFit/>
          </a:bodyPr>
          <a:lstStyle/>
          <a:p>
            <a:pPr algn="l"/>
            <a:r>
              <a:rPr sz="1200" b="0" i="0">
                <a:solidFill>
                  <a:srgbClr val="E6EDF3"/>
                </a:solidFill>
                <a:latin typeface="Consolas"/>
              </a:rPr>
              <a:t>/graphql</a:t>
            </a:r>
          </a:p>
        </p:txBody>
      </p:sp>
      <p:sp>
        <p:nvSpPr>
          <p:cNvPr id="40" name="TextBox 39"/>
          <p:cNvSpPr txBox="1"/>
          <p:nvPr/>
        </p:nvSpPr>
        <p:spPr>
          <a:xfrm>
            <a:off x="5120640" y="4462272"/>
            <a:ext cx="2286000" cy="292608"/>
          </a:xfrm>
          <a:prstGeom prst="rect">
            <a:avLst/>
          </a:prstGeom>
          <a:noFill/>
        </p:spPr>
        <p:txBody>
          <a:bodyPr wrap="square" anchor="t" lIns="0" rIns="0" tIns="0" bIns="0">
            <a:spAutoFit/>
          </a:bodyPr>
          <a:lstStyle/>
          <a:p>
            <a:pPr algn="l"/>
            <a:r>
              <a:rPr sz="1100" b="0" i="0">
                <a:solidFill>
                  <a:srgbClr val="8B949E"/>
                </a:solidFill>
                <a:latin typeface="Segoe UI"/>
              </a:rPr>
              <a:t>page</a:t>
            </a:r>
          </a:p>
        </p:txBody>
      </p:sp>
      <p:sp>
        <p:nvSpPr>
          <p:cNvPr id="41" name="TextBox 40"/>
          <p:cNvSpPr txBox="1"/>
          <p:nvPr/>
        </p:nvSpPr>
        <p:spPr>
          <a:xfrm>
            <a:off x="6007608" y="4462272"/>
            <a:ext cx="2286000" cy="292608"/>
          </a:xfrm>
          <a:prstGeom prst="rect">
            <a:avLst/>
          </a:prstGeom>
          <a:noFill/>
        </p:spPr>
        <p:txBody>
          <a:bodyPr wrap="square" anchor="t" lIns="0" rIns="0" tIns="0" bIns="0">
            <a:spAutoFit/>
          </a:bodyPr>
          <a:lstStyle/>
          <a:p>
            <a:pPr algn="l"/>
            <a:r>
              <a:rPr sz="1100" b="0" i="0">
                <a:solidFill>
                  <a:srgbClr val="B9C2CC"/>
                </a:solidFill>
                <a:latin typeface="Consolas"/>
              </a:rPr>
              <a:t>310 ms</a:t>
            </a:r>
          </a:p>
        </p:txBody>
      </p:sp>
      <p:sp>
        <p:nvSpPr>
          <p:cNvPr id="42" name="Rounded Rectangle 41"/>
          <p:cNvSpPr/>
          <p:nvPr/>
        </p:nvSpPr>
        <p:spPr>
          <a:xfrm>
            <a:off x="7726680" y="1783080"/>
            <a:ext cx="3687775" cy="987552"/>
          </a:xfrm>
          <a:prstGeom prst="roundRect">
            <a:avLst>
              <a:gd name="adj" fmla="val 4000"/>
            </a:avLst>
          </a:prstGeom>
          <a:solidFill>
            <a:srgbClr val="1C2128"/>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pPr>
            <a:r>
              <a:rPr sz="1400" b="1" i="0">
                <a:solidFill>
                  <a:srgbClr val="F85149"/>
                </a:solidFill>
                <a:latin typeface="Segoe UI"/>
              </a:rPr>
              <a:t>Colour tells the story</a:t>
            </a:r>
          </a:p>
          <a:p>
            <a:pPr algn="l">
              <a:lnSpc>
                <a:spcPct val="120000"/>
              </a:lnSpc>
              <a:spcBef>
                <a:spcPts val="0"/>
              </a:spcBef>
              <a:spcAft>
                <a:spcPts val="0"/>
              </a:spcAft>
            </a:pPr>
            <a:r>
              <a:rPr sz="1200" b="0" i="0">
                <a:solidFill>
                  <a:srgbClr val="B9C2CC"/>
                </a:solidFill>
                <a:latin typeface="Segoe UI"/>
              </a:rPr>
              <a:t>Red rows failed. Purple rows were answered by one of your mock rules.</a:t>
            </a:r>
          </a:p>
        </p:txBody>
      </p:sp>
      <p:sp>
        <p:nvSpPr>
          <p:cNvPr id="43" name="Rounded Rectangle 42"/>
          <p:cNvSpPr/>
          <p:nvPr/>
        </p:nvSpPr>
        <p:spPr>
          <a:xfrm>
            <a:off x="7726680" y="2889504"/>
            <a:ext cx="3687775" cy="987552"/>
          </a:xfrm>
          <a:prstGeom prst="roundRect">
            <a:avLst>
              <a:gd name="adj" fmla="val 4000"/>
            </a:avLst>
          </a:prstGeom>
          <a:solidFill>
            <a:srgbClr val="1C2128"/>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pPr>
            <a:r>
              <a:rPr sz="1400" b="1" i="0">
                <a:solidFill>
                  <a:srgbClr val="58A6FF"/>
                </a:solidFill>
                <a:latin typeface="Segoe UI"/>
              </a:rPr>
              <a:t>Source is provenance</a:t>
            </a:r>
          </a:p>
          <a:p>
            <a:pPr algn="l">
              <a:lnSpc>
                <a:spcPct val="120000"/>
              </a:lnSpc>
              <a:spcBef>
                <a:spcPts val="0"/>
              </a:spcBef>
              <a:spcAft>
                <a:spcPts val="0"/>
              </a:spcAft>
            </a:pPr>
            <a:r>
              <a:rPr sz="1200" b="0" i="0">
                <a:solidFill>
                  <a:srgbClr val="B9C2CC"/>
                </a:solidFill>
                <a:latin typeface="Segoe UI"/>
              </a:rPr>
              <a:t>"page" means payloads were captured. "browser" means metadata only.</a:t>
            </a:r>
          </a:p>
        </p:txBody>
      </p:sp>
      <p:sp>
        <p:nvSpPr>
          <p:cNvPr id="44" name="Rounded Rectangle 43"/>
          <p:cNvSpPr/>
          <p:nvPr/>
        </p:nvSpPr>
        <p:spPr>
          <a:xfrm>
            <a:off x="7726680" y="3995928"/>
            <a:ext cx="3687775" cy="987552"/>
          </a:xfrm>
          <a:prstGeom prst="roundRect">
            <a:avLst>
              <a:gd name="adj" fmla="val 4000"/>
            </a:avLst>
          </a:prstGeom>
          <a:solidFill>
            <a:srgbClr val="1C2128"/>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pPr>
            <a:r>
              <a:rPr sz="1400" b="1" i="0">
                <a:solidFill>
                  <a:srgbClr val="3FB950"/>
                </a:solidFill>
                <a:latin typeface="Segoe UI"/>
              </a:rPr>
              <a:t>Click any row</a:t>
            </a:r>
          </a:p>
          <a:p>
            <a:pPr algn="l">
              <a:lnSpc>
                <a:spcPct val="120000"/>
              </a:lnSpc>
              <a:spcBef>
                <a:spcPts val="0"/>
              </a:spcBef>
              <a:spcAft>
                <a:spcPts val="0"/>
              </a:spcAft>
            </a:pPr>
            <a:r>
              <a:rPr sz="1200" b="0" i="0">
                <a:solidFill>
                  <a:srgbClr val="B9C2CC"/>
                </a:solidFill>
                <a:latin typeface="Segoe UI"/>
              </a:rPr>
              <a:t>Opens the full detail: payload, response, headers, trace and generated code.</a:t>
            </a:r>
          </a:p>
        </p:txBody>
      </p:sp>
      <p:sp>
        <p:nvSpPr>
          <p:cNvPr id="45" name="TextBox 44"/>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46" name="TextBox 45"/>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58A6FF"/>
                </a:solidFill>
                <a:latin typeface="Segoe UI"/>
              </a:rPr>
              <a:t>NETWORK</a:t>
            </a:r>
          </a:p>
          <a:p>
            <a:pPr algn="l">
              <a:lnSpc>
                <a:spcPct val="100000"/>
              </a:lnSpc>
              <a:spcBef>
                <a:spcPts val="0"/>
              </a:spcBef>
              <a:spcAft>
                <a:spcPts val="400"/>
              </a:spcAft>
            </a:pPr>
            <a:r>
              <a:rPr sz="3300" b="1" i="0">
                <a:solidFill>
                  <a:srgbClr val="E6EDF3"/>
                </a:solidFill>
                <a:latin typeface="Segoe UI"/>
              </a:rPr>
              <a:t>Finding the one call you care about</a:t>
            </a:r>
          </a:p>
          <a:p>
            <a:pPr algn="l">
              <a:lnSpc>
                <a:spcPct val="115000"/>
              </a:lnSpc>
              <a:spcBef>
                <a:spcPts val="0"/>
              </a:spcBef>
              <a:spcAft>
                <a:spcPts val="0"/>
              </a:spcAft>
            </a:pPr>
            <a:r>
              <a:rPr sz="1550" b="0" i="0">
                <a:solidFill>
                  <a:srgbClr val="8B949E"/>
                </a:solidFill>
                <a:latin typeface="Segoe UI"/>
              </a:rPr>
              <a:t>Type plain words. Narrow precisely only when you need to.</a:t>
            </a:r>
          </a:p>
        </p:txBody>
      </p:sp>
      <p:sp>
        <p:nvSpPr>
          <p:cNvPr id="4" name="Rounded Rectangle 3"/>
          <p:cNvSpPr/>
          <p:nvPr/>
        </p:nvSpPr>
        <p:spPr>
          <a:xfrm>
            <a:off x="777240" y="1783080"/>
            <a:ext cx="10637215" cy="566928"/>
          </a:xfrm>
          <a:prstGeom prst="roundRect">
            <a:avLst>
              <a:gd name="adj" fmla="val 4000"/>
            </a:avLst>
          </a:prstGeom>
          <a:solidFill>
            <a:srgbClr val="010409"/>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r>
              <a:rPr sz="1600" b="0" i="0">
                <a:solidFill>
                  <a:srgbClr val="8B949E"/>
                </a:solidFill>
                <a:latin typeface="Segoe UI"/>
              </a:rPr>
              <a:t>⌕   </a:t>
            </a:r>
            <a:r>
              <a:rPr sz="1600" b="0" i="0">
                <a:solidFill>
                  <a:srgbClr val="E6EDF3"/>
                </a:solidFill>
                <a:latin typeface="Consolas"/>
              </a:rPr>
              <a:t>billing  status:5xx  -image</a:t>
            </a:r>
            <a:r>
              <a:rPr sz="1200" b="0" i="0">
                <a:solidFill>
                  <a:srgbClr val="8B949E"/>
                </a:solidFill>
                <a:latin typeface="Segoe UI"/>
              </a:rPr>
              <a:t>          press / to focus,  ? for the full syntax list</a:t>
            </a:r>
          </a:p>
        </p:txBody>
      </p:sp>
      <p:sp>
        <p:nvSpPr>
          <p:cNvPr id="5" name="TextBox 4"/>
          <p:cNvSpPr txBox="1"/>
          <p:nvPr/>
        </p:nvSpPr>
        <p:spPr>
          <a:xfrm>
            <a:off x="886968" y="2624328"/>
            <a:ext cx="2331720" cy="278892"/>
          </a:xfrm>
          <a:prstGeom prst="rect">
            <a:avLst/>
          </a:prstGeom>
          <a:noFill/>
        </p:spPr>
        <p:txBody>
          <a:bodyPr wrap="square" anchor="t" lIns="0" rIns="0" tIns="0" bIns="0">
            <a:spAutoFit/>
          </a:bodyPr>
          <a:lstStyle/>
          <a:p>
            <a:pPr algn="l"/>
            <a:r>
              <a:rPr sz="1200" b="1" i="0">
                <a:solidFill>
                  <a:srgbClr val="58A6FF"/>
                </a:solidFill>
                <a:latin typeface="Segoe UI"/>
              </a:rPr>
              <a:t>Type this</a:t>
            </a:r>
          </a:p>
        </p:txBody>
      </p:sp>
      <p:sp>
        <p:nvSpPr>
          <p:cNvPr id="6" name="TextBox 5"/>
          <p:cNvSpPr txBox="1"/>
          <p:nvPr/>
        </p:nvSpPr>
        <p:spPr>
          <a:xfrm>
            <a:off x="3401568" y="2624328"/>
            <a:ext cx="2194560" cy="278892"/>
          </a:xfrm>
          <a:prstGeom prst="rect">
            <a:avLst/>
          </a:prstGeom>
          <a:noFill/>
        </p:spPr>
        <p:txBody>
          <a:bodyPr wrap="square" anchor="t" lIns="0" rIns="0" tIns="0" bIns="0">
            <a:spAutoFit/>
          </a:bodyPr>
          <a:lstStyle/>
          <a:p>
            <a:pPr algn="l"/>
            <a:r>
              <a:rPr sz="1200" b="1" i="0">
                <a:solidFill>
                  <a:srgbClr val="58A6FF"/>
                </a:solidFill>
                <a:latin typeface="Segoe UI"/>
              </a:rPr>
              <a:t>To find</a:t>
            </a:r>
          </a:p>
        </p:txBody>
      </p:sp>
      <p:sp>
        <p:nvSpPr>
          <p:cNvPr id="7" name="TextBox 6"/>
          <p:cNvSpPr txBox="1"/>
          <p:nvPr/>
        </p:nvSpPr>
        <p:spPr>
          <a:xfrm>
            <a:off x="5779008" y="2624328"/>
            <a:ext cx="2834640" cy="278892"/>
          </a:xfrm>
          <a:prstGeom prst="rect">
            <a:avLst/>
          </a:prstGeom>
          <a:noFill/>
        </p:spPr>
        <p:txBody>
          <a:bodyPr wrap="square" anchor="t" lIns="0" rIns="0" tIns="0" bIns="0">
            <a:spAutoFit/>
          </a:bodyPr>
          <a:lstStyle/>
          <a:p>
            <a:pPr algn="l"/>
            <a:r>
              <a:rPr sz="1200" b="1" i="0">
                <a:solidFill>
                  <a:srgbClr val="58A6FF"/>
                </a:solidFill>
                <a:latin typeface="Segoe UI"/>
              </a:rPr>
              <a:t>Type this</a:t>
            </a:r>
          </a:p>
        </p:txBody>
      </p:sp>
      <p:sp>
        <p:nvSpPr>
          <p:cNvPr id="8" name="TextBox 7"/>
          <p:cNvSpPr txBox="1"/>
          <p:nvPr/>
        </p:nvSpPr>
        <p:spPr>
          <a:xfrm>
            <a:off x="8796528" y="2624328"/>
            <a:ext cx="2514600" cy="278892"/>
          </a:xfrm>
          <a:prstGeom prst="rect">
            <a:avLst/>
          </a:prstGeom>
          <a:noFill/>
        </p:spPr>
        <p:txBody>
          <a:bodyPr wrap="square" anchor="t" lIns="0" rIns="0" tIns="0" bIns="0">
            <a:spAutoFit/>
          </a:bodyPr>
          <a:lstStyle/>
          <a:p>
            <a:pPr algn="l"/>
            <a:r>
              <a:rPr sz="1200" b="1" i="0">
                <a:solidFill>
                  <a:srgbClr val="58A6FF"/>
                </a:solidFill>
                <a:latin typeface="Segoe UI"/>
              </a:rPr>
              <a:t>To find</a:t>
            </a:r>
          </a:p>
        </p:txBody>
      </p:sp>
      <p:sp>
        <p:nvSpPr>
          <p:cNvPr id="9" name="Rectangle 8"/>
          <p:cNvSpPr/>
          <p:nvPr/>
        </p:nvSpPr>
        <p:spPr>
          <a:xfrm>
            <a:off x="777240" y="2875788"/>
            <a:ext cx="10607040" cy="1524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994660"/>
            <a:ext cx="2331720" cy="278892"/>
          </a:xfrm>
          <a:prstGeom prst="rect">
            <a:avLst/>
          </a:prstGeom>
          <a:noFill/>
        </p:spPr>
        <p:txBody>
          <a:bodyPr wrap="square" anchor="t" lIns="0" rIns="0" tIns="0" bIns="0">
            <a:spAutoFit/>
          </a:bodyPr>
          <a:lstStyle/>
          <a:p>
            <a:pPr algn="l"/>
            <a:r>
              <a:rPr sz="1250" b="0" i="0">
                <a:solidFill>
                  <a:srgbClr val="E6EDF3"/>
                </a:solidFill>
                <a:latin typeface="Segoe UI"/>
              </a:rPr>
              <a:t>billing</a:t>
            </a:r>
          </a:p>
        </p:txBody>
      </p:sp>
      <p:sp>
        <p:nvSpPr>
          <p:cNvPr id="11" name="TextBox 10"/>
          <p:cNvSpPr txBox="1"/>
          <p:nvPr/>
        </p:nvSpPr>
        <p:spPr>
          <a:xfrm>
            <a:off x="3401568" y="2994660"/>
            <a:ext cx="2194560" cy="278892"/>
          </a:xfrm>
          <a:prstGeom prst="rect">
            <a:avLst/>
          </a:prstGeom>
          <a:noFill/>
        </p:spPr>
        <p:txBody>
          <a:bodyPr wrap="square" anchor="t" lIns="0" rIns="0" tIns="0" bIns="0">
            <a:spAutoFit/>
          </a:bodyPr>
          <a:lstStyle/>
          <a:p>
            <a:pPr algn="l"/>
            <a:r>
              <a:rPr sz="1250" b="0" i="0">
                <a:solidFill>
                  <a:srgbClr val="B9C2CC"/>
                </a:solidFill>
                <a:latin typeface="Segoe UI"/>
              </a:rPr>
              <a:t>Match anywhere</a:t>
            </a:r>
          </a:p>
        </p:txBody>
      </p:sp>
      <p:sp>
        <p:nvSpPr>
          <p:cNvPr id="12" name="TextBox 11"/>
          <p:cNvSpPr txBox="1"/>
          <p:nvPr/>
        </p:nvSpPr>
        <p:spPr>
          <a:xfrm>
            <a:off x="5779008" y="2994660"/>
            <a:ext cx="2834640" cy="278892"/>
          </a:xfrm>
          <a:prstGeom prst="rect">
            <a:avLst/>
          </a:prstGeom>
          <a:noFill/>
        </p:spPr>
        <p:txBody>
          <a:bodyPr wrap="square" anchor="t" lIns="0" rIns="0" tIns="0" bIns="0">
            <a:spAutoFit/>
          </a:bodyPr>
          <a:lstStyle/>
          <a:p>
            <a:pPr algn="l"/>
            <a:r>
              <a:rPr sz="1250" b="0" i="0">
                <a:solidFill>
                  <a:srgbClr val="B9C2CC"/>
                </a:solidFill>
                <a:latin typeface="Segoe UI"/>
              </a:rPr>
              <a:t>body:contactId</a:t>
            </a:r>
          </a:p>
        </p:txBody>
      </p:sp>
      <p:sp>
        <p:nvSpPr>
          <p:cNvPr id="13" name="TextBox 12"/>
          <p:cNvSpPr txBox="1"/>
          <p:nvPr/>
        </p:nvSpPr>
        <p:spPr>
          <a:xfrm>
            <a:off x="8796528" y="2994660"/>
            <a:ext cx="2514600" cy="278892"/>
          </a:xfrm>
          <a:prstGeom prst="rect">
            <a:avLst/>
          </a:prstGeom>
          <a:noFill/>
        </p:spPr>
        <p:txBody>
          <a:bodyPr wrap="square" anchor="t" lIns="0" rIns="0" tIns="0" bIns="0">
            <a:spAutoFit/>
          </a:bodyPr>
          <a:lstStyle/>
          <a:p>
            <a:pPr algn="l"/>
            <a:r>
              <a:rPr sz="1250" b="0" i="0">
                <a:solidFill>
                  <a:srgbClr val="B9C2CC"/>
                </a:solidFill>
                <a:latin typeface="Segoe UI"/>
              </a:rPr>
              <a:t>Search payloads</a:t>
            </a:r>
          </a:p>
        </p:txBody>
      </p:sp>
      <p:sp>
        <p:nvSpPr>
          <p:cNvPr id="14" name="Rectangle 13"/>
          <p:cNvSpPr/>
          <p:nvPr/>
        </p:nvSpPr>
        <p:spPr>
          <a:xfrm>
            <a:off x="777240" y="3300984"/>
            <a:ext cx="10607040" cy="370332"/>
          </a:xfrm>
          <a:prstGeom prst="rect">
            <a:avLst/>
          </a:prstGeom>
          <a:solidFill>
            <a:srgbClr val="1C21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15" name="TextBox 14"/>
          <p:cNvSpPr txBox="1"/>
          <p:nvPr/>
        </p:nvSpPr>
        <p:spPr>
          <a:xfrm>
            <a:off x="886968" y="3364992"/>
            <a:ext cx="2331720" cy="278892"/>
          </a:xfrm>
          <a:prstGeom prst="rect">
            <a:avLst/>
          </a:prstGeom>
          <a:noFill/>
        </p:spPr>
        <p:txBody>
          <a:bodyPr wrap="square" anchor="t" lIns="0" rIns="0" tIns="0" bIns="0">
            <a:spAutoFit/>
          </a:bodyPr>
          <a:lstStyle/>
          <a:p>
            <a:pPr algn="l"/>
            <a:r>
              <a:rPr sz="1250" b="0" i="0">
                <a:solidFill>
                  <a:srgbClr val="E6EDF3"/>
                </a:solidFill>
                <a:latin typeface="Consolas"/>
              </a:rPr>
              <a:t>"order summary"</a:t>
            </a:r>
          </a:p>
        </p:txBody>
      </p:sp>
      <p:sp>
        <p:nvSpPr>
          <p:cNvPr id="16" name="TextBox 15"/>
          <p:cNvSpPr txBox="1"/>
          <p:nvPr/>
        </p:nvSpPr>
        <p:spPr>
          <a:xfrm>
            <a:off x="3401568" y="3364992"/>
            <a:ext cx="2194560" cy="278892"/>
          </a:xfrm>
          <a:prstGeom prst="rect">
            <a:avLst/>
          </a:prstGeom>
          <a:noFill/>
        </p:spPr>
        <p:txBody>
          <a:bodyPr wrap="square" anchor="t" lIns="0" rIns="0" tIns="0" bIns="0">
            <a:spAutoFit/>
          </a:bodyPr>
          <a:lstStyle/>
          <a:p>
            <a:pPr algn="l"/>
            <a:r>
              <a:rPr sz="1250" b="0" i="0">
                <a:solidFill>
                  <a:srgbClr val="B9C2CC"/>
                </a:solidFill>
                <a:latin typeface="Segoe UI"/>
              </a:rPr>
              <a:t>Exact phrase</a:t>
            </a:r>
          </a:p>
        </p:txBody>
      </p:sp>
      <p:sp>
        <p:nvSpPr>
          <p:cNvPr id="17" name="TextBox 16"/>
          <p:cNvSpPr txBox="1"/>
          <p:nvPr/>
        </p:nvSpPr>
        <p:spPr>
          <a:xfrm>
            <a:off x="5779008" y="3364992"/>
            <a:ext cx="2834640" cy="278892"/>
          </a:xfrm>
          <a:prstGeom prst="rect">
            <a:avLst/>
          </a:prstGeom>
          <a:noFill/>
        </p:spPr>
        <p:txBody>
          <a:bodyPr wrap="square" anchor="t" lIns="0" rIns="0" tIns="0" bIns="0">
            <a:spAutoFit/>
          </a:bodyPr>
          <a:lstStyle/>
          <a:p>
            <a:pPr algn="l"/>
            <a:r>
              <a:rPr sz="1250" b="0" i="0">
                <a:solidFill>
                  <a:srgbClr val="B9C2CC"/>
                </a:solidFill>
                <a:latin typeface="Segoe UI"/>
              </a:rPr>
              <a:t>header:authorization</a:t>
            </a:r>
          </a:p>
        </p:txBody>
      </p:sp>
      <p:sp>
        <p:nvSpPr>
          <p:cNvPr id="18" name="TextBox 17"/>
          <p:cNvSpPr txBox="1"/>
          <p:nvPr/>
        </p:nvSpPr>
        <p:spPr>
          <a:xfrm>
            <a:off x="8796528" y="3364992"/>
            <a:ext cx="2514600" cy="278892"/>
          </a:xfrm>
          <a:prstGeom prst="rect">
            <a:avLst/>
          </a:prstGeom>
          <a:noFill/>
        </p:spPr>
        <p:txBody>
          <a:bodyPr wrap="square" anchor="t" lIns="0" rIns="0" tIns="0" bIns="0">
            <a:spAutoFit/>
          </a:bodyPr>
          <a:lstStyle/>
          <a:p>
            <a:pPr algn="l"/>
            <a:r>
              <a:rPr sz="1250" b="0" i="0">
                <a:solidFill>
                  <a:srgbClr val="B9C2CC"/>
                </a:solidFill>
                <a:latin typeface="Segoe UI"/>
              </a:rPr>
              <a:t>Header present</a:t>
            </a:r>
          </a:p>
        </p:txBody>
      </p:sp>
      <p:sp>
        <p:nvSpPr>
          <p:cNvPr id="19" name="TextBox 18"/>
          <p:cNvSpPr txBox="1"/>
          <p:nvPr/>
        </p:nvSpPr>
        <p:spPr>
          <a:xfrm>
            <a:off x="886968" y="3735324"/>
            <a:ext cx="2331720" cy="278892"/>
          </a:xfrm>
          <a:prstGeom prst="rect">
            <a:avLst/>
          </a:prstGeom>
          <a:noFill/>
        </p:spPr>
        <p:txBody>
          <a:bodyPr wrap="square" anchor="t" lIns="0" rIns="0" tIns="0" bIns="0">
            <a:spAutoFit/>
          </a:bodyPr>
          <a:lstStyle/>
          <a:p>
            <a:pPr algn="l"/>
            <a:r>
              <a:rPr sz="1250" b="0" i="0">
                <a:solidFill>
                  <a:srgbClr val="E6EDF3"/>
                </a:solidFill>
                <a:latin typeface="Consolas"/>
              </a:rPr>
              <a:t>-image</a:t>
            </a:r>
          </a:p>
        </p:txBody>
      </p:sp>
      <p:sp>
        <p:nvSpPr>
          <p:cNvPr id="20" name="TextBox 19"/>
          <p:cNvSpPr txBox="1"/>
          <p:nvPr/>
        </p:nvSpPr>
        <p:spPr>
          <a:xfrm>
            <a:off x="3401568" y="3735324"/>
            <a:ext cx="2194560" cy="278892"/>
          </a:xfrm>
          <a:prstGeom prst="rect">
            <a:avLst/>
          </a:prstGeom>
          <a:noFill/>
        </p:spPr>
        <p:txBody>
          <a:bodyPr wrap="square" anchor="t" lIns="0" rIns="0" tIns="0" bIns="0">
            <a:spAutoFit/>
          </a:bodyPr>
          <a:lstStyle/>
          <a:p>
            <a:pPr algn="l"/>
            <a:r>
              <a:rPr sz="1250" b="0" i="0">
                <a:solidFill>
                  <a:srgbClr val="B9C2CC"/>
                </a:solidFill>
                <a:latin typeface="Segoe UI"/>
              </a:rPr>
              <a:t>Exclude it</a:t>
            </a:r>
          </a:p>
        </p:txBody>
      </p:sp>
      <p:sp>
        <p:nvSpPr>
          <p:cNvPr id="21" name="TextBox 20"/>
          <p:cNvSpPr txBox="1"/>
          <p:nvPr/>
        </p:nvSpPr>
        <p:spPr>
          <a:xfrm>
            <a:off x="5779008" y="3735324"/>
            <a:ext cx="2834640" cy="278892"/>
          </a:xfrm>
          <a:prstGeom prst="rect">
            <a:avLst/>
          </a:prstGeom>
          <a:noFill/>
        </p:spPr>
        <p:txBody>
          <a:bodyPr wrap="square" anchor="t" lIns="0" rIns="0" tIns="0" bIns="0">
            <a:spAutoFit/>
          </a:bodyPr>
          <a:lstStyle/>
          <a:p>
            <a:pPr algn="l"/>
            <a:r>
              <a:rPr sz="1250" b="0" i="0">
                <a:solidFill>
                  <a:srgbClr val="B9C2CC"/>
                </a:solidFill>
                <a:latin typeface="Segoe UI"/>
              </a:rPr>
              <a:t>query:contactId=3055861</a:t>
            </a:r>
          </a:p>
        </p:txBody>
      </p:sp>
      <p:sp>
        <p:nvSpPr>
          <p:cNvPr id="22" name="TextBox 21"/>
          <p:cNvSpPr txBox="1"/>
          <p:nvPr/>
        </p:nvSpPr>
        <p:spPr>
          <a:xfrm>
            <a:off x="8796528" y="3735324"/>
            <a:ext cx="2514600" cy="278892"/>
          </a:xfrm>
          <a:prstGeom prst="rect">
            <a:avLst/>
          </a:prstGeom>
          <a:noFill/>
        </p:spPr>
        <p:txBody>
          <a:bodyPr wrap="square" anchor="t" lIns="0" rIns="0" tIns="0" bIns="0">
            <a:spAutoFit/>
          </a:bodyPr>
          <a:lstStyle/>
          <a:p>
            <a:pPr algn="l"/>
            <a:r>
              <a:rPr sz="1250" b="0" i="0">
                <a:solidFill>
                  <a:srgbClr val="B9C2CC"/>
                </a:solidFill>
                <a:latin typeface="Segoe UI"/>
              </a:rPr>
              <a:t>Query parameter</a:t>
            </a:r>
          </a:p>
        </p:txBody>
      </p:sp>
      <p:sp>
        <p:nvSpPr>
          <p:cNvPr id="23" name="Rectangle 22"/>
          <p:cNvSpPr/>
          <p:nvPr/>
        </p:nvSpPr>
        <p:spPr>
          <a:xfrm>
            <a:off x="777240" y="4041648"/>
            <a:ext cx="10607040" cy="370332"/>
          </a:xfrm>
          <a:prstGeom prst="rect">
            <a:avLst/>
          </a:prstGeom>
          <a:solidFill>
            <a:srgbClr val="1C21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24" name="TextBox 23"/>
          <p:cNvSpPr txBox="1"/>
          <p:nvPr/>
        </p:nvSpPr>
        <p:spPr>
          <a:xfrm>
            <a:off x="886968" y="4105656"/>
            <a:ext cx="2331720" cy="278892"/>
          </a:xfrm>
          <a:prstGeom prst="rect">
            <a:avLst/>
          </a:prstGeom>
          <a:noFill/>
        </p:spPr>
        <p:txBody>
          <a:bodyPr wrap="square" anchor="t" lIns="0" rIns="0" tIns="0" bIns="0">
            <a:spAutoFit/>
          </a:bodyPr>
          <a:lstStyle/>
          <a:p>
            <a:pPr algn="l"/>
            <a:r>
              <a:rPr sz="1250" b="0" i="0">
                <a:solidFill>
                  <a:srgbClr val="E6EDF3"/>
                </a:solidFill>
                <a:latin typeface="Consolas"/>
              </a:rPr>
              <a:t>status:5xx</a:t>
            </a:r>
          </a:p>
        </p:txBody>
      </p:sp>
      <p:sp>
        <p:nvSpPr>
          <p:cNvPr id="25" name="TextBox 24"/>
          <p:cNvSpPr txBox="1"/>
          <p:nvPr/>
        </p:nvSpPr>
        <p:spPr>
          <a:xfrm>
            <a:off x="3401568" y="4105656"/>
            <a:ext cx="2194560" cy="278892"/>
          </a:xfrm>
          <a:prstGeom prst="rect">
            <a:avLst/>
          </a:prstGeom>
          <a:noFill/>
        </p:spPr>
        <p:txBody>
          <a:bodyPr wrap="square" anchor="t" lIns="0" rIns="0" tIns="0" bIns="0">
            <a:spAutoFit/>
          </a:bodyPr>
          <a:lstStyle/>
          <a:p>
            <a:pPr algn="l"/>
            <a:r>
              <a:rPr sz="1250" b="0" i="0">
                <a:solidFill>
                  <a:srgbClr val="B9C2CC"/>
                </a:solidFill>
                <a:latin typeface="Segoe UI"/>
              </a:rPr>
              <a:t>Server errors</a:t>
            </a:r>
          </a:p>
        </p:txBody>
      </p:sp>
      <p:sp>
        <p:nvSpPr>
          <p:cNvPr id="26" name="TextBox 25"/>
          <p:cNvSpPr txBox="1"/>
          <p:nvPr/>
        </p:nvSpPr>
        <p:spPr>
          <a:xfrm>
            <a:off x="5779008" y="4105656"/>
            <a:ext cx="2834640" cy="278892"/>
          </a:xfrm>
          <a:prstGeom prst="rect">
            <a:avLst/>
          </a:prstGeom>
          <a:noFill/>
        </p:spPr>
        <p:txBody>
          <a:bodyPr wrap="square" anchor="t" lIns="0" rIns="0" tIns="0" bIns="0">
            <a:spAutoFit/>
          </a:bodyPr>
          <a:lstStyle/>
          <a:p>
            <a:pPr algn="l"/>
            <a:r>
              <a:rPr sz="1250" b="0" i="0">
                <a:solidFill>
                  <a:srgbClr val="B9C2CC"/>
                </a:solidFill>
                <a:latin typeface="Segoe UI"/>
              </a:rPr>
              <a:t>mock:yes</a:t>
            </a:r>
          </a:p>
        </p:txBody>
      </p:sp>
      <p:sp>
        <p:nvSpPr>
          <p:cNvPr id="27" name="TextBox 26"/>
          <p:cNvSpPr txBox="1"/>
          <p:nvPr/>
        </p:nvSpPr>
        <p:spPr>
          <a:xfrm>
            <a:off x="8796528" y="4105656"/>
            <a:ext cx="2514600" cy="278892"/>
          </a:xfrm>
          <a:prstGeom prst="rect">
            <a:avLst/>
          </a:prstGeom>
          <a:noFill/>
        </p:spPr>
        <p:txBody>
          <a:bodyPr wrap="square" anchor="t" lIns="0" rIns="0" tIns="0" bIns="0">
            <a:spAutoFit/>
          </a:bodyPr>
          <a:lstStyle/>
          <a:p>
            <a:pPr algn="l"/>
            <a:r>
              <a:rPr sz="1250" b="0" i="0">
                <a:solidFill>
                  <a:srgbClr val="B9C2CC"/>
                </a:solidFill>
                <a:latin typeface="Segoe UI"/>
              </a:rPr>
              <a:t>Mocked responses only</a:t>
            </a:r>
          </a:p>
        </p:txBody>
      </p:sp>
      <p:sp>
        <p:nvSpPr>
          <p:cNvPr id="28" name="TextBox 27"/>
          <p:cNvSpPr txBox="1"/>
          <p:nvPr/>
        </p:nvSpPr>
        <p:spPr>
          <a:xfrm>
            <a:off x="886968" y="4475988"/>
            <a:ext cx="2331720" cy="278892"/>
          </a:xfrm>
          <a:prstGeom prst="rect">
            <a:avLst/>
          </a:prstGeom>
          <a:noFill/>
        </p:spPr>
        <p:txBody>
          <a:bodyPr wrap="square" anchor="t" lIns="0" rIns="0" tIns="0" bIns="0">
            <a:spAutoFit/>
          </a:bodyPr>
          <a:lstStyle/>
          <a:p>
            <a:pPr algn="l"/>
            <a:r>
              <a:rPr sz="1250" b="0" i="0">
                <a:solidFill>
                  <a:srgbClr val="E6EDF3"/>
                </a:solidFill>
                <a:latin typeface="Consolas"/>
              </a:rPr>
              <a:t>status:&gt;=400</a:t>
            </a:r>
          </a:p>
        </p:txBody>
      </p:sp>
      <p:sp>
        <p:nvSpPr>
          <p:cNvPr id="29" name="TextBox 28"/>
          <p:cNvSpPr txBox="1"/>
          <p:nvPr/>
        </p:nvSpPr>
        <p:spPr>
          <a:xfrm>
            <a:off x="3401568" y="4475988"/>
            <a:ext cx="2194560" cy="278892"/>
          </a:xfrm>
          <a:prstGeom prst="rect">
            <a:avLst/>
          </a:prstGeom>
          <a:noFill/>
        </p:spPr>
        <p:txBody>
          <a:bodyPr wrap="square" anchor="t" lIns="0" rIns="0" tIns="0" bIns="0">
            <a:spAutoFit/>
          </a:bodyPr>
          <a:lstStyle/>
          <a:p>
            <a:pPr algn="l"/>
            <a:r>
              <a:rPr sz="1250" b="0" i="0">
                <a:solidFill>
                  <a:srgbClr val="B9C2CC"/>
                </a:solidFill>
                <a:latin typeface="Segoe UI"/>
              </a:rPr>
              <a:t>Any failure</a:t>
            </a:r>
          </a:p>
        </p:txBody>
      </p:sp>
      <p:sp>
        <p:nvSpPr>
          <p:cNvPr id="30" name="TextBox 29"/>
          <p:cNvSpPr txBox="1"/>
          <p:nvPr/>
        </p:nvSpPr>
        <p:spPr>
          <a:xfrm>
            <a:off x="5779008" y="4475988"/>
            <a:ext cx="2834640" cy="278892"/>
          </a:xfrm>
          <a:prstGeom prst="rect">
            <a:avLst/>
          </a:prstGeom>
          <a:noFill/>
        </p:spPr>
        <p:txBody>
          <a:bodyPr wrap="square" anchor="t" lIns="0" rIns="0" tIns="0" bIns="0">
            <a:spAutoFit/>
          </a:bodyPr>
          <a:lstStyle/>
          <a:p>
            <a:pPr algn="l"/>
            <a:r>
              <a:rPr sz="1250" b="0" i="0">
                <a:solidFill>
                  <a:srgbClr val="B9C2CC"/>
                </a:solidFill>
                <a:latin typeface="Segoe UI"/>
              </a:rPr>
              <a:t>error:yes</a:t>
            </a:r>
          </a:p>
        </p:txBody>
      </p:sp>
      <p:sp>
        <p:nvSpPr>
          <p:cNvPr id="31" name="TextBox 30"/>
          <p:cNvSpPr txBox="1"/>
          <p:nvPr/>
        </p:nvSpPr>
        <p:spPr>
          <a:xfrm>
            <a:off x="8796528" y="4475988"/>
            <a:ext cx="2514600" cy="278892"/>
          </a:xfrm>
          <a:prstGeom prst="rect">
            <a:avLst/>
          </a:prstGeom>
          <a:noFill/>
        </p:spPr>
        <p:txBody>
          <a:bodyPr wrap="square" anchor="t" lIns="0" rIns="0" tIns="0" bIns="0">
            <a:spAutoFit/>
          </a:bodyPr>
          <a:lstStyle/>
          <a:p>
            <a:pPr algn="l"/>
            <a:r>
              <a:rPr sz="1250" b="0" i="0">
                <a:solidFill>
                  <a:srgbClr val="B9C2CC"/>
                </a:solidFill>
                <a:latin typeface="Segoe UI"/>
              </a:rPr>
              <a:t>Failed calls</a:t>
            </a:r>
          </a:p>
        </p:txBody>
      </p:sp>
      <p:sp>
        <p:nvSpPr>
          <p:cNvPr id="32" name="Rectangle 31"/>
          <p:cNvSpPr/>
          <p:nvPr/>
        </p:nvSpPr>
        <p:spPr>
          <a:xfrm>
            <a:off x="777240" y="4782312"/>
            <a:ext cx="10607040" cy="370332"/>
          </a:xfrm>
          <a:prstGeom prst="rect">
            <a:avLst/>
          </a:prstGeom>
          <a:solidFill>
            <a:srgbClr val="1C21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33" name="TextBox 32"/>
          <p:cNvSpPr txBox="1"/>
          <p:nvPr/>
        </p:nvSpPr>
        <p:spPr>
          <a:xfrm>
            <a:off x="886968" y="4846320"/>
            <a:ext cx="2331720" cy="278892"/>
          </a:xfrm>
          <a:prstGeom prst="rect">
            <a:avLst/>
          </a:prstGeom>
          <a:noFill/>
        </p:spPr>
        <p:txBody>
          <a:bodyPr wrap="square" anchor="t" lIns="0" rIns="0" tIns="0" bIns="0">
            <a:spAutoFit/>
          </a:bodyPr>
          <a:lstStyle/>
          <a:p>
            <a:pPr algn="l"/>
            <a:r>
              <a:rPr sz="1250" b="0" i="0">
                <a:solidFill>
                  <a:srgbClr val="E6EDF3"/>
                </a:solidFill>
                <a:latin typeface="Consolas"/>
              </a:rPr>
              <a:t>method:POST,PUT</a:t>
            </a:r>
          </a:p>
        </p:txBody>
      </p:sp>
      <p:sp>
        <p:nvSpPr>
          <p:cNvPr id="34" name="TextBox 33"/>
          <p:cNvSpPr txBox="1"/>
          <p:nvPr/>
        </p:nvSpPr>
        <p:spPr>
          <a:xfrm>
            <a:off x="3401568" y="4846320"/>
            <a:ext cx="2194560" cy="278892"/>
          </a:xfrm>
          <a:prstGeom prst="rect">
            <a:avLst/>
          </a:prstGeom>
          <a:noFill/>
        </p:spPr>
        <p:txBody>
          <a:bodyPr wrap="square" anchor="t" lIns="0" rIns="0" tIns="0" bIns="0">
            <a:spAutoFit/>
          </a:bodyPr>
          <a:lstStyle/>
          <a:p>
            <a:pPr algn="l"/>
            <a:r>
              <a:rPr sz="1250" b="0" i="0">
                <a:solidFill>
                  <a:srgbClr val="B9C2CC"/>
                </a:solidFill>
                <a:latin typeface="Segoe UI"/>
              </a:rPr>
              <a:t>Either method</a:t>
            </a:r>
          </a:p>
        </p:txBody>
      </p:sp>
      <p:sp>
        <p:nvSpPr>
          <p:cNvPr id="35" name="TextBox 34"/>
          <p:cNvSpPr txBox="1"/>
          <p:nvPr/>
        </p:nvSpPr>
        <p:spPr>
          <a:xfrm>
            <a:off x="5779008" y="4846320"/>
            <a:ext cx="2834640" cy="278892"/>
          </a:xfrm>
          <a:prstGeom prst="rect">
            <a:avLst/>
          </a:prstGeom>
          <a:noFill/>
        </p:spPr>
        <p:txBody>
          <a:bodyPr wrap="square" anchor="t" lIns="0" rIns="0" tIns="0" bIns="0">
            <a:spAutoFit/>
          </a:bodyPr>
          <a:lstStyle/>
          <a:p>
            <a:pPr algn="l"/>
            <a:r>
              <a:rPr sz="1250" b="0" i="0">
                <a:solidFill>
                  <a:srgbClr val="B9C2CC"/>
                </a:solidFill>
                <a:latin typeface="Segoe UI"/>
              </a:rPr>
              <a:t>slow:&gt;1000</a:t>
            </a:r>
          </a:p>
        </p:txBody>
      </p:sp>
      <p:sp>
        <p:nvSpPr>
          <p:cNvPr id="36" name="TextBox 35"/>
          <p:cNvSpPr txBox="1"/>
          <p:nvPr/>
        </p:nvSpPr>
        <p:spPr>
          <a:xfrm>
            <a:off x="8796528" y="4846320"/>
            <a:ext cx="2514600" cy="278892"/>
          </a:xfrm>
          <a:prstGeom prst="rect">
            <a:avLst/>
          </a:prstGeom>
          <a:noFill/>
        </p:spPr>
        <p:txBody>
          <a:bodyPr wrap="square" anchor="t" lIns="0" rIns="0" tIns="0" bIns="0">
            <a:spAutoFit/>
          </a:bodyPr>
          <a:lstStyle/>
          <a:p>
            <a:pPr algn="l"/>
            <a:r>
              <a:rPr sz="1250" b="0" i="0">
                <a:solidFill>
                  <a:srgbClr val="B9C2CC"/>
                </a:solidFill>
                <a:latin typeface="Segoe UI"/>
              </a:rPr>
              <a:t>Slower than 1 second</a:t>
            </a:r>
          </a:p>
        </p:txBody>
      </p:sp>
      <p:sp>
        <p:nvSpPr>
          <p:cNvPr id="37" name="TextBox 36"/>
          <p:cNvSpPr txBox="1"/>
          <p:nvPr/>
        </p:nvSpPr>
        <p:spPr>
          <a:xfrm>
            <a:off x="886968" y="5216652"/>
            <a:ext cx="2331720" cy="278892"/>
          </a:xfrm>
          <a:prstGeom prst="rect">
            <a:avLst/>
          </a:prstGeom>
          <a:noFill/>
        </p:spPr>
        <p:txBody>
          <a:bodyPr wrap="square" anchor="t" lIns="0" rIns="0" tIns="0" bIns="0">
            <a:spAutoFit/>
          </a:bodyPr>
          <a:lstStyle/>
          <a:p>
            <a:pPr algn="l"/>
            <a:r>
              <a:rPr sz="1250" b="0" i="0">
                <a:solidFill>
                  <a:srgbClr val="E6EDF3"/>
                </a:solidFill>
                <a:latin typeface="Consolas"/>
              </a:rPr>
              <a:t>host:api.vodafone</a:t>
            </a:r>
          </a:p>
        </p:txBody>
      </p:sp>
      <p:sp>
        <p:nvSpPr>
          <p:cNvPr id="38" name="TextBox 37"/>
          <p:cNvSpPr txBox="1"/>
          <p:nvPr/>
        </p:nvSpPr>
        <p:spPr>
          <a:xfrm>
            <a:off x="3401568" y="5216652"/>
            <a:ext cx="2194560" cy="278892"/>
          </a:xfrm>
          <a:prstGeom prst="rect">
            <a:avLst/>
          </a:prstGeom>
          <a:noFill/>
        </p:spPr>
        <p:txBody>
          <a:bodyPr wrap="square" anchor="t" lIns="0" rIns="0" tIns="0" bIns="0">
            <a:spAutoFit/>
          </a:bodyPr>
          <a:lstStyle/>
          <a:p>
            <a:pPr algn="l"/>
            <a:r>
              <a:rPr sz="1250" b="0" i="0">
                <a:solidFill>
                  <a:srgbClr val="B9C2CC"/>
                </a:solidFill>
                <a:latin typeface="Segoe UI"/>
              </a:rPr>
              <a:t>Hostname contains</a:t>
            </a:r>
          </a:p>
        </p:txBody>
      </p:sp>
      <p:sp>
        <p:nvSpPr>
          <p:cNvPr id="39" name="TextBox 38"/>
          <p:cNvSpPr txBox="1"/>
          <p:nvPr/>
        </p:nvSpPr>
        <p:spPr>
          <a:xfrm>
            <a:off x="5779008" y="5216652"/>
            <a:ext cx="2834640" cy="278892"/>
          </a:xfrm>
          <a:prstGeom prst="rect">
            <a:avLst/>
          </a:prstGeom>
          <a:noFill/>
        </p:spPr>
        <p:txBody>
          <a:bodyPr wrap="square" anchor="t" lIns="0" rIns="0" tIns="0" bIns="0">
            <a:spAutoFit/>
          </a:bodyPr>
          <a:lstStyle/>
          <a:p>
            <a:pPr algn="l"/>
            <a:r>
              <a:rPr sz="1250" b="0" i="0">
                <a:solidFill>
                  <a:srgbClr val="B9C2CC"/>
                </a:solidFill>
                <a:latin typeface="Segoe UI"/>
              </a:rPr>
              <a:t>page:/myaccount</a:t>
            </a:r>
          </a:p>
        </p:txBody>
      </p:sp>
      <p:sp>
        <p:nvSpPr>
          <p:cNvPr id="40" name="TextBox 39"/>
          <p:cNvSpPr txBox="1"/>
          <p:nvPr/>
        </p:nvSpPr>
        <p:spPr>
          <a:xfrm>
            <a:off x="8796528" y="5216652"/>
            <a:ext cx="2514600" cy="278892"/>
          </a:xfrm>
          <a:prstGeom prst="rect">
            <a:avLst/>
          </a:prstGeom>
          <a:noFill/>
        </p:spPr>
        <p:txBody>
          <a:bodyPr wrap="square" anchor="t" lIns="0" rIns="0" tIns="0" bIns="0">
            <a:spAutoFit/>
          </a:bodyPr>
          <a:lstStyle/>
          <a:p>
            <a:pPr algn="l"/>
            <a:r>
              <a:rPr sz="1250" b="0" i="0">
                <a:solidFill>
                  <a:srgbClr val="B9C2CC"/>
                </a:solidFill>
                <a:latin typeface="Segoe UI"/>
              </a:rPr>
              <a:t>From a matching page</a:t>
            </a:r>
          </a:p>
        </p:txBody>
      </p:sp>
      <p:sp>
        <p:nvSpPr>
          <p:cNvPr id="41" name="Rounded Rectangle 40"/>
          <p:cNvSpPr/>
          <p:nvPr/>
        </p:nvSpPr>
        <p:spPr>
          <a:xfrm>
            <a:off x="777240" y="5577840"/>
            <a:ext cx="10637215" cy="640080"/>
          </a:xfrm>
          <a:prstGeom prst="roundRect">
            <a:avLst>
              <a:gd name="adj" fmla="val 4000"/>
            </a:avLst>
          </a:prstGeom>
          <a:solidFill>
            <a:srgbClr val="1C2128"/>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r>
              <a:rPr sz="1350" b="1" i="0">
                <a:solidFill>
                  <a:srgbClr val="E6EDF3"/>
                </a:solidFill>
                <a:latin typeface="Segoe UI"/>
              </a:rPr>
              <a:t>Words combine with AND.  </a:t>
            </a:r>
            <a:r>
              <a:rPr sz="1350" b="0" i="0">
                <a:solidFill>
                  <a:srgbClr val="B9C2CC"/>
                </a:solidFill>
                <a:latin typeface="Segoe UI"/>
              </a:rPr>
              <a:t>A comma inside one term means OR.  Every active filter becomes a chip you click to remove.  If the list empties, ApiLens names the filter responsible and offers a one-click undo.</a:t>
            </a:r>
          </a:p>
        </p:txBody>
      </p:sp>
      <p:sp>
        <p:nvSpPr>
          <p:cNvPr id="42" name="TextBox 41"/>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43" name="TextBox 42"/>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A37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A371F7"/>
                </a:solidFill>
                <a:latin typeface="Segoe UI"/>
              </a:rPr>
              <a:t>NETWORK</a:t>
            </a:r>
          </a:p>
          <a:p>
            <a:pPr algn="l">
              <a:lnSpc>
                <a:spcPct val="100000"/>
              </a:lnSpc>
              <a:spcBef>
                <a:spcPts val="0"/>
              </a:spcBef>
              <a:spcAft>
                <a:spcPts val="400"/>
              </a:spcAft>
            </a:pPr>
            <a:r>
              <a:rPr sz="3300" b="1" i="0">
                <a:solidFill>
                  <a:srgbClr val="E6EDF3"/>
                </a:solidFill>
                <a:latin typeface="Segoe UI"/>
              </a:rPr>
              <a:t>Two controls that cut the noise</a:t>
            </a:r>
          </a:p>
          <a:p>
            <a:pPr algn="l">
              <a:lnSpc>
                <a:spcPct val="115000"/>
              </a:lnSpc>
              <a:spcBef>
                <a:spcPts val="0"/>
              </a:spcBef>
              <a:spcAft>
                <a:spcPts val="0"/>
              </a:spcAft>
            </a:pPr>
            <a:r>
              <a:rPr sz="1550" b="0" i="0">
                <a:solidFill>
                  <a:srgbClr val="8B949E"/>
                </a:solidFill>
                <a:latin typeface="Segoe UI"/>
              </a:rPr>
              <a:t>Most sessions capture hundreds of calls. These make that manageable.</a:t>
            </a:r>
          </a:p>
        </p:txBody>
      </p:sp>
      <p:sp>
        <p:nvSpPr>
          <p:cNvPr id="4" name="Rounded Rectangle 3"/>
          <p:cNvSpPr/>
          <p:nvPr/>
        </p:nvSpPr>
        <p:spPr>
          <a:xfrm>
            <a:off x="777240" y="1783080"/>
            <a:ext cx="5158587" cy="3977639"/>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600"/>
              </a:spcAft>
            </a:pPr>
            <a:r>
              <a:rPr sz="1100" b="1" i="0">
                <a:solidFill>
                  <a:srgbClr val="A371F7"/>
                </a:solidFill>
                <a:latin typeface="Segoe UI"/>
              </a:rPr>
              <a:t>SHOW</a:t>
            </a:r>
          </a:p>
          <a:p>
            <a:pPr algn="l">
              <a:lnSpc>
                <a:spcPct val="105000"/>
              </a:lnSpc>
              <a:spcBef>
                <a:spcPts val="0"/>
              </a:spcBef>
              <a:spcAft>
                <a:spcPts val="1300"/>
              </a:spcAft>
            </a:pPr>
            <a:r>
              <a:rPr sz="1900" b="1" i="0">
                <a:solidFill>
                  <a:srgbClr val="E6EDF3"/>
                </a:solidFill>
                <a:latin typeface="Segoe UI"/>
              </a:rPr>
              <a:t>API calls only, or everything</a:t>
            </a:r>
          </a:p>
          <a:p>
            <a:pPr>
              <a:lnSpc>
                <a:spcPct val="118000"/>
              </a:lnSpc>
              <a:spcAft>
                <a:spcPts val="900"/>
              </a:spcAft>
            </a:pPr>
            <a:r>
              <a:rPr sz="1350" b="1" i="0">
                <a:solidFill>
                  <a:srgbClr val="A371F7"/>
                </a:solidFill>
                <a:latin typeface="Segoe UI"/>
              </a:rPr>
              <a:t>▪  </a:t>
            </a:r>
            <a:r>
              <a:rPr sz="1350" b="1" i="0">
                <a:solidFill>
                  <a:srgbClr val="E6EDF3"/>
                </a:solidFill>
                <a:latin typeface="Segoe UI"/>
              </a:rPr>
              <a:t>API calls</a:t>
            </a:r>
            <a:r>
              <a:rPr sz="1150" b="1" i="0">
                <a:solidFill>
                  <a:srgbClr val="3FB950"/>
                </a:solidFill>
                <a:latin typeface="Segoe UI"/>
              </a:rPr>
              <a:t>  (default)</a:t>
            </a:r>
            <a:r>
              <a:rPr sz="1250" b="0" i="0">
                <a:solidFill>
                  <a:srgbClr val="B9C2CC"/>
                </a:solidFill>
                <a:latin typeface="Segoe UI"/>
              </a:rPr>
              <a:t>
     Fetch, XHR, GraphQL, SSE, WebSocket, beacons</a:t>
            </a:r>
          </a:p>
          <a:p>
            <a:pPr>
              <a:lnSpc>
                <a:spcPct val="118000"/>
              </a:lnSpc>
              <a:spcAft>
                <a:spcPts val="900"/>
              </a:spcAft>
            </a:pPr>
            <a:r>
              <a:rPr sz="1350" b="1" i="0">
                <a:solidFill>
                  <a:srgbClr val="A371F7"/>
                </a:solidFill>
                <a:latin typeface="Segoe UI"/>
              </a:rPr>
              <a:t>▪  </a:t>
            </a:r>
            <a:r>
              <a:rPr sz="1350" b="1" i="0">
                <a:solidFill>
                  <a:srgbClr val="E6EDF3"/>
                </a:solidFill>
                <a:latin typeface="Segoe UI"/>
              </a:rPr>
              <a:t>Pages</a:t>
            </a:r>
            <a:r>
              <a:rPr sz="1250" b="0" i="0">
                <a:solidFill>
                  <a:srgbClr val="B9C2CC"/>
                </a:solidFill>
                <a:latin typeface="Segoe UI"/>
              </a:rPr>
              <a:t>
     Document navigations only</a:t>
            </a:r>
          </a:p>
          <a:p>
            <a:pPr>
              <a:lnSpc>
                <a:spcPct val="118000"/>
              </a:lnSpc>
              <a:spcAft>
                <a:spcPts val="900"/>
              </a:spcAft>
            </a:pPr>
            <a:r>
              <a:rPr sz="1350" b="1" i="0">
                <a:solidFill>
                  <a:srgbClr val="A371F7"/>
                </a:solidFill>
                <a:latin typeface="Segoe UI"/>
              </a:rPr>
              <a:t>▪  </a:t>
            </a:r>
            <a:r>
              <a:rPr sz="1350" b="1" i="0">
                <a:solidFill>
                  <a:srgbClr val="E6EDF3"/>
                </a:solidFill>
                <a:latin typeface="Segoe UI"/>
              </a:rPr>
              <a:t>Assets</a:t>
            </a:r>
            <a:r>
              <a:rPr sz="1250" b="0" i="0">
                <a:solidFill>
                  <a:srgbClr val="B9C2CC"/>
                </a:solidFill>
                <a:latin typeface="Segoe UI"/>
              </a:rPr>
              <a:t>
     Scripts, styles, images, fonts, media</a:t>
            </a:r>
          </a:p>
          <a:p>
            <a:pPr>
              <a:lnSpc>
                <a:spcPct val="118000"/>
              </a:lnSpc>
              <a:spcAft>
                <a:spcPts val="900"/>
              </a:spcAft>
            </a:pPr>
            <a:r>
              <a:rPr sz="1350" b="1" i="0">
                <a:solidFill>
                  <a:srgbClr val="A371F7"/>
                </a:solidFill>
                <a:latin typeface="Segoe UI"/>
              </a:rPr>
              <a:t>▪  </a:t>
            </a:r>
            <a:r>
              <a:rPr sz="1350" b="1" i="0">
                <a:solidFill>
                  <a:srgbClr val="E6EDF3"/>
                </a:solidFill>
                <a:latin typeface="Segoe UI"/>
              </a:rPr>
              <a:t>Everything</a:t>
            </a:r>
            <a:r>
              <a:rPr sz="1250" b="0" i="0">
                <a:solidFill>
                  <a:srgbClr val="B9C2CC"/>
                </a:solidFill>
                <a:latin typeface="Segoe UI"/>
              </a:rPr>
              <a:t>
     No traffic-type filter at all</a:t>
            </a:r>
          </a:p>
          <a:p>
            <a:pPr>
              <a:spcBef>
                <a:spcPts val="800"/>
              </a:spcBef>
            </a:pPr>
            <a:r>
              <a:rPr sz="1200" b="0" i="1">
                <a:solidFill>
                  <a:srgbClr val="8B949E"/>
                </a:solidFill>
                <a:latin typeface="Segoe UI"/>
              </a:rPr>
              <a:t>Static assets are hidden by default — this is an API tool.</a:t>
            </a:r>
          </a:p>
        </p:txBody>
      </p:sp>
      <p:sp>
        <p:nvSpPr>
          <p:cNvPr id="5" name="Rounded Rectangle 4"/>
          <p:cNvSpPr/>
          <p:nvPr/>
        </p:nvSpPr>
        <p:spPr>
          <a:xfrm>
            <a:off x="6255867" y="1783080"/>
            <a:ext cx="5158587" cy="3977639"/>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600"/>
              </a:spcAft>
            </a:pPr>
            <a:r>
              <a:rPr sz="1100" b="1" i="0">
                <a:solidFill>
                  <a:srgbClr val="39C5CF"/>
                </a:solidFill>
                <a:latin typeface="Segoe UI"/>
              </a:rPr>
              <a:t>PAGE</a:t>
            </a:r>
          </a:p>
          <a:p>
            <a:pPr algn="l">
              <a:lnSpc>
                <a:spcPct val="105000"/>
              </a:lnSpc>
              <a:spcBef>
                <a:spcPts val="0"/>
              </a:spcBef>
              <a:spcAft>
                <a:spcPts val="1300"/>
              </a:spcAft>
            </a:pPr>
            <a:r>
              <a:rPr sz="1900" b="1" i="0">
                <a:solidFill>
                  <a:srgbClr val="E6EDF3"/>
                </a:solidFill>
                <a:latin typeface="Segoe UI"/>
              </a:rPr>
              <a:t>All calls, or just this screen</a:t>
            </a:r>
          </a:p>
          <a:p>
            <a:pPr>
              <a:lnSpc>
                <a:spcPct val="118000"/>
              </a:lnSpc>
              <a:spcAft>
                <a:spcPts val="900"/>
              </a:spcAft>
            </a:pPr>
            <a:r>
              <a:rPr sz="1350" b="1" i="0">
                <a:solidFill>
                  <a:srgbClr val="39C5CF"/>
                </a:solidFill>
                <a:latin typeface="Segoe UI"/>
              </a:rPr>
              <a:t>▪  </a:t>
            </a:r>
            <a:r>
              <a:rPr sz="1350" b="1" i="0">
                <a:solidFill>
                  <a:srgbClr val="E6EDF3"/>
                </a:solidFill>
                <a:latin typeface="Segoe UI"/>
              </a:rPr>
              <a:t>All pages</a:t>
            </a:r>
            <a:r>
              <a:rPr sz="1250" b="0" i="0">
                <a:solidFill>
                  <a:srgbClr val="B9C2CC"/>
                </a:solidFill>
                <a:latin typeface="Segoe UI"/>
              </a:rPr>
              <a:t>
     Everything captured in this session</a:t>
            </a:r>
          </a:p>
          <a:p>
            <a:pPr>
              <a:lnSpc>
                <a:spcPct val="118000"/>
              </a:lnSpc>
              <a:spcAft>
                <a:spcPts val="900"/>
              </a:spcAft>
            </a:pPr>
            <a:r>
              <a:rPr sz="1350" b="1" i="0">
                <a:solidFill>
                  <a:srgbClr val="39C5CF"/>
                </a:solidFill>
                <a:latin typeface="Segoe UI"/>
              </a:rPr>
              <a:t>▪  </a:t>
            </a:r>
            <a:r>
              <a:rPr sz="1350" b="1" i="0">
                <a:solidFill>
                  <a:srgbClr val="E6EDF3"/>
                </a:solidFill>
                <a:latin typeface="Segoe UI"/>
              </a:rPr>
              <a:t>This page</a:t>
            </a:r>
            <a:r>
              <a:rPr sz="1250" b="0" i="0">
                <a:solidFill>
                  <a:srgbClr val="B9C2CC"/>
                </a:solidFill>
                <a:latin typeface="Segoe UI"/>
              </a:rPr>
              <a:t>
     Follows the inspected tab as you navigate</a:t>
            </a:r>
          </a:p>
          <a:p>
            <a:pPr>
              <a:lnSpc>
                <a:spcPct val="118000"/>
              </a:lnSpc>
              <a:spcAft>
                <a:spcPts val="900"/>
              </a:spcAft>
            </a:pPr>
            <a:r>
              <a:rPr sz="1350" b="1" i="0">
                <a:solidFill>
                  <a:srgbClr val="39C5CF"/>
                </a:solidFill>
                <a:latin typeface="Segoe UI"/>
              </a:rPr>
              <a:t>▪  </a:t>
            </a:r>
            <a:r>
              <a:rPr sz="1350" b="1" i="0">
                <a:solidFill>
                  <a:srgbClr val="E6EDF3"/>
                </a:solidFill>
                <a:latin typeface="Segoe UI"/>
              </a:rPr>
              <a:t>Pick a page…</a:t>
            </a:r>
            <a:r>
              <a:rPr sz="1250" b="0" i="0">
                <a:solidFill>
                  <a:srgbClr val="B9C2CC"/>
                </a:solidFill>
                <a:latin typeface="Segoe UI"/>
              </a:rPr>
              <a:t>
     Any page seen, with its call and failure counts</a:t>
            </a:r>
          </a:p>
          <a:p>
            <a:pPr>
              <a:spcBef>
                <a:spcPts val="1200"/>
              </a:spcBef>
            </a:pPr>
            <a:r>
              <a:rPr sz="1200" b="0" i="1">
                <a:solidFill>
                  <a:srgbClr val="8B949E"/>
                </a:solidFill>
                <a:latin typeface="Segoe UI"/>
              </a:rPr>
              <a:t>Every call records the page it came from, so you can separate the billing screen from the rest of the journey.</a:t>
            </a:r>
          </a:p>
        </p:txBody>
      </p:sp>
      <p:sp>
        <p:nvSpPr>
          <p:cNvPr id="6" name="TextBox 5"/>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7" name="TextBox 6"/>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58A6FF"/>
                </a:solidFill>
                <a:latin typeface="Segoe UI"/>
              </a:rPr>
              <a:t>NETWORK</a:t>
            </a:r>
          </a:p>
          <a:p>
            <a:pPr algn="l">
              <a:lnSpc>
                <a:spcPct val="100000"/>
              </a:lnSpc>
              <a:spcBef>
                <a:spcPts val="0"/>
              </a:spcBef>
              <a:spcAft>
                <a:spcPts val="400"/>
              </a:spcAft>
            </a:pPr>
            <a:r>
              <a:rPr sz="3300" b="1" i="0">
                <a:solidFill>
                  <a:srgbClr val="E6EDF3"/>
                </a:solidFill>
                <a:latin typeface="Segoe UI"/>
              </a:rPr>
              <a:t>Reading one call in full</a:t>
            </a:r>
          </a:p>
          <a:p>
            <a:pPr algn="l">
              <a:lnSpc>
                <a:spcPct val="115000"/>
              </a:lnSpc>
              <a:spcBef>
                <a:spcPts val="0"/>
              </a:spcBef>
              <a:spcAft>
                <a:spcPts val="0"/>
              </a:spcAft>
            </a:pPr>
            <a:r>
              <a:rPr sz="1550" b="0" i="0">
                <a:solidFill>
                  <a:srgbClr val="8B949E"/>
                </a:solidFill>
                <a:latin typeface="Segoe UI"/>
              </a:rPr>
              <a:t>Select any row. Six tabs cover everything captured.</a:t>
            </a:r>
          </a:p>
        </p:txBody>
      </p:sp>
      <p:sp>
        <p:nvSpPr>
          <p:cNvPr id="4" name="Rounded Rectangle 3"/>
          <p:cNvSpPr/>
          <p:nvPr/>
        </p:nvSpPr>
        <p:spPr>
          <a:xfrm>
            <a:off x="777240" y="1783080"/>
            <a:ext cx="3393338" cy="13716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pPr>
            <a:r>
              <a:rPr sz="1700" b="1" i="0">
                <a:solidFill>
                  <a:srgbClr val="58A6FF"/>
                </a:solidFill>
                <a:latin typeface="Segoe UI"/>
              </a:rPr>
              <a:t>Summary</a:t>
            </a:r>
          </a:p>
          <a:p>
            <a:pPr algn="l">
              <a:lnSpc>
                <a:spcPct val="120000"/>
              </a:lnSpc>
              <a:spcBef>
                <a:spcPts val="0"/>
              </a:spcBef>
              <a:spcAft>
                <a:spcPts val="200"/>
              </a:spcAft>
            </a:pPr>
            <a:r>
              <a:rPr sz="1250" b="0" i="0">
                <a:solidFill>
                  <a:srgbClr val="B9C2CC"/>
                </a:solidFill>
                <a:latin typeface="Segoe UI"/>
              </a:rPr>
              <a:t>Identity, timing, sizes, environment.</a:t>
            </a:r>
          </a:p>
          <a:p>
            <a:pPr algn="l">
              <a:lnSpc>
                <a:spcPct val="120000"/>
              </a:lnSpc>
              <a:spcBef>
                <a:spcPts val="0"/>
              </a:spcBef>
              <a:spcAft>
                <a:spcPts val="200"/>
              </a:spcAft>
            </a:pPr>
            <a:r>
              <a:rPr sz="1250" b="0" i="0">
                <a:solidFill>
                  <a:srgbClr val="B9C2CC"/>
                </a:solidFill>
                <a:latin typeface="Segoe UI"/>
              </a:rPr>
              <a:t>Plus a plain-language failure analysis</a:t>
            </a:r>
          </a:p>
          <a:p>
            <a:pPr algn="l">
              <a:lnSpc>
                <a:spcPct val="120000"/>
              </a:lnSpc>
              <a:spcBef>
                <a:spcPts val="0"/>
              </a:spcBef>
              <a:spcAft>
                <a:spcPts val="200"/>
              </a:spcAft>
            </a:pPr>
            <a:r>
              <a:rPr sz="1250" b="0" i="0">
                <a:solidFill>
                  <a:srgbClr val="B9C2CC"/>
                </a:solidFill>
                <a:latin typeface="Segoe UI"/>
              </a:rPr>
              <a:t>when the call went wrong.</a:t>
            </a:r>
          </a:p>
        </p:txBody>
      </p:sp>
      <p:sp>
        <p:nvSpPr>
          <p:cNvPr id="5" name="Rounded Rectangle 4"/>
          <p:cNvSpPr/>
          <p:nvPr/>
        </p:nvSpPr>
        <p:spPr>
          <a:xfrm>
            <a:off x="4399178" y="1783080"/>
            <a:ext cx="3393338" cy="13716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pPr>
            <a:r>
              <a:rPr sz="1700" b="1" i="0">
                <a:solidFill>
                  <a:srgbClr val="3FB950"/>
                </a:solidFill>
                <a:latin typeface="Segoe UI"/>
              </a:rPr>
              <a:t>Request</a:t>
            </a:r>
          </a:p>
          <a:p>
            <a:pPr algn="l">
              <a:lnSpc>
                <a:spcPct val="120000"/>
              </a:lnSpc>
              <a:spcBef>
                <a:spcPts val="0"/>
              </a:spcBef>
              <a:spcAft>
                <a:spcPts val="200"/>
              </a:spcAft>
            </a:pPr>
            <a:r>
              <a:rPr sz="1250" b="0" i="0">
                <a:solidFill>
                  <a:srgbClr val="B9C2CC"/>
                </a:solidFill>
                <a:latin typeface="Segoe UI"/>
              </a:rPr>
              <a:t>Query parameters, headers and the</a:t>
            </a:r>
          </a:p>
          <a:p>
            <a:pPr algn="l">
              <a:lnSpc>
                <a:spcPct val="120000"/>
              </a:lnSpc>
              <a:spcBef>
                <a:spcPts val="0"/>
              </a:spcBef>
              <a:spcAft>
                <a:spcPts val="200"/>
              </a:spcAft>
            </a:pPr>
            <a:r>
              <a:rPr sz="1250" b="0" i="0">
                <a:solidFill>
                  <a:srgbClr val="B9C2CC"/>
                </a:solidFill>
                <a:latin typeface="Segoe UI"/>
              </a:rPr>
              <a:t>payload that was sent.</a:t>
            </a:r>
          </a:p>
        </p:txBody>
      </p:sp>
      <p:sp>
        <p:nvSpPr>
          <p:cNvPr id="6" name="Rounded Rectangle 5"/>
          <p:cNvSpPr/>
          <p:nvPr/>
        </p:nvSpPr>
        <p:spPr>
          <a:xfrm>
            <a:off x="8021116" y="1783080"/>
            <a:ext cx="3393338" cy="13716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pPr>
            <a:r>
              <a:rPr sz="1700" b="1" i="0">
                <a:solidFill>
                  <a:srgbClr val="3FB950"/>
                </a:solidFill>
                <a:latin typeface="Segoe UI"/>
              </a:rPr>
              <a:t>Response</a:t>
            </a:r>
          </a:p>
          <a:p>
            <a:pPr algn="l">
              <a:lnSpc>
                <a:spcPct val="120000"/>
              </a:lnSpc>
              <a:spcBef>
                <a:spcPts val="0"/>
              </a:spcBef>
              <a:spcAft>
                <a:spcPts val="200"/>
              </a:spcAft>
            </a:pPr>
            <a:r>
              <a:rPr sz="1250" b="0" i="0">
                <a:solidFill>
                  <a:srgbClr val="B9C2CC"/>
                </a:solidFill>
                <a:latin typeface="Segoe UI"/>
              </a:rPr>
              <a:t>Response headers and the body</a:t>
            </a:r>
          </a:p>
          <a:p>
            <a:pPr algn="l">
              <a:lnSpc>
                <a:spcPct val="120000"/>
              </a:lnSpc>
              <a:spcBef>
                <a:spcPts val="0"/>
              </a:spcBef>
              <a:spcAft>
                <a:spcPts val="200"/>
              </a:spcAft>
            </a:pPr>
            <a:r>
              <a:rPr sz="1250" b="0" i="0">
                <a:solidFill>
                  <a:srgbClr val="B9C2CC"/>
                </a:solidFill>
                <a:latin typeface="Segoe UI"/>
              </a:rPr>
              <a:t>that came back.</a:t>
            </a:r>
          </a:p>
        </p:txBody>
      </p:sp>
      <p:sp>
        <p:nvSpPr>
          <p:cNvPr id="7" name="Rounded Rectangle 6"/>
          <p:cNvSpPr/>
          <p:nvPr/>
        </p:nvSpPr>
        <p:spPr>
          <a:xfrm>
            <a:off x="777240" y="3355848"/>
            <a:ext cx="3393338" cy="13716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pPr>
            <a:r>
              <a:rPr sz="1700" b="1" i="0">
                <a:solidFill>
                  <a:srgbClr val="39C5CF"/>
                </a:solidFill>
                <a:latin typeface="Segoe UI"/>
              </a:rPr>
              <a:t>Trace</a:t>
            </a:r>
          </a:p>
          <a:p>
            <a:pPr algn="l">
              <a:lnSpc>
                <a:spcPct val="120000"/>
              </a:lnSpc>
              <a:spcBef>
                <a:spcPts val="0"/>
              </a:spcBef>
              <a:spcAft>
                <a:spcPts val="200"/>
              </a:spcAft>
            </a:pPr>
            <a:r>
              <a:rPr sz="1250" b="0" i="0">
                <a:solidFill>
                  <a:srgbClr val="B9C2CC"/>
                </a:solidFill>
                <a:latin typeface="Segoe UI"/>
              </a:rPr>
              <a:t>The correlation identity that links</a:t>
            </a:r>
          </a:p>
          <a:p>
            <a:pPr algn="l">
              <a:lnSpc>
                <a:spcPct val="120000"/>
              </a:lnSpc>
              <a:spcBef>
                <a:spcPts val="0"/>
              </a:spcBef>
              <a:spcAft>
                <a:spcPts val="200"/>
              </a:spcAft>
            </a:pPr>
            <a:r>
              <a:rPr sz="1250" b="0" i="0">
                <a:solidFill>
                  <a:srgbClr val="B9C2CC"/>
                </a:solidFill>
                <a:latin typeface="Segoe UI"/>
              </a:rPr>
              <a:t>this call to server-side spans.</a:t>
            </a:r>
          </a:p>
        </p:txBody>
      </p:sp>
      <p:sp>
        <p:nvSpPr>
          <p:cNvPr id="8" name="Rounded Rectangle 7"/>
          <p:cNvSpPr/>
          <p:nvPr/>
        </p:nvSpPr>
        <p:spPr>
          <a:xfrm>
            <a:off x="4399178" y="3355848"/>
            <a:ext cx="3393338" cy="13716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pPr>
            <a:r>
              <a:rPr sz="1700" b="1" i="0">
                <a:solidFill>
                  <a:srgbClr val="D29922"/>
                </a:solidFill>
                <a:latin typeface="Segoe UI"/>
              </a:rPr>
              <a:t>Checks</a:t>
            </a:r>
          </a:p>
          <a:p>
            <a:pPr algn="l">
              <a:lnSpc>
                <a:spcPct val="120000"/>
              </a:lnSpc>
              <a:spcBef>
                <a:spcPts val="0"/>
              </a:spcBef>
              <a:spcAft>
                <a:spcPts val="200"/>
              </a:spcAft>
            </a:pPr>
            <a:r>
              <a:rPr sz="1250" b="0" i="0">
                <a:solidFill>
                  <a:srgbClr val="B9C2CC"/>
                </a:solidFill>
                <a:latin typeface="Segoe UI"/>
              </a:rPr>
              <a:t>Assertion and contract results</a:t>
            </a:r>
          </a:p>
          <a:p>
            <a:pPr algn="l">
              <a:lnSpc>
                <a:spcPct val="120000"/>
              </a:lnSpc>
              <a:spcBef>
                <a:spcPts val="0"/>
              </a:spcBef>
              <a:spcAft>
                <a:spcPts val="200"/>
              </a:spcAft>
            </a:pPr>
            <a:r>
              <a:rPr sz="1250" b="0" i="0">
                <a:solidFill>
                  <a:srgbClr val="B9C2CC"/>
                </a:solidFill>
                <a:latin typeface="Segoe UI"/>
              </a:rPr>
              <a:t>for this endpoint.</a:t>
            </a:r>
          </a:p>
        </p:txBody>
      </p:sp>
      <p:sp>
        <p:nvSpPr>
          <p:cNvPr id="9" name="Rounded Rectangle 8"/>
          <p:cNvSpPr/>
          <p:nvPr/>
        </p:nvSpPr>
        <p:spPr>
          <a:xfrm>
            <a:off x="8021116" y="3355848"/>
            <a:ext cx="3393338" cy="13716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pPr>
            <a:r>
              <a:rPr sz="1700" b="1" i="0">
                <a:solidFill>
                  <a:srgbClr val="A371F7"/>
                </a:solidFill>
                <a:latin typeface="Segoe UI"/>
              </a:rPr>
              <a:t>Code</a:t>
            </a:r>
          </a:p>
          <a:p>
            <a:pPr algn="l">
              <a:lnSpc>
                <a:spcPct val="120000"/>
              </a:lnSpc>
              <a:spcBef>
                <a:spcPts val="0"/>
              </a:spcBef>
              <a:spcAft>
                <a:spcPts val="200"/>
              </a:spcAft>
            </a:pPr>
            <a:r>
              <a:rPr sz="1250" b="0" i="0">
                <a:solidFill>
                  <a:srgbClr val="B9C2CC"/>
                </a:solidFill>
                <a:latin typeface="Segoe UI"/>
              </a:rPr>
              <a:t>A ready-made cURL, fetch or</a:t>
            </a:r>
          </a:p>
          <a:p>
            <a:pPr algn="l">
              <a:lnSpc>
                <a:spcPct val="120000"/>
              </a:lnSpc>
              <a:spcBef>
                <a:spcPts val="0"/>
              </a:spcBef>
              <a:spcAft>
                <a:spcPts val="200"/>
              </a:spcAft>
            </a:pPr>
            <a:r>
              <a:rPr sz="1250" b="0" i="0">
                <a:solidFill>
                  <a:srgbClr val="B9C2CC"/>
                </a:solidFill>
                <a:latin typeface="Segoe UI"/>
              </a:rPr>
              <a:t>Playwright snippet — one click to copy.</a:t>
            </a:r>
          </a:p>
        </p:txBody>
      </p:sp>
      <p:sp>
        <p:nvSpPr>
          <p:cNvPr id="10" name="Rounded Rectangle 9"/>
          <p:cNvSpPr/>
          <p:nvPr/>
        </p:nvSpPr>
        <p:spPr>
          <a:xfrm>
            <a:off x="777240" y="4983480"/>
            <a:ext cx="10637215" cy="713232"/>
          </a:xfrm>
          <a:prstGeom prst="roundRect">
            <a:avLst>
              <a:gd name="adj" fmla="val 4000"/>
            </a:avLst>
          </a:prstGeom>
          <a:solidFill>
            <a:srgbClr val="1A1610"/>
          </a:solidFill>
          <a:ln w="1270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r>
              <a:rPr sz="1350" b="1" i="0">
                <a:solidFill>
                  <a:srgbClr val="D29922"/>
                </a:solidFill>
                <a:latin typeface="Segoe UI"/>
              </a:rPr>
              <a:t>Privacy:  </a:t>
            </a:r>
            <a:r>
              <a:rPr sz="1350" b="0" i="0">
                <a:solidFill>
                  <a:srgbClr val="E6EDF3"/>
                </a:solidFill>
                <a:latin typeface="Segoe UI"/>
              </a:rPr>
              <a:t>authorization, cookie and token-like values are redacted before anything is stored. You will see [REDACTED] — and that value cannot be recovered from here.</a:t>
            </a:r>
          </a:p>
        </p:txBody>
      </p:sp>
      <p:sp>
        <p:nvSpPr>
          <p:cNvPr id="11" name="TextBox 10"/>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12" name="TextBox 11"/>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A37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A371F7"/>
                </a:solidFill>
                <a:latin typeface="Segoe UI"/>
              </a:rPr>
              <a:t>MOCKING</a:t>
            </a:r>
          </a:p>
          <a:p>
            <a:pPr algn="l">
              <a:lnSpc>
                <a:spcPct val="100000"/>
              </a:lnSpc>
              <a:spcBef>
                <a:spcPts val="0"/>
              </a:spcBef>
              <a:spcAft>
                <a:spcPts val="400"/>
              </a:spcAft>
            </a:pPr>
            <a:r>
              <a:rPr sz="3300" b="1" i="0">
                <a:solidFill>
                  <a:srgbClr val="E6EDF3"/>
                </a:solidFill>
                <a:latin typeface="Segoe UI"/>
              </a:rPr>
              <a:t>Break a browser call on purpose</a:t>
            </a:r>
          </a:p>
          <a:p>
            <a:pPr algn="l">
              <a:lnSpc>
                <a:spcPct val="115000"/>
              </a:lnSpc>
              <a:spcBef>
                <a:spcPts val="0"/>
              </a:spcBef>
              <a:spcAft>
                <a:spcPts val="0"/>
              </a:spcAft>
            </a:pPr>
            <a:r>
              <a:rPr sz="1550" b="0" i="0">
                <a:solidFill>
                  <a:srgbClr val="8B949E"/>
                </a:solidFill>
                <a:latin typeface="Segoe UI"/>
              </a:rPr>
              <a:t>Prove the UI behaves when an API misbehaves — with no backend change.</a:t>
            </a:r>
          </a:p>
        </p:txBody>
      </p:sp>
      <p:sp>
        <p:nvSpPr>
          <p:cNvPr id="4" name="Rounded Rectangle 3"/>
          <p:cNvSpPr/>
          <p:nvPr/>
        </p:nvSpPr>
        <p:spPr>
          <a:xfrm>
            <a:off x="777240" y="1783080"/>
            <a:ext cx="402336" cy="402336"/>
          </a:xfrm>
          <a:prstGeom prst="roundRect">
            <a:avLst>
              <a:gd name="adj" fmla="val 50000"/>
            </a:avLst>
          </a:prstGeom>
          <a:solidFill>
            <a:srgbClr val="A37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400" b="1" i="0">
                <a:solidFill>
                  <a:srgbClr val="010409"/>
                </a:solidFill>
                <a:latin typeface="Segoe UI"/>
              </a:rPr>
              <a:t>1</a:t>
            </a:r>
          </a:p>
        </p:txBody>
      </p:sp>
      <p:sp>
        <p:nvSpPr>
          <p:cNvPr id="5" name="TextBox 4"/>
          <p:cNvSpPr txBox="1"/>
          <p:nvPr/>
        </p:nvSpPr>
        <p:spPr>
          <a:xfrm>
            <a:off x="1380744" y="1764792"/>
            <a:ext cx="4937760" cy="640080"/>
          </a:xfrm>
          <a:prstGeom prst="rect">
            <a:avLst/>
          </a:prstGeom>
          <a:noFill/>
        </p:spPr>
        <p:txBody>
          <a:bodyPr wrap="square" anchor="t" lIns="0" rIns="0" tIns="0" bIns="0">
            <a:spAutoFit/>
          </a:bodyPr>
          <a:lstStyle/>
          <a:p>
            <a:pPr algn="l">
              <a:spcBef>
                <a:spcPts val="0"/>
              </a:spcBef>
              <a:spcAft>
                <a:spcPts val="100"/>
              </a:spcAft>
            </a:pPr>
            <a:r>
              <a:rPr sz="1550" b="1" i="0">
                <a:solidFill>
                  <a:srgbClr val="E6EDF3"/>
                </a:solidFill>
                <a:latin typeface="Segoe UI"/>
              </a:rPr>
              <a:t>Select the real call</a:t>
            </a:r>
          </a:p>
          <a:p>
            <a:pPr algn="l">
              <a:lnSpc>
                <a:spcPct val="115000"/>
              </a:lnSpc>
              <a:spcBef>
                <a:spcPts val="0"/>
              </a:spcBef>
              <a:spcAft>
                <a:spcPts val="0"/>
              </a:spcAft>
            </a:pPr>
            <a:r>
              <a:rPr sz="1250" b="0" i="0">
                <a:solidFill>
                  <a:srgbClr val="8B949E"/>
                </a:solidFill>
                <a:latin typeface="Segoe UI"/>
              </a:rPr>
              <a:t>In Network, click the row you want to break.</a:t>
            </a:r>
          </a:p>
        </p:txBody>
      </p:sp>
      <p:sp>
        <p:nvSpPr>
          <p:cNvPr id="6" name="Rounded Rectangle 5"/>
          <p:cNvSpPr/>
          <p:nvPr/>
        </p:nvSpPr>
        <p:spPr>
          <a:xfrm>
            <a:off x="777240" y="2514600"/>
            <a:ext cx="402336" cy="402336"/>
          </a:xfrm>
          <a:prstGeom prst="roundRect">
            <a:avLst>
              <a:gd name="adj" fmla="val 50000"/>
            </a:avLst>
          </a:prstGeom>
          <a:solidFill>
            <a:srgbClr val="A37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400" b="1" i="0">
                <a:solidFill>
                  <a:srgbClr val="010409"/>
                </a:solidFill>
                <a:latin typeface="Segoe UI"/>
              </a:rPr>
              <a:t>2</a:t>
            </a:r>
          </a:p>
        </p:txBody>
      </p:sp>
      <p:sp>
        <p:nvSpPr>
          <p:cNvPr id="7" name="TextBox 6"/>
          <p:cNvSpPr txBox="1"/>
          <p:nvPr/>
        </p:nvSpPr>
        <p:spPr>
          <a:xfrm>
            <a:off x="1380744" y="2496312"/>
            <a:ext cx="4937760" cy="640080"/>
          </a:xfrm>
          <a:prstGeom prst="rect">
            <a:avLst/>
          </a:prstGeom>
          <a:noFill/>
        </p:spPr>
        <p:txBody>
          <a:bodyPr wrap="square" anchor="t" lIns="0" rIns="0" tIns="0" bIns="0">
            <a:spAutoFit/>
          </a:bodyPr>
          <a:lstStyle/>
          <a:p>
            <a:pPr algn="l">
              <a:spcBef>
                <a:spcPts val="0"/>
              </a:spcBef>
              <a:spcAft>
                <a:spcPts val="100"/>
              </a:spcAft>
            </a:pPr>
            <a:r>
              <a:rPr sz="1550" b="1" i="0">
                <a:solidFill>
                  <a:srgbClr val="E6EDF3"/>
                </a:solidFill>
                <a:latin typeface="Segoe UI"/>
              </a:rPr>
              <a:t>Press “Mock this”</a:t>
            </a:r>
          </a:p>
          <a:p>
            <a:pPr algn="l">
              <a:lnSpc>
                <a:spcPct val="115000"/>
              </a:lnSpc>
              <a:spcBef>
                <a:spcPts val="0"/>
              </a:spcBef>
              <a:spcAft>
                <a:spcPts val="0"/>
              </a:spcAft>
            </a:pPr>
            <a:r>
              <a:rPr sz="1250" b="0" i="0">
                <a:solidFill>
                  <a:srgbClr val="8B949E"/>
                </a:solidFill>
                <a:latin typeface="Segoe UI"/>
              </a:rPr>
              <a:t>The URL pattern and method are pre-filled from the real request.</a:t>
            </a:r>
          </a:p>
        </p:txBody>
      </p:sp>
      <p:sp>
        <p:nvSpPr>
          <p:cNvPr id="8" name="Rounded Rectangle 7"/>
          <p:cNvSpPr/>
          <p:nvPr/>
        </p:nvSpPr>
        <p:spPr>
          <a:xfrm>
            <a:off x="777240" y="3246120"/>
            <a:ext cx="402336" cy="402336"/>
          </a:xfrm>
          <a:prstGeom prst="roundRect">
            <a:avLst>
              <a:gd name="adj" fmla="val 50000"/>
            </a:avLst>
          </a:prstGeom>
          <a:solidFill>
            <a:srgbClr val="A37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400" b="1" i="0">
                <a:solidFill>
                  <a:srgbClr val="010409"/>
                </a:solidFill>
                <a:latin typeface="Segoe UI"/>
              </a:rPr>
              <a:t>3</a:t>
            </a:r>
          </a:p>
        </p:txBody>
      </p:sp>
      <p:sp>
        <p:nvSpPr>
          <p:cNvPr id="9" name="TextBox 8"/>
          <p:cNvSpPr txBox="1"/>
          <p:nvPr/>
        </p:nvSpPr>
        <p:spPr>
          <a:xfrm>
            <a:off x="1380744" y="3227832"/>
            <a:ext cx="4937760" cy="640080"/>
          </a:xfrm>
          <a:prstGeom prst="rect">
            <a:avLst/>
          </a:prstGeom>
          <a:noFill/>
        </p:spPr>
        <p:txBody>
          <a:bodyPr wrap="square" anchor="t" lIns="0" rIns="0" tIns="0" bIns="0">
            <a:spAutoFit/>
          </a:bodyPr>
          <a:lstStyle/>
          <a:p>
            <a:pPr algn="l">
              <a:spcBef>
                <a:spcPts val="0"/>
              </a:spcBef>
              <a:spcAft>
                <a:spcPts val="100"/>
              </a:spcAft>
            </a:pPr>
            <a:r>
              <a:rPr sz="1550" b="1" i="0">
                <a:solidFill>
                  <a:srgbClr val="E6EDF3"/>
                </a:solidFill>
                <a:latin typeface="Segoe UI"/>
              </a:rPr>
              <a:t>Pick a preset</a:t>
            </a:r>
          </a:p>
          <a:p>
            <a:pPr algn="l">
              <a:lnSpc>
                <a:spcPct val="115000"/>
              </a:lnSpc>
              <a:spcBef>
                <a:spcPts val="0"/>
              </a:spcBef>
              <a:spcAft>
                <a:spcPts val="0"/>
              </a:spcAft>
            </a:pPr>
            <a:r>
              <a:rPr sz="1250" b="0" i="0">
                <a:solidFill>
                  <a:srgbClr val="8B949E"/>
                </a:solidFill>
                <a:latin typeface="Segoe UI"/>
              </a:rPr>
              <a:t>18 presets across failures, auth, latency, network and payload defects.</a:t>
            </a:r>
          </a:p>
        </p:txBody>
      </p:sp>
      <p:sp>
        <p:nvSpPr>
          <p:cNvPr id="10" name="Rounded Rectangle 9"/>
          <p:cNvSpPr/>
          <p:nvPr/>
        </p:nvSpPr>
        <p:spPr>
          <a:xfrm>
            <a:off x="777240" y="3977640"/>
            <a:ext cx="402336" cy="402336"/>
          </a:xfrm>
          <a:prstGeom prst="roundRect">
            <a:avLst>
              <a:gd name="adj" fmla="val 50000"/>
            </a:avLst>
          </a:prstGeom>
          <a:solidFill>
            <a:srgbClr val="A37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400" b="1" i="0">
                <a:solidFill>
                  <a:srgbClr val="010409"/>
                </a:solidFill>
                <a:latin typeface="Segoe UI"/>
              </a:rPr>
              <a:t>4</a:t>
            </a:r>
          </a:p>
        </p:txBody>
      </p:sp>
      <p:sp>
        <p:nvSpPr>
          <p:cNvPr id="11" name="TextBox 10"/>
          <p:cNvSpPr txBox="1"/>
          <p:nvPr/>
        </p:nvSpPr>
        <p:spPr>
          <a:xfrm>
            <a:off x="1380744" y="3959352"/>
            <a:ext cx="4937760" cy="640080"/>
          </a:xfrm>
          <a:prstGeom prst="rect">
            <a:avLst/>
          </a:prstGeom>
          <a:noFill/>
        </p:spPr>
        <p:txBody>
          <a:bodyPr wrap="square" anchor="t" lIns="0" rIns="0" tIns="0" bIns="0">
            <a:spAutoFit/>
          </a:bodyPr>
          <a:lstStyle/>
          <a:p>
            <a:pPr algn="l">
              <a:spcBef>
                <a:spcPts val="0"/>
              </a:spcBef>
              <a:spcAft>
                <a:spcPts val="100"/>
              </a:spcAft>
            </a:pPr>
            <a:r>
              <a:rPr sz="1550" b="1" i="0">
                <a:solidFill>
                  <a:srgbClr val="E6EDF3"/>
                </a:solidFill>
                <a:latin typeface="Segoe UI"/>
              </a:rPr>
              <a:t>Enable, then repeat</a:t>
            </a:r>
          </a:p>
          <a:p>
            <a:pPr algn="l">
              <a:lnSpc>
                <a:spcPct val="115000"/>
              </a:lnSpc>
              <a:spcBef>
                <a:spcPts val="0"/>
              </a:spcBef>
              <a:spcAft>
                <a:spcPts val="0"/>
              </a:spcAft>
            </a:pPr>
            <a:r>
              <a:rPr sz="1250" b="0" i="0">
                <a:solidFill>
                  <a:srgbClr val="8B949E"/>
                </a:solidFill>
                <a:latin typeface="Segoe UI"/>
              </a:rPr>
              <a:t>Rules are created disabled. Turn it on in QA Mocks and redo the journey.</a:t>
            </a:r>
          </a:p>
        </p:txBody>
      </p:sp>
      <p:sp>
        <p:nvSpPr>
          <p:cNvPr id="12" name="Rounded Rectangle 11"/>
          <p:cNvSpPr/>
          <p:nvPr/>
        </p:nvSpPr>
        <p:spPr>
          <a:xfrm>
            <a:off x="6629400" y="1783080"/>
            <a:ext cx="4785055" cy="306324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1000"/>
              </a:spcAft>
            </a:pPr>
            <a:r>
              <a:rPr sz="1100" b="1" i="0">
                <a:solidFill>
                  <a:srgbClr val="A371F7"/>
                </a:solidFill>
                <a:latin typeface="Segoe UI"/>
              </a:rPr>
              <a:t>WHAT YOU CAN SIMULATE</a:t>
            </a:r>
          </a:p>
          <a:p>
            <a:pPr>
              <a:lnSpc>
                <a:spcPct val="108000"/>
              </a:lnSpc>
              <a:spcAft>
                <a:spcPts val="600"/>
              </a:spcAft>
            </a:pPr>
            <a:r>
              <a:rPr sz="1250" b="1" i="0">
                <a:solidFill>
                  <a:srgbClr val="E6EDF3"/>
                </a:solidFill>
                <a:latin typeface="Segoe UI"/>
              </a:rPr>
              <a:t>Service failures</a:t>
            </a:r>
            <a:r>
              <a:rPr sz="1050" b="0" i="0">
                <a:solidFill>
                  <a:srgbClr val="B9C2CC"/>
                </a:solidFill>
                <a:latin typeface="Consolas"/>
              </a:rPr>
              <a:t>
500 · 400 · 404 · 409 · 502 · 503 · 504 · 429</a:t>
            </a:r>
          </a:p>
          <a:p>
            <a:pPr>
              <a:lnSpc>
                <a:spcPct val="108000"/>
              </a:lnSpc>
              <a:spcAft>
                <a:spcPts val="600"/>
              </a:spcAft>
            </a:pPr>
            <a:r>
              <a:rPr sz="1250" b="1" i="0">
                <a:solidFill>
                  <a:srgbClr val="E6EDF3"/>
                </a:solidFill>
                <a:latin typeface="Segoe UI"/>
              </a:rPr>
              <a:t>Authentication</a:t>
            </a:r>
            <a:r>
              <a:rPr sz="1050" b="0" i="0">
                <a:solidFill>
                  <a:srgbClr val="B9C2CC"/>
                </a:solidFill>
                <a:latin typeface="Consolas"/>
              </a:rPr>
              <a:t>
401 expired · 403 forbidden</a:t>
            </a:r>
          </a:p>
          <a:p>
            <a:pPr>
              <a:lnSpc>
                <a:spcPct val="108000"/>
              </a:lnSpc>
              <a:spcAft>
                <a:spcPts val="600"/>
              </a:spcAft>
            </a:pPr>
            <a:r>
              <a:rPr sz="1250" b="1" i="0">
                <a:solidFill>
                  <a:srgbClr val="E6EDF3"/>
                </a:solidFill>
                <a:latin typeface="Segoe UI"/>
              </a:rPr>
              <a:t>Latency</a:t>
            </a:r>
            <a:r>
              <a:rPr sz="1050" b="0" i="0">
                <a:solidFill>
                  <a:srgbClr val="B9C2CC"/>
                </a:solidFill>
                <a:latin typeface="Consolas"/>
              </a:rPr>
              <a:t>
Slow response · custom delay</a:t>
            </a:r>
          </a:p>
          <a:p>
            <a:pPr>
              <a:lnSpc>
                <a:spcPct val="108000"/>
              </a:lnSpc>
              <a:spcAft>
                <a:spcPts val="600"/>
              </a:spcAft>
            </a:pPr>
            <a:r>
              <a:rPr sz="1250" b="1" i="0">
                <a:solidFill>
                  <a:srgbClr val="E6EDF3"/>
                </a:solidFill>
                <a:latin typeface="Segoe UI"/>
              </a:rPr>
              <a:t>Network</a:t>
            </a:r>
            <a:r>
              <a:rPr sz="1050" b="0" i="0">
                <a:solidFill>
                  <a:srgbClr val="B9C2CC"/>
                </a:solidFill>
                <a:latin typeface="Consolas"/>
              </a:rPr>
              <a:t>
Timeout · reset · offline · Slow 3G</a:t>
            </a:r>
          </a:p>
          <a:p>
            <a:pPr>
              <a:lnSpc>
                <a:spcPct val="108000"/>
              </a:lnSpc>
              <a:spcAft>
                <a:spcPts val="600"/>
              </a:spcAft>
            </a:pPr>
            <a:r>
              <a:rPr sz="1250" b="1" i="0">
                <a:solidFill>
                  <a:srgbClr val="E6EDF3"/>
                </a:solidFill>
                <a:latin typeface="Segoe UI"/>
              </a:rPr>
              <a:t>Payload defects</a:t>
            </a:r>
            <a:r>
              <a:rPr sz="1050" b="0" i="0">
                <a:solidFill>
                  <a:srgbClr val="B9C2CC"/>
                </a:solidFill>
                <a:latin typeface="Consolas"/>
              </a:rPr>
              <a:t>
Empty · malformed · truncated JSON</a:t>
            </a:r>
          </a:p>
        </p:txBody>
      </p:sp>
      <p:sp>
        <p:nvSpPr>
          <p:cNvPr id="13" name="Rounded Rectangle 12"/>
          <p:cNvSpPr/>
          <p:nvPr/>
        </p:nvSpPr>
        <p:spPr>
          <a:xfrm>
            <a:off x="777240" y="4937760"/>
            <a:ext cx="10637215" cy="768096"/>
          </a:xfrm>
          <a:prstGeom prst="roundRect">
            <a:avLst>
              <a:gd name="adj" fmla="val 4000"/>
            </a:avLst>
          </a:prstGeom>
          <a:solidFill>
            <a:srgbClr val="1A1212"/>
          </a:solidFill>
          <a:ln w="1270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r>
              <a:rPr sz="1350" b="1" i="0">
                <a:solidFill>
                  <a:srgbClr val="F85149"/>
                </a:solidFill>
                <a:latin typeface="Segoe UI"/>
              </a:rPr>
              <a:t>Guardrails:  </a:t>
            </a:r>
            <a:r>
              <a:rPr sz="1350" b="0" i="0">
                <a:solidFill>
                  <a:srgbClr val="E6EDF3"/>
                </a:solidFill>
                <a:latin typeface="Segoe UI"/>
              </a:rPr>
              <a:t>rules are created disabled, scoped to the exact path you captured, and limited by environment policy. Widening a pattern is a deliberate act — never mock an endpoint with real financial or order side effects.</a:t>
            </a:r>
          </a:p>
        </p:txBody>
      </p:sp>
      <p:sp>
        <p:nvSpPr>
          <p:cNvPr id="14" name="TextBox 13"/>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15" name="TextBox 14"/>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39C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39C5CF"/>
                </a:solidFill>
                <a:latin typeface="Segoe UI"/>
              </a:rPr>
              <a:t>SERVER-SIDE</a:t>
            </a:r>
          </a:p>
          <a:p>
            <a:pPr algn="l">
              <a:lnSpc>
                <a:spcPct val="100000"/>
              </a:lnSpc>
              <a:spcBef>
                <a:spcPts val="0"/>
              </a:spcBef>
              <a:spcAft>
                <a:spcPts val="400"/>
              </a:spcAft>
            </a:pPr>
            <a:r>
              <a:rPr sz="3300" b="1" i="0">
                <a:solidFill>
                  <a:srgbClr val="E6EDF3"/>
                </a:solidFill>
                <a:latin typeface="Segoe UI"/>
              </a:rPr>
              <a:t>The part the browser cannot see</a:t>
            </a:r>
          </a:p>
          <a:p>
            <a:pPr algn="l">
              <a:lnSpc>
                <a:spcPct val="115000"/>
              </a:lnSpc>
              <a:spcBef>
                <a:spcPts val="0"/>
              </a:spcBef>
              <a:spcAft>
                <a:spcPts val="0"/>
              </a:spcAft>
            </a:pPr>
            <a:r>
              <a:rPr sz="1550" b="0" i="0">
                <a:solidFill>
                  <a:srgbClr val="8B949E"/>
                </a:solidFill>
                <a:latin typeface="Segoe UI"/>
              </a:rPr>
              <a:t>One browser call often becomes three or four server-to-server calls.</a:t>
            </a:r>
          </a:p>
        </p:txBody>
      </p:sp>
      <p:sp>
        <p:nvSpPr>
          <p:cNvPr id="4" name="Rounded Rectangle 3"/>
          <p:cNvSpPr/>
          <p:nvPr/>
        </p:nvSpPr>
        <p:spPr>
          <a:xfrm>
            <a:off x="777240" y="2011680"/>
            <a:ext cx="2286000" cy="1051560"/>
          </a:xfrm>
          <a:prstGeom prst="roundRect">
            <a:avLst>
              <a:gd name="adj" fmla="val 4000"/>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Bef>
                <a:spcPts val="0"/>
              </a:spcBef>
              <a:spcAft>
                <a:spcPts val="300"/>
              </a:spcAft>
            </a:pPr>
            <a:r>
              <a:rPr sz="1600" b="1" i="0">
                <a:solidFill>
                  <a:srgbClr val="58A6FF"/>
                </a:solidFill>
                <a:latin typeface="Segoe UI"/>
              </a:rPr>
              <a:t>Browser</a:t>
            </a:r>
          </a:p>
          <a:p>
            <a:pPr algn="ctr">
              <a:spcBef>
                <a:spcPts val="0"/>
              </a:spcBef>
              <a:spcAft>
                <a:spcPts val="0"/>
              </a:spcAft>
            </a:pPr>
            <a:r>
              <a:rPr sz="1200" b="0" i="0">
                <a:solidFill>
                  <a:srgbClr val="B9C2CC"/>
                </a:solidFill>
                <a:latin typeface="Consolas"/>
              </a:rPr>
              <a:t>GET /api/billing</a:t>
            </a:r>
          </a:p>
        </p:txBody>
      </p:sp>
      <p:sp>
        <p:nvSpPr>
          <p:cNvPr id="5" name="Rounded Rectangle 4"/>
          <p:cNvSpPr/>
          <p:nvPr/>
        </p:nvSpPr>
        <p:spPr>
          <a:xfrm>
            <a:off x="3657600" y="2011680"/>
            <a:ext cx="2286000" cy="1051560"/>
          </a:xfrm>
          <a:prstGeom prst="roundRect">
            <a:avLst>
              <a:gd name="adj" fmla="val 4000"/>
            </a:avLst>
          </a:prstGeom>
          <a:solidFill>
            <a:srgbClr val="161B22"/>
          </a:solidFill>
          <a:ln w="19050">
            <a:solidFill>
              <a:srgbClr val="39C5CF"/>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Bef>
                <a:spcPts val="0"/>
              </a:spcBef>
              <a:spcAft>
                <a:spcPts val="300"/>
              </a:spcAft>
            </a:pPr>
            <a:r>
              <a:rPr sz="1600" b="1" i="0">
                <a:solidFill>
                  <a:srgbClr val="39C5CF"/>
                </a:solidFill>
                <a:latin typeface="Segoe UI"/>
              </a:rPr>
              <a:t>Next.js BFF</a:t>
            </a:r>
          </a:p>
          <a:p>
            <a:pPr algn="ctr">
              <a:spcBef>
                <a:spcPts val="0"/>
              </a:spcBef>
              <a:spcAft>
                <a:spcPts val="0"/>
              </a:spcAft>
            </a:pPr>
            <a:r>
              <a:rPr sz="1200" b="0" i="0">
                <a:solidFill>
                  <a:srgbClr val="B9C2CC"/>
                </a:solidFill>
                <a:latin typeface="Consolas"/>
              </a:rPr>
              <a:t>route handler</a:t>
            </a:r>
          </a:p>
        </p:txBody>
      </p:sp>
      <p:sp>
        <p:nvSpPr>
          <p:cNvPr id="6" name="Rounded Rectangle 5"/>
          <p:cNvSpPr/>
          <p:nvPr/>
        </p:nvSpPr>
        <p:spPr>
          <a:xfrm>
            <a:off x="6537960" y="2011680"/>
            <a:ext cx="3017520" cy="1051560"/>
          </a:xfrm>
          <a:prstGeom prst="roundRect">
            <a:avLst>
              <a:gd name="adj" fmla="val 4000"/>
            </a:avLst>
          </a:prstGeom>
          <a:solidFill>
            <a:srgbClr val="161B22"/>
          </a:solidFill>
          <a:ln w="19050">
            <a:solidFill>
              <a:srgbClr val="A371F7"/>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Bef>
                <a:spcPts val="0"/>
              </a:spcBef>
              <a:spcAft>
                <a:spcPts val="300"/>
              </a:spcAft>
            </a:pPr>
            <a:r>
              <a:rPr sz="1600" b="1" i="0">
                <a:solidFill>
                  <a:srgbClr val="A371F7"/>
                </a:solidFill>
                <a:latin typeface="Segoe UI"/>
              </a:rPr>
              <a:t>Upstream services</a:t>
            </a:r>
          </a:p>
          <a:p>
            <a:pPr algn="ctr">
              <a:spcBef>
                <a:spcPts val="0"/>
              </a:spcBef>
              <a:spcAft>
                <a:spcPts val="0"/>
              </a:spcAft>
            </a:pPr>
            <a:r>
              <a:rPr sz="1200" b="0" i="0">
                <a:solidFill>
                  <a:srgbClr val="B9C2CC"/>
                </a:solidFill>
                <a:latin typeface="Consolas"/>
              </a:rPr>
              <a:t>billing · offers · profile</a:t>
            </a:r>
          </a:p>
        </p:txBody>
      </p:sp>
      <p:sp>
        <p:nvSpPr>
          <p:cNvPr id="7" name="Right Arrow 6"/>
          <p:cNvSpPr/>
          <p:nvPr/>
        </p:nvSpPr>
        <p:spPr>
          <a:xfrm>
            <a:off x="3108960" y="2423160"/>
            <a:ext cx="475488" cy="237744"/>
          </a:xfrm>
          <a:prstGeom prst="rightArrow">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5989320" y="2423160"/>
            <a:ext cx="475488" cy="237744"/>
          </a:xfrm>
          <a:prstGeom prst="rightArrow">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3310128"/>
            <a:ext cx="2286000" cy="457200"/>
          </a:xfrm>
          <a:prstGeom prst="roundRect">
            <a:avLst>
              <a:gd name="adj" fmla="val 4000"/>
            </a:avLst>
          </a:prstGeom>
          <a:noFill/>
          <a:ln w="15875">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200" b="1" i="0">
                <a:solidFill>
                  <a:srgbClr val="3FB950"/>
                </a:solidFill>
                <a:latin typeface="Segoe UI"/>
              </a:rPr>
              <a:t>✓  visible</a:t>
            </a:r>
          </a:p>
        </p:txBody>
      </p:sp>
      <p:sp>
        <p:nvSpPr>
          <p:cNvPr id="10" name="Rounded Rectangle 9"/>
          <p:cNvSpPr/>
          <p:nvPr/>
        </p:nvSpPr>
        <p:spPr>
          <a:xfrm>
            <a:off x="3657600" y="3310128"/>
            <a:ext cx="5897880" cy="457200"/>
          </a:xfrm>
          <a:prstGeom prst="roundRect">
            <a:avLst>
              <a:gd name="adj" fmla="val 4000"/>
            </a:avLst>
          </a:prstGeom>
          <a:noFill/>
          <a:ln w="15875">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200" b="1" i="0">
                <a:solidFill>
                  <a:srgbClr val="F85149"/>
                </a:solidFill>
                <a:latin typeface="Segoe UI"/>
              </a:rPr>
              <a:t>✕  invisible to any browser extension</a:t>
            </a:r>
          </a:p>
        </p:txBody>
      </p:sp>
      <p:sp>
        <p:nvSpPr>
          <p:cNvPr id="11" name="Rounded Rectangle 10"/>
          <p:cNvSpPr/>
          <p:nvPr/>
        </p:nvSpPr>
        <p:spPr>
          <a:xfrm>
            <a:off x="777240" y="4023360"/>
            <a:ext cx="10637215" cy="1417320"/>
          </a:xfrm>
          <a:prstGeom prst="roundRect">
            <a:avLst>
              <a:gd name="adj" fmla="val 4000"/>
            </a:avLst>
          </a:prstGeom>
          <a:solidFill>
            <a:srgbClr val="1C2128"/>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800"/>
              </a:spcAft>
            </a:pPr>
            <a:r>
              <a:rPr sz="1800" b="1" i="0">
                <a:solidFill>
                  <a:srgbClr val="39C5CF"/>
                </a:solidFill>
                <a:latin typeface="Segoe UI"/>
              </a:rPr>
              <a:t>The solution: an opt-in server SDK</a:t>
            </a:r>
          </a:p>
          <a:p>
            <a:pPr algn="l">
              <a:lnSpc>
                <a:spcPct val="122000"/>
              </a:lnSpc>
              <a:spcBef>
                <a:spcPts val="0"/>
              </a:spcBef>
              <a:spcAft>
                <a:spcPts val="600"/>
              </a:spcAft>
            </a:pPr>
            <a:r>
              <a:rPr sz="1400" b="0" i="0">
                <a:solidFill>
                  <a:srgbClr val="B9C2CC"/>
                </a:solidFill>
                <a:latin typeface="Segoe UI"/>
              </a:rPr>
              <a:t>A developer adds @apilens/next-sdk to the application and switches it on for a test environment. The application then reports its own calls — incoming route handlers and the upstream calls they make — with bounded, redacted payloads.</a:t>
            </a:r>
          </a:p>
          <a:p>
            <a:r>
              <a:rPr sz="1400" b="1" i="0">
                <a:solidFill>
                  <a:srgbClr val="E6EDF3"/>
                </a:solidFill>
                <a:latin typeface="Segoe UI"/>
              </a:rPr>
              <a:t>Crucially, it works against a shared remote dev server — not just localhost.</a:t>
            </a:r>
          </a:p>
        </p:txBody>
      </p:sp>
      <p:sp>
        <p:nvSpPr>
          <p:cNvPr id="12" name="TextBox 11"/>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13" name="TextBox 12"/>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39C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39C5CF"/>
                </a:solidFill>
                <a:latin typeface="Segoe UI"/>
              </a:rPr>
              <a:t>SERVER-SIDE</a:t>
            </a:r>
          </a:p>
          <a:p>
            <a:pPr algn="l">
              <a:lnSpc>
                <a:spcPct val="100000"/>
              </a:lnSpc>
              <a:spcBef>
                <a:spcPts val="0"/>
              </a:spcBef>
              <a:spcAft>
                <a:spcPts val="400"/>
              </a:spcAft>
            </a:pPr>
            <a:r>
              <a:rPr sz="3300" b="1" i="0">
                <a:solidFill>
                  <a:srgbClr val="E6EDF3"/>
                </a:solidFill>
                <a:latin typeface="Segoe UI"/>
              </a:rPr>
              <a:t>What you get once the SDK is on</a:t>
            </a:r>
          </a:p>
          <a:p>
            <a:pPr algn="l">
              <a:lnSpc>
                <a:spcPct val="115000"/>
              </a:lnSpc>
              <a:spcBef>
                <a:spcPts val="0"/>
              </a:spcBef>
              <a:spcAft>
                <a:spcPts val="0"/>
              </a:spcAft>
            </a:pPr>
            <a:r>
              <a:rPr sz="1550" b="0" i="0">
                <a:solidFill>
                  <a:srgbClr val="8B949E"/>
                </a:solidFill>
                <a:latin typeface="Segoe UI"/>
              </a:rPr>
              <a:t>A second list, showing what the application did after the browser call ended.</a:t>
            </a:r>
          </a:p>
        </p:txBody>
      </p:sp>
      <p:sp>
        <p:nvSpPr>
          <p:cNvPr id="4" name="Rounded Rectangle 3"/>
          <p:cNvSpPr/>
          <p:nvPr/>
        </p:nvSpPr>
        <p:spPr>
          <a:xfrm>
            <a:off x="777240" y="1783080"/>
            <a:ext cx="5158587" cy="22860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900"/>
              </a:spcAft>
            </a:pPr>
            <a:r>
              <a:rPr sz="1100" b="1" i="0">
                <a:solidFill>
                  <a:srgbClr val="39C5CF"/>
                </a:solidFill>
                <a:latin typeface="Segoe UI"/>
              </a:rPr>
              <a:t>SERVER API VIEW</a:t>
            </a:r>
          </a:p>
          <a:p>
            <a:pPr>
              <a:lnSpc>
                <a:spcPct val="120000"/>
              </a:lnSpc>
              <a:spcAft>
                <a:spcPts val="900"/>
              </a:spcAft>
            </a:pPr>
            <a:r>
              <a:rPr sz="1350" b="1" i="0">
                <a:solidFill>
                  <a:srgbClr val="39C5CF"/>
                </a:solidFill>
                <a:latin typeface="Segoe UI"/>
              </a:rPr>
              <a:t>▪  </a:t>
            </a:r>
            <a:r>
              <a:rPr sz="1350" b="0" i="0">
                <a:solidFill>
                  <a:srgbClr val="B9C2CC"/>
                </a:solidFill>
                <a:latin typeface="Segoe UI"/>
              </a:rPr>
              <a:t>Incoming route handlers and their upstream calls</a:t>
            </a:r>
          </a:p>
          <a:p>
            <a:pPr>
              <a:lnSpc>
                <a:spcPct val="120000"/>
              </a:lnSpc>
              <a:spcAft>
                <a:spcPts val="900"/>
              </a:spcAft>
            </a:pPr>
            <a:r>
              <a:rPr sz="1350" b="1" i="0">
                <a:solidFill>
                  <a:srgbClr val="39C5CF"/>
                </a:solidFill>
                <a:latin typeface="Segoe UI"/>
              </a:rPr>
              <a:t>▪  </a:t>
            </a:r>
            <a:r>
              <a:rPr sz="1350" b="0" i="0">
                <a:solidFill>
                  <a:srgbClr val="B9C2CC"/>
                </a:solidFill>
                <a:latin typeface="Segoe UI"/>
              </a:rPr>
              <a:t>Request and response payloads, bounded and redacted</a:t>
            </a:r>
          </a:p>
          <a:p>
            <a:pPr>
              <a:lnSpc>
                <a:spcPct val="120000"/>
              </a:lnSpc>
              <a:spcAft>
                <a:spcPts val="900"/>
              </a:spcAft>
            </a:pPr>
            <a:r>
              <a:rPr sz="1350" b="1" i="0">
                <a:solidFill>
                  <a:srgbClr val="39C5CF"/>
                </a:solidFill>
                <a:latin typeface="Segoe UI"/>
              </a:rPr>
              <a:t>▪  </a:t>
            </a:r>
            <a:r>
              <a:rPr sz="1350" b="0" i="0">
                <a:solidFill>
                  <a:srgbClr val="B9C2CC"/>
                </a:solidFill>
                <a:latin typeface="Segoe UI"/>
              </a:rPr>
              <a:t>Headers, timing and correlation identity</a:t>
            </a:r>
          </a:p>
          <a:p>
            <a:pPr>
              <a:lnSpc>
                <a:spcPct val="120000"/>
              </a:lnSpc>
              <a:spcAft>
                <a:spcPts val="900"/>
              </a:spcAft>
            </a:pPr>
            <a:r>
              <a:rPr sz="1350" b="1" i="0">
                <a:solidFill>
                  <a:srgbClr val="39C5CF"/>
                </a:solidFill>
                <a:latin typeface="Segoe UI"/>
              </a:rPr>
              <a:t>▪  </a:t>
            </a:r>
            <a:r>
              <a:rPr sz="1350" b="0" i="0">
                <a:solidFill>
                  <a:srgbClr val="B9C2CC"/>
                </a:solidFill>
                <a:latin typeface="Segoe UI"/>
              </a:rPr>
              <a:t>Which upstream service actually failed</a:t>
            </a:r>
          </a:p>
        </p:txBody>
      </p:sp>
      <p:sp>
        <p:nvSpPr>
          <p:cNvPr id="5" name="Rounded Rectangle 4"/>
          <p:cNvSpPr/>
          <p:nvPr/>
        </p:nvSpPr>
        <p:spPr>
          <a:xfrm>
            <a:off x="6255867" y="1783080"/>
            <a:ext cx="5158587" cy="22860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900"/>
              </a:spcAft>
            </a:pPr>
            <a:r>
              <a:rPr sz="1100" b="1" i="0">
                <a:solidFill>
                  <a:srgbClr val="A371F7"/>
                </a:solidFill>
                <a:latin typeface="Segoe UI"/>
              </a:rPr>
              <a:t>SERVER MOCKS</a:t>
            </a:r>
          </a:p>
          <a:p>
            <a:pPr>
              <a:lnSpc>
                <a:spcPct val="120000"/>
              </a:lnSpc>
              <a:spcAft>
                <a:spcPts val="900"/>
              </a:spcAft>
            </a:pPr>
            <a:r>
              <a:rPr sz="1350" b="1" i="0">
                <a:solidFill>
                  <a:srgbClr val="A371F7"/>
                </a:solidFill>
                <a:latin typeface="Segoe UI"/>
              </a:rPr>
              <a:t>▪  </a:t>
            </a:r>
            <a:r>
              <a:rPr sz="1350" b="0" i="0">
                <a:solidFill>
                  <a:srgbClr val="B9C2CC"/>
                </a:solidFill>
                <a:latin typeface="Segoe UI"/>
              </a:rPr>
              <a:t>Fail an upstream service the browser never calls</a:t>
            </a:r>
          </a:p>
          <a:p>
            <a:pPr>
              <a:lnSpc>
                <a:spcPct val="120000"/>
              </a:lnSpc>
              <a:spcAft>
                <a:spcPts val="900"/>
              </a:spcAft>
            </a:pPr>
            <a:r>
              <a:rPr sz="1350" b="1" i="0">
                <a:solidFill>
                  <a:srgbClr val="A371F7"/>
                </a:solidFill>
                <a:latin typeface="Segoe UI"/>
              </a:rPr>
              <a:t>▪  </a:t>
            </a:r>
            <a:r>
              <a:rPr sz="1350" b="0" i="0">
                <a:solidFill>
                  <a:srgbClr val="B9C2CC"/>
                </a:solidFill>
                <a:latin typeface="Segoe UI"/>
              </a:rPr>
              <a:t>503, 401, 429, timeout, connection failure, bad JSON</a:t>
            </a:r>
          </a:p>
          <a:p>
            <a:pPr>
              <a:lnSpc>
                <a:spcPct val="120000"/>
              </a:lnSpc>
              <a:spcAft>
                <a:spcPts val="900"/>
              </a:spcAft>
            </a:pPr>
            <a:r>
              <a:rPr sz="1350" b="1" i="0">
                <a:solidFill>
                  <a:srgbClr val="A371F7"/>
                </a:solidFill>
                <a:latin typeface="Segoe UI"/>
              </a:rPr>
              <a:t>▪  </a:t>
            </a:r>
            <a:r>
              <a:rPr sz="1350" b="0" i="0">
                <a:solidFill>
                  <a:srgbClr val="B9C2CC"/>
                </a:solidFill>
                <a:latin typeface="Segoe UI"/>
              </a:rPr>
              <a:t>Or call the real service and mutate its response</a:t>
            </a:r>
          </a:p>
          <a:p>
            <a:pPr>
              <a:lnSpc>
                <a:spcPct val="120000"/>
              </a:lnSpc>
              <a:spcAft>
                <a:spcPts val="900"/>
              </a:spcAft>
            </a:pPr>
            <a:r>
              <a:rPr sz="1350" b="1" i="0">
                <a:solidFill>
                  <a:srgbClr val="A371F7"/>
                </a:solidFill>
                <a:latin typeface="Segoe UI"/>
              </a:rPr>
              <a:t>▪  </a:t>
            </a:r>
            <a:r>
              <a:rPr sz="1350" b="0" i="0">
                <a:solidFill>
                  <a:srgbClr val="B9C2CC"/>
                </a:solidFill>
                <a:latin typeface="Segoe UI"/>
              </a:rPr>
              <a:t>Rules live in memory and vanish on restart</a:t>
            </a:r>
          </a:p>
        </p:txBody>
      </p:sp>
      <p:sp>
        <p:nvSpPr>
          <p:cNvPr id="6" name="Rounded Rectangle 5"/>
          <p:cNvSpPr/>
          <p:nvPr/>
        </p:nvSpPr>
        <p:spPr>
          <a:xfrm>
            <a:off x="777240" y="4270248"/>
            <a:ext cx="10637215" cy="1965960"/>
          </a:xfrm>
          <a:prstGeom prst="roundRect">
            <a:avLst>
              <a:gd name="adj" fmla="val 4000"/>
            </a:avLst>
          </a:prstGeom>
          <a:solidFill>
            <a:srgbClr val="010409"/>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01168" tIns="155448" bIns="146304"/>
          <a:lstStyle/>
          <a:p>
            <a:pPr algn="l">
              <a:lnSpc>
                <a:spcPct val="118000"/>
              </a:lnSpc>
              <a:spcBef>
                <a:spcPts val="0"/>
              </a:spcBef>
              <a:spcAft>
                <a:spcPts val="300"/>
              </a:spcAft>
            </a:pPr>
            <a:r>
              <a:rPr sz="1200" b="0" i="0">
                <a:solidFill>
                  <a:srgbClr val="8B949E"/>
                </a:solidFill>
                <a:latin typeface="Consolas"/>
              </a:rPr>
              <a:t># What the developer adds — one singleton, then wrap each route</a:t>
            </a:r>
          </a:p>
          <a:p>
            <a:pPr algn="l">
              <a:lnSpc>
                <a:spcPct val="118000"/>
              </a:lnSpc>
              <a:spcBef>
                <a:spcPts val="0"/>
              </a:spcBef>
              <a:spcAft>
                <a:spcPts val="300"/>
              </a:spcAft>
            </a:pPr>
            <a:r>
              <a:rPr sz="1200" b="0" i="0">
                <a:solidFill>
                  <a:srgbClr val="B9C2CC"/>
                </a:solidFill>
                <a:latin typeface="Consolas"/>
              </a:rPr>
              <a:t>export const apiLens = new ApiLensNextSDK({</a:t>
            </a:r>
          </a:p>
          <a:p>
            <a:pPr algn="l">
              <a:lnSpc>
                <a:spcPct val="118000"/>
              </a:lnSpc>
              <a:spcBef>
                <a:spcPts val="0"/>
              </a:spcBef>
              <a:spcAft>
                <a:spcPts val="300"/>
              </a:spcAft>
            </a:pPr>
            <a:r>
              <a:rPr sz="1200" b="0" i="0">
                <a:solidFill>
                  <a:srgbClr val="B9C2CC"/>
                </a:solidFill>
                <a:latin typeface="Consolas"/>
              </a:rPr>
              <a:t>  serviceName: 'clear-app-bff',</a:t>
            </a:r>
          </a:p>
          <a:p>
            <a:pPr algn="l">
              <a:lnSpc>
                <a:spcPct val="118000"/>
              </a:lnSpc>
              <a:spcBef>
                <a:spcPts val="0"/>
              </a:spcBef>
              <a:spcAft>
                <a:spcPts val="300"/>
              </a:spcAft>
            </a:pPr>
            <a:r>
              <a:rPr sz="1200" b="0" i="0">
                <a:solidFill>
                  <a:srgbClr val="B9C2CC"/>
                </a:solidFill>
                <a:latin typeface="Consolas"/>
              </a:rPr>
              <a:t>  enabled: process.env.APILENS_ENABLED === 'true',</a:t>
            </a:r>
          </a:p>
          <a:p>
            <a:pPr algn="l">
              <a:lnSpc>
                <a:spcPct val="118000"/>
              </a:lnSpc>
              <a:spcBef>
                <a:spcPts val="0"/>
              </a:spcBef>
              <a:spcAft>
                <a:spcPts val="300"/>
              </a:spcAft>
            </a:pPr>
            <a:r>
              <a:rPr sz="1200" b="0" i="0">
                <a:solidFill>
                  <a:srgbClr val="B9C2CC"/>
                </a:solidFill>
                <a:latin typeface="Consolas"/>
              </a:rPr>
              <a:t>  captureBodies: { request: true, response: true },</a:t>
            </a:r>
          </a:p>
          <a:p>
            <a:pPr algn="l">
              <a:lnSpc>
                <a:spcPct val="118000"/>
              </a:lnSpc>
              <a:spcBef>
                <a:spcPts val="0"/>
              </a:spcBef>
              <a:spcAft>
                <a:spcPts val="300"/>
              </a:spcAft>
            </a:pPr>
            <a:r>
              <a:rPr sz="1200" b="0" i="0">
                <a:solidFill>
                  <a:srgbClr val="B9C2CC"/>
                </a:solidFill>
                <a:latin typeface="Consolas"/>
              </a:rPr>
              <a:t>  control: { enabled: true, token: process.env.APILENS_CONTROL_TOKEN },</a:t>
            </a:r>
          </a:p>
          <a:p>
            <a:pPr algn="l">
              <a:lnSpc>
                <a:spcPct val="118000"/>
              </a:lnSpc>
              <a:spcBef>
                <a:spcPts val="0"/>
              </a:spcBef>
              <a:spcAft>
                <a:spcPts val="300"/>
              </a:spcAft>
            </a:pPr>
            <a:r>
              <a:rPr sz="1200" b="0" i="0">
                <a:solidFill>
                  <a:srgbClr val="B9C2CC"/>
                </a:solidFill>
                <a:latin typeface="Consolas"/>
              </a:rPr>
              <a:t>});</a:t>
            </a:r>
          </a:p>
        </p:txBody>
      </p:sp>
      <p:sp>
        <p:nvSpPr>
          <p:cNvPr id="7" name="TextBox 6"/>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8" name="TextBox 7"/>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3FB950"/>
                </a:solidFill>
                <a:latin typeface="Segoe UI"/>
              </a:rPr>
              <a:t>EVIDENCE</a:t>
            </a:r>
          </a:p>
          <a:p>
            <a:pPr algn="l">
              <a:lnSpc>
                <a:spcPct val="100000"/>
              </a:lnSpc>
              <a:spcBef>
                <a:spcPts val="0"/>
              </a:spcBef>
              <a:spcAft>
                <a:spcPts val="400"/>
              </a:spcAft>
            </a:pPr>
            <a:r>
              <a:rPr sz="3300" b="1" i="0">
                <a:solidFill>
                  <a:srgbClr val="E6EDF3"/>
                </a:solidFill>
                <a:latin typeface="Segoe UI"/>
              </a:rPr>
              <a:t>Getting it out of the tool</a:t>
            </a:r>
          </a:p>
          <a:p>
            <a:pPr algn="l">
              <a:lnSpc>
                <a:spcPct val="115000"/>
              </a:lnSpc>
              <a:spcBef>
                <a:spcPts val="0"/>
              </a:spcBef>
              <a:spcAft>
                <a:spcPts val="0"/>
              </a:spcAft>
            </a:pPr>
            <a:r>
              <a:rPr sz="1550" b="0" i="0">
                <a:solidFill>
                  <a:srgbClr val="8B949E"/>
                </a:solidFill>
                <a:latin typeface="Segoe UI"/>
              </a:rPr>
              <a:t>Extract works on the calls currently shown — what you see is what you get.</a:t>
            </a:r>
          </a:p>
        </p:txBody>
      </p:sp>
      <p:sp>
        <p:nvSpPr>
          <p:cNvPr id="4" name="Rounded Rectangle 3"/>
          <p:cNvSpPr/>
          <p:nvPr/>
        </p:nvSpPr>
        <p:spPr>
          <a:xfrm>
            <a:off x="777240" y="1783080"/>
            <a:ext cx="3393338" cy="9144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400"/>
              </a:spcAft>
            </a:pPr>
            <a:r>
              <a:rPr sz="1600" b="1" i="0">
                <a:solidFill>
                  <a:srgbClr val="58A6FF"/>
                </a:solidFill>
                <a:latin typeface="Consolas"/>
              </a:rPr>
              <a:t>cURL</a:t>
            </a:r>
          </a:p>
          <a:p>
            <a:pPr algn="l">
              <a:lnSpc>
                <a:spcPct val="118000"/>
              </a:lnSpc>
              <a:spcBef>
                <a:spcPts val="0"/>
              </a:spcBef>
              <a:spcAft>
                <a:spcPts val="0"/>
              </a:spcAft>
            </a:pPr>
            <a:r>
              <a:rPr sz="1250" b="0" i="0">
                <a:solidFill>
                  <a:srgbClr val="B9C2CC"/>
                </a:solidFill>
                <a:latin typeface="Segoe UI"/>
              </a:rPr>
              <a:t>Reproduce a call from a terminal</a:t>
            </a:r>
          </a:p>
        </p:txBody>
      </p:sp>
      <p:sp>
        <p:nvSpPr>
          <p:cNvPr id="5" name="Rounded Rectangle 4"/>
          <p:cNvSpPr/>
          <p:nvPr/>
        </p:nvSpPr>
        <p:spPr>
          <a:xfrm>
            <a:off x="4399178" y="1783080"/>
            <a:ext cx="3393338" cy="9144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400"/>
              </a:spcAft>
            </a:pPr>
            <a:r>
              <a:rPr sz="1600" b="1" i="0">
                <a:solidFill>
                  <a:srgbClr val="58A6FF"/>
                </a:solidFill>
                <a:latin typeface="Consolas"/>
              </a:rPr>
              <a:t>fetch()</a:t>
            </a:r>
          </a:p>
          <a:p>
            <a:pPr algn="l">
              <a:lnSpc>
                <a:spcPct val="118000"/>
              </a:lnSpc>
              <a:spcBef>
                <a:spcPts val="0"/>
              </a:spcBef>
              <a:spcAft>
                <a:spcPts val="0"/>
              </a:spcAft>
            </a:pPr>
            <a:r>
              <a:rPr sz="1250" b="0" i="0">
                <a:solidFill>
                  <a:srgbClr val="B9C2CC"/>
                </a:solidFill>
                <a:latin typeface="Segoe UI"/>
              </a:rPr>
              <a:t>Paste into a console or a test</a:t>
            </a:r>
          </a:p>
        </p:txBody>
      </p:sp>
      <p:sp>
        <p:nvSpPr>
          <p:cNvPr id="6" name="Rounded Rectangle 5"/>
          <p:cNvSpPr/>
          <p:nvPr/>
        </p:nvSpPr>
        <p:spPr>
          <a:xfrm>
            <a:off x="8021116" y="1783080"/>
            <a:ext cx="3393338" cy="9144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400"/>
              </a:spcAft>
            </a:pPr>
            <a:r>
              <a:rPr sz="1600" b="1" i="0">
                <a:solidFill>
                  <a:srgbClr val="39C5CF"/>
                </a:solidFill>
                <a:latin typeface="Consolas"/>
              </a:rPr>
              <a:t>HAR 1.2</a:t>
            </a:r>
          </a:p>
          <a:p>
            <a:pPr algn="l">
              <a:lnSpc>
                <a:spcPct val="118000"/>
              </a:lnSpc>
              <a:spcBef>
                <a:spcPts val="0"/>
              </a:spcBef>
              <a:spcAft>
                <a:spcPts val="0"/>
              </a:spcAft>
            </a:pPr>
            <a:r>
              <a:rPr sz="1250" b="0" i="0">
                <a:solidFill>
                  <a:srgbClr val="B9C2CC"/>
                </a:solidFill>
                <a:latin typeface="Segoe UI"/>
              </a:rPr>
              <a:t>Open in DevTools, Charles or Fiddler</a:t>
            </a:r>
          </a:p>
        </p:txBody>
      </p:sp>
      <p:sp>
        <p:nvSpPr>
          <p:cNvPr id="7" name="Rounded Rectangle 6"/>
          <p:cNvSpPr/>
          <p:nvPr/>
        </p:nvSpPr>
        <p:spPr>
          <a:xfrm>
            <a:off x="777240" y="2880360"/>
            <a:ext cx="3393338" cy="9144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400"/>
              </a:spcAft>
            </a:pPr>
            <a:r>
              <a:rPr sz="1600" b="1" i="0">
                <a:solidFill>
                  <a:srgbClr val="3FB950"/>
                </a:solidFill>
                <a:latin typeface="Consolas"/>
              </a:rPr>
              <a:t>CSV</a:t>
            </a:r>
          </a:p>
          <a:p>
            <a:pPr algn="l">
              <a:lnSpc>
                <a:spcPct val="118000"/>
              </a:lnSpc>
              <a:spcBef>
                <a:spcPts val="0"/>
              </a:spcBef>
              <a:spcAft>
                <a:spcPts val="0"/>
              </a:spcAft>
            </a:pPr>
            <a:r>
              <a:rPr sz="1250" b="0" i="0">
                <a:solidFill>
                  <a:srgbClr val="B9C2CC"/>
                </a:solidFill>
                <a:latin typeface="Segoe UI"/>
              </a:rPr>
              <a:t>One row per call, for a spreadsheet</a:t>
            </a:r>
          </a:p>
        </p:txBody>
      </p:sp>
      <p:sp>
        <p:nvSpPr>
          <p:cNvPr id="8" name="Rounded Rectangle 7"/>
          <p:cNvSpPr/>
          <p:nvPr/>
        </p:nvSpPr>
        <p:spPr>
          <a:xfrm>
            <a:off x="4399178" y="2880360"/>
            <a:ext cx="3393338" cy="9144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400"/>
              </a:spcAft>
            </a:pPr>
            <a:r>
              <a:rPr sz="1600" b="1" i="0">
                <a:solidFill>
                  <a:srgbClr val="3FB950"/>
                </a:solidFill>
                <a:latin typeface="Consolas"/>
              </a:rPr>
              <a:t>JSON</a:t>
            </a:r>
          </a:p>
          <a:p>
            <a:pPr algn="l">
              <a:lnSpc>
                <a:spcPct val="118000"/>
              </a:lnSpc>
              <a:spcBef>
                <a:spcPts val="0"/>
              </a:spcBef>
              <a:spcAft>
                <a:spcPts val="0"/>
              </a:spcAft>
            </a:pPr>
            <a:r>
              <a:rPr sz="1250" b="0" i="0">
                <a:solidFill>
                  <a:srgbClr val="B9C2CC"/>
                </a:solidFill>
                <a:latin typeface="Segoe UI"/>
              </a:rPr>
              <a:t>Full records including payloads</a:t>
            </a:r>
          </a:p>
        </p:txBody>
      </p:sp>
      <p:sp>
        <p:nvSpPr>
          <p:cNvPr id="9" name="Rounded Rectangle 8"/>
          <p:cNvSpPr/>
          <p:nvPr/>
        </p:nvSpPr>
        <p:spPr>
          <a:xfrm>
            <a:off x="8021116" y="2880360"/>
            <a:ext cx="3393338" cy="9144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400"/>
              </a:spcAft>
            </a:pPr>
            <a:r>
              <a:rPr sz="1600" b="1" i="0">
                <a:solidFill>
                  <a:srgbClr val="A371F7"/>
                </a:solidFill>
                <a:latin typeface="Consolas"/>
              </a:rPr>
              <a:t>Markdown</a:t>
            </a:r>
          </a:p>
          <a:p>
            <a:pPr algn="l">
              <a:lnSpc>
                <a:spcPct val="118000"/>
              </a:lnSpc>
              <a:spcBef>
                <a:spcPts val="0"/>
              </a:spcBef>
              <a:spcAft>
                <a:spcPts val="0"/>
              </a:spcAft>
            </a:pPr>
            <a:r>
              <a:rPr sz="1250" b="0" i="0">
                <a:solidFill>
                  <a:srgbClr val="B9C2CC"/>
                </a:solidFill>
                <a:latin typeface="Segoe UI"/>
              </a:rPr>
              <a:t>Paste straight into a Jira defect</a:t>
            </a:r>
          </a:p>
        </p:txBody>
      </p:sp>
      <p:sp>
        <p:nvSpPr>
          <p:cNvPr id="10" name="Rounded Rectangle 9"/>
          <p:cNvSpPr/>
          <p:nvPr/>
        </p:nvSpPr>
        <p:spPr>
          <a:xfrm>
            <a:off x="777240" y="4160520"/>
            <a:ext cx="10637215" cy="1371600"/>
          </a:xfrm>
          <a:prstGeom prst="roundRect">
            <a:avLst>
              <a:gd name="adj" fmla="val 4000"/>
            </a:avLst>
          </a:prstGeom>
          <a:solidFill>
            <a:srgbClr val="1C2128"/>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800"/>
              </a:spcAft>
            </a:pPr>
            <a:r>
              <a:rPr sz="1700" b="1" i="0">
                <a:solidFill>
                  <a:srgbClr val="3FB950"/>
                </a:solidFill>
                <a:latin typeface="Segoe UI"/>
              </a:rPr>
              <a:t>For a full session: Evidence → Export</a:t>
            </a:r>
          </a:p>
          <a:p>
            <a:pPr algn="l">
              <a:lnSpc>
                <a:spcPct val="122000"/>
              </a:lnSpc>
              <a:spcBef>
                <a:spcPts val="0"/>
              </a:spcBef>
              <a:spcAft>
                <a:spcPts val="800"/>
              </a:spcAft>
            </a:pPr>
            <a:r>
              <a:rPr sz="1400" b="0" i="0">
                <a:solidFill>
                  <a:srgbClr val="B9C2CC"/>
                </a:solidFill>
                <a:latin typeface="Segoe UI"/>
              </a:rPr>
              <a:t>Bundles the whole QA session as an HTML report, HAR, JSON and Markdown — including failed calls, mocked calls, markers and screenshots. This is what you attach to a defect or a sign-off.</a:t>
            </a:r>
          </a:p>
          <a:p>
            <a:r>
              <a:rPr sz="1350" b="1" i="0">
                <a:solidFill>
                  <a:srgbClr val="D29922"/>
                </a:solidFill>
                <a:latin typeface="Segoe UI"/>
              </a:rPr>
              <a:t>Stop recording first </a:t>
            </a:r>
            <a:r>
              <a:rPr sz="1350" b="0" i="0">
                <a:solidFill>
                  <a:srgbClr val="B9C2CC"/>
                </a:solidFill>
                <a:latin typeface="Segoe UI"/>
              </a:rPr>
              <a:t>so timings are final, and review the export before sharing it.</a:t>
            </a:r>
          </a:p>
        </p:txBody>
      </p:sp>
      <p:sp>
        <p:nvSpPr>
          <p:cNvPr id="11" name="TextBox 10"/>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12" name="TextBox 11"/>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D299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D29922"/>
                </a:solidFill>
                <a:latin typeface="Segoe UI"/>
              </a:rPr>
              <a:t>SAFETY</a:t>
            </a:r>
          </a:p>
          <a:p>
            <a:pPr algn="l">
              <a:lnSpc>
                <a:spcPct val="100000"/>
              </a:lnSpc>
              <a:spcBef>
                <a:spcPts val="0"/>
              </a:spcBef>
              <a:spcAft>
                <a:spcPts val="400"/>
              </a:spcAft>
            </a:pPr>
            <a:r>
              <a:rPr sz="3300" b="1" i="0">
                <a:solidFill>
                  <a:srgbClr val="E6EDF3"/>
                </a:solidFill>
                <a:latin typeface="Segoe UI"/>
              </a:rPr>
              <a:t>Defaults assume real customer data</a:t>
            </a:r>
          </a:p>
          <a:p>
            <a:pPr algn="l">
              <a:lnSpc>
                <a:spcPct val="115000"/>
              </a:lnSpc>
              <a:spcBef>
                <a:spcPts val="0"/>
              </a:spcBef>
              <a:spcAft>
                <a:spcPts val="0"/>
              </a:spcAft>
            </a:pPr>
            <a:r>
              <a:rPr sz="1550" b="0" i="0">
                <a:solidFill>
                  <a:srgbClr val="8B949E"/>
                </a:solidFill>
                <a:latin typeface="Segoe UI"/>
              </a:rPr>
              <a:t>Read this before you enable your first mock on a shared environment.</a:t>
            </a:r>
          </a:p>
        </p:txBody>
      </p:sp>
      <p:sp>
        <p:nvSpPr>
          <p:cNvPr id="4" name="Rounded Rectangle 3"/>
          <p:cNvSpPr/>
          <p:nvPr/>
        </p:nvSpPr>
        <p:spPr>
          <a:xfrm>
            <a:off x="777240" y="1783080"/>
            <a:ext cx="10637215" cy="73152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5" name="Rounded Rectangle 4"/>
          <p:cNvSpPr/>
          <p:nvPr/>
        </p:nvSpPr>
        <p:spPr>
          <a:xfrm>
            <a:off x="960120" y="1965960"/>
            <a:ext cx="365760" cy="365760"/>
          </a:xfrm>
          <a:prstGeom prst="roundRect">
            <a:avLst>
              <a:gd name="adj" fmla="val 50000"/>
            </a:avLst>
          </a:prstGeom>
          <a:no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300" b="1" i="0">
                <a:solidFill>
                  <a:srgbClr val="3FB950"/>
                </a:solidFill>
                <a:latin typeface="Segoe UI"/>
              </a:rPr>
              <a:t>✓</a:t>
            </a:r>
          </a:p>
        </p:txBody>
      </p:sp>
      <p:sp>
        <p:nvSpPr>
          <p:cNvPr id="6" name="TextBox 5"/>
          <p:cNvSpPr txBox="1"/>
          <p:nvPr/>
        </p:nvSpPr>
        <p:spPr>
          <a:xfrm>
            <a:off x="1490472" y="1892808"/>
            <a:ext cx="9966960" cy="566928"/>
          </a:xfrm>
          <a:prstGeom prst="rect">
            <a:avLst/>
          </a:prstGeom>
          <a:noFill/>
        </p:spPr>
        <p:txBody>
          <a:bodyPr wrap="square" anchor="t" lIns="0" rIns="0" tIns="0" bIns="0">
            <a:spAutoFit/>
          </a:bodyPr>
          <a:lstStyle/>
          <a:p>
            <a:pPr algn="l">
              <a:spcBef>
                <a:spcPts val="0"/>
              </a:spcBef>
              <a:spcAft>
                <a:spcPts val="200"/>
              </a:spcAft>
            </a:pPr>
            <a:r>
              <a:rPr sz="1500" b="1" i="0">
                <a:solidFill>
                  <a:srgbClr val="3FB950"/>
                </a:solidFill>
                <a:latin typeface="Segoe UI"/>
              </a:rPr>
              <a:t>Redaction runs before storage</a:t>
            </a:r>
          </a:p>
          <a:p>
            <a:pPr algn="l">
              <a:lnSpc>
                <a:spcPct val="115000"/>
              </a:lnSpc>
              <a:spcBef>
                <a:spcPts val="0"/>
              </a:spcBef>
              <a:spcAft>
                <a:spcPts val="0"/>
              </a:spcAft>
            </a:pPr>
            <a:r>
              <a:rPr sz="1250" b="0" i="0">
                <a:solidFill>
                  <a:srgbClr val="B9C2CC"/>
                </a:solidFill>
                <a:latin typeface="Segoe UI"/>
              </a:rPr>
              <a:t>Authorization, cookie and token-like headers are replaced at capture time, before anything is stored.</a:t>
            </a:r>
          </a:p>
        </p:txBody>
      </p:sp>
      <p:sp>
        <p:nvSpPr>
          <p:cNvPr id="7" name="Rounded Rectangle 6"/>
          <p:cNvSpPr/>
          <p:nvPr/>
        </p:nvSpPr>
        <p:spPr>
          <a:xfrm>
            <a:off x="777240" y="2606040"/>
            <a:ext cx="10637215" cy="73152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8" name="Rounded Rectangle 7"/>
          <p:cNvSpPr/>
          <p:nvPr/>
        </p:nvSpPr>
        <p:spPr>
          <a:xfrm>
            <a:off x="960120" y="2788920"/>
            <a:ext cx="365760" cy="365760"/>
          </a:xfrm>
          <a:prstGeom prst="roundRect">
            <a:avLst>
              <a:gd name="adj" fmla="val 50000"/>
            </a:avLst>
          </a:prstGeom>
          <a:no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300" b="1" i="0">
                <a:solidFill>
                  <a:srgbClr val="3FB950"/>
                </a:solidFill>
                <a:latin typeface="Segoe UI"/>
              </a:rPr>
              <a:t>✓</a:t>
            </a:r>
          </a:p>
        </p:txBody>
      </p:sp>
      <p:sp>
        <p:nvSpPr>
          <p:cNvPr id="9" name="TextBox 8"/>
          <p:cNvSpPr txBox="1"/>
          <p:nvPr/>
        </p:nvSpPr>
        <p:spPr>
          <a:xfrm>
            <a:off x="1490472" y="2715768"/>
            <a:ext cx="9966960" cy="566928"/>
          </a:xfrm>
          <a:prstGeom prst="rect">
            <a:avLst/>
          </a:prstGeom>
          <a:noFill/>
        </p:spPr>
        <p:txBody>
          <a:bodyPr wrap="square" anchor="t" lIns="0" rIns="0" tIns="0" bIns="0">
            <a:spAutoFit/>
          </a:bodyPr>
          <a:lstStyle/>
          <a:p>
            <a:pPr algn="l">
              <a:spcBef>
                <a:spcPts val="0"/>
              </a:spcBef>
              <a:spcAft>
                <a:spcPts val="200"/>
              </a:spcAft>
            </a:pPr>
            <a:r>
              <a:rPr sz="1500" b="1" i="0">
                <a:solidFill>
                  <a:srgbClr val="3FB950"/>
                </a:solidFill>
                <a:latin typeface="Segoe UI"/>
              </a:rPr>
              <a:t>Mocks start disabled and scoped</a:t>
            </a:r>
          </a:p>
          <a:p>
            <a:pPr algn="l">
              <a:lnSpc>
                <a:spcPct val="115000"/>
              </a:lnSpc>
              <a:spcBef>
                <a:spcPts val="0"/>
              </a:spcBef>
              <a:spcAft>
                <a:spcPts val="0"/>
              </a:spcAft>
            </a:pPr>
            <a:r>
              <a:rPr sz="1250" b="0" i="0">
                <a:solidFill>
                  <a:srgbClr val="B9C2CC"/>
                </a:solidFill>
                <a:latin typeface="Segoe UI"/>
              </a:rPr>
              <a:t>A new rule is off, limited to the captured path, and blocked where environment policy forbids mocking.</a:t>
            </a:r>
          </a:p>
        </p:txBody>
      </p:sp>
      <p:sp>
        <p:nvSpPr>
          <p:cNvPr id="10" name="Rounded Rectangle 9"/>
          <p:cNvSpPr/>
          <p:nvPr/>
        </p:nvSpPr>
        <p:spPr>
          <a:xfrm>
            <a:off x="777240" y="3429000"/>
            <a:ext cx="10637215" cy="73152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11" name="Rounded Rectangle 10"/>
          <p:cNvSpPr/>
          <p:nvPr/>
        </p:nvSpPr>
        <p:spPr>
          <a:xfrm>
            <a:off x="960120" y="3611880"/>
            <a:ext cx="365760" cy="365760"/>
          </a:xfrm>
          <a:prstGeom prst="roundRect">
            <a:avLst>
              <a:gd name="adj" fmla="val 50000"/>
            </a:avLst>
          </a:prstGeom>
          <a:no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300" b="1" i="0">
                <a:solidFill>
                  <a:srgbClr val="3FB950"/>
                </a:solidFill>
                <a:latin typeface="Segoe UI"/>
              </a:rPr>
              <a:t>✓</a:t>
            </a:r>
          </a:p>
        </p:txBody>
      </p:sp>
      <p:sp>
        <p:nvSpPr>
          <p:cNvPr id="12" name="TextBox 11"/>
          <p:cNvSpPr txBox="1"/>
          <p:nvPr/>
        </p:nvSpPr>
        <p:spPr>
          <a:xfrm>
            <a:off x="1490472" y="3538728"/>
            <a:ext cx="9966960" cy="566928"/>
          </a:xfrm>
          <a:prstGeom prst="rect">
            <a:avLst/>
          </a:prstGeom>
          <a:noFill/>
        </p:spPr>
        <p:txBody>
          <a:bodyPr wrap="square" anchor="t" lIns="0" rIns="0" tIns="0" bIns="0">
            <a:spAutoFit/>
          </a:bodyPr>
          <a:lstStyle/>
          <a:p>
            <a:pPr algn="l">
              <a:spcBef>
                <a:spcPts val="0"/>
              </a:spcBef>
              <a:spcAft>
                <a:spcPts val="200"/>
              </a:spcAft>
            </a:pPr>
            <a:r>
              <a:rPr sz="1500" b="1" i="0">
                <a:solidFill>
                  <a:srgbClr val="3FB950"/>
                </a:solidFill>
                <a:latin typeface="Segoe UI"/>
              </a:rPr>
              <a:t>Everything stays local</a:t>
            </a:r>
          </a:p>
          <a:p>
            <a:pPr algn="l">
              <a:lnSpc>
                <a:spcPct val="115000"/>
              </a:lnSpc>
              <a:spcBef>
                <a:spcPts val="0"/>
              </a:spcBef>
              <a:spcAft>
                <a:spcPts val="0"/>
              </a:spcAft>
            </a:pPr>
            <a:r>
              <a:rPr sz="1250" b="0" i="0">
                <a:solidFill>
                  <a:srgbClr val="B9C2CC"/>
                </a:solidFill>
                <a:latin typeface="Segoe UI"/>
              </a:rPr>
              <a:t>Captured traffic lives on your machine. Nothing is uploaded unless you export it.</a:t>
            </a:r>
          </a:p>
        </p:txBody>
      </p:sp>
      <p:sp>
        <p:nvSpPr>
          <p:cNvPr id="13" name="Rounded Rectangle 12"/>
          <p:cNvSpPr/>
          <p:nvPr/>
        </p:nvSpPr>
        <p:spPr>
          <a:xfrm>
            <a:off x="777240" y="4251960"/>
            <a:ext cx="10637215" cy="73152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14" name="Rounded Rectangle 13"/>
          <p:cNvSpPr/>
          <p:nvPr/>
        </p:nvSpPr>
        <p:spPr>
          <a:xfrm>
            <a:off x="960120" y="4434840"/>
            <a:ext cx="365760" cy="365760"/>
          </a:xfrm>
          <a:prstGeom prst="roundRect">
            <a:avLst>
              <a:gd name="adj" fmla="val 50000"/>
            </a:avLst>
          </a:prstGeom>
          <a:noFill/>
          <a:ln w="1905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300" b="1" i="0">
                <a:solidFill>
                  <a:srgbClr val="F85149"/>
                </a:solidFill>
                <a:latin typeface="Segoe UI"/>
              </a:rPr>
              <a:t>!</a:t>
            </a:r>
          </a:p>
        </p:txBody>
      </p:sp>
      <p:sp>
        <p:nvSpPr>
          <p:cNvPr id="15" name="TextBox 14"/>
          <p:cNvSpPr txBox="1"/>
          <p:nvPr/>
        </p:nvSpPr>
        <p:spPr>
          <a:xfrm>
            <a:off x="1490472" y="4361688"/>
            <a:ext cx="9966960" cy="566928"/>
          </a:xfrm>
          <a:prstGeom prst="rect">
            <a:avLst/>
          </a:prstGeom>
          <a:noFill/>
        </p:spPr>
        <p:txBody>
          <a:bodyPr wrap="square" anchor="t" lIns="0" rIns="0" tIns="0" bIns="0">
            <a:spAutoFit/>
          </a:bodyPr>
          <a:lstStyle/>
          <a:p>
            <a:pPr algn="l">
              <a:spcBef>
                <a:spcPts val="0"/>
              </a:spcBef>
              <a:spcAft>
                <a:spcPts val="200"/>
              </a:spcAft>
            </a:pPr>
            <a:r>
              <a:rPr sz="1500" b="1" i="0">
                <a:solidFill>
                  <a:srgbClr val="F85149"/>
                </a:solidFill>
                <a:latin typeface="Segoe UI"/>
              </a:rPr>
              <a:t>The server control token is a secret</a:t>
            </a:r>
          </a:p>
          <a:p>
            <a:pPr algn="l">
              <a:lnSpc>
                <a:spcPct val="115000"/>
              </a:lnSpc>
              <a:spcBef>
                <a:spcPts val="0"/>
              </a:spcBef>
              <a:spcAft>
                <a:spcPts val="0"/>
              </a:spcAft>
            </a:pPr>
            <a:r>
              <a:rPr sz="1250" b="0" i="0">
                <a:solidFill>
                  <a:srgbClr val="B9C2CC"/>
                </a:solidFill>
                <a:latin typeface="Segoe UI"/>
              </a:rPr>
              <a:t>Anyone holding it can read captured server traffic. Keep it off any environment with real customer data.</a:t>
            </a:r>
          </a:p>
        </p:txBody>
      </p:sp>
      <p:sp>
        <p:nvSpPr>
          <p:cNvPr id="16" name="Rounded Rectangle 15"/>
          <p:cNvSpPr/>
          <p:nvPr/>
        </p:nvSpPr>
        <p:spPr>
          <a:xfrm>
            <a:off x="777240" y="5074920"/>
            <a:ext cx="10637215" cy="73152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17" name="Rounded Rectangle 16"/>
          <p:cNvSpPr/>
          <p:nvPr/>
        </p:nvSpPr>
        <p:spPr>
          <a:xfrm>
            <a:off x="960120" y="5257800"/>
            <a:ext cx="365760" cy="365760"/>
          </a:xfrm>
          <a:prstGeom prst="roundRect">
            <a:avLst>
              <a:gd name="adj" fmla="val 50000"/>
            </a:avLst>
          </a:prstGeom>
          <a:noFill/>
          <a:ln w="1905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300" b="1" i="0">
                <a:solidFill>
                  <a:srgbClr val="F85149"/>
                </a:solidFill>
                <a:latin typeface="Segoe UI"/>
              </a:rPr>
              <a:t>!</a:t>
            </a:r>
          </a:p>
        </p:txBody>
      </p:sp>
      <p:sp>
        <p:nvSpPr>
          <p:cNvPr id="18" name="TextBox 17"/>
          <p:cNvSpPr txBox="1"/>
          <p:nvPr/>
        </p:nvSpPr>
        <p:spPr>
          <a:xfrm>
            <a:off x="1490472" y="5184648"/>
            <a:ext cx="9966960" cy="566928"/>
          </a:xfrm>
          <a:prstGeom prst="rect">
            <a:avLst/>
          </a:prstGeom>
          <a:noFill/>
        </p:spPr>
        <p:txBody>
          <a:bodyPr wrap="square" anchor="t" lIns="0" rIns="0" tIns="0" bIns="0">
            <a:spAutoFit/>
          </a:bodyPr>
          <a:lstStyle/>
          <a:p>
            <a:pPr algn="l">
              <a:spcBef>
                <a:spcPts val="0"/>
              </a:spcBef>
              <a:spcAft>
                <a:spcPts val="200"/>
              </a:spcAft>
            </a:pPr>
            <a:r>
              <a:rPr sz="1500" b="1" i="0">
                <a:solidFill>
                  <a:srgbClr val="F85149"/>
                </a:solidFill>
                <a:latin typeface="Segoe UI"/>
              </a:rPr>
              <a:t>Never mock a real transaction</a:t>
            </a:r>
          </a:p>
          <a:p>
            <a:pPr algn="l">
              <a:lnSpc>
                <a:spcPct val="115000"/>
              </a:lnSpc>
              <a:spcBef>
                <a:spcPts val="0"/>
              </a:spcBef>
              <a:spcAft>
                <a:spcPts val="0"/>
              </a:spcAft>
            </a:pPr>
            <a:r>
              <a:rPr sz="1250" b="0" i="0">
                <a:solidFill>
                  <a:srgbClr val="B9C2CC"/>
                </a:solidFill>
                <a:latin typeface="Segoe UI"/>
              </a:rPr>
              <a:t>Do not simulate success on submit-order, payment or any endpoint with financial side effects.</a:t>
            </a:r>
          </a:p>
        </p:txBody>
      </p:sp>
      <p:sp>
        <p:nvSpPr>
          <p:cNvPr id="19" name="TextBox 18"/>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20" name="TextBox 19"/>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10409"/>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88720"/>
          </a:xfrm>
          <a:prstGeom prst="rect">
            <a:avLst/>
          </a:prstGeom>
          <a:noFill/>
        </p:spPr>
        <p:txBody>
          <a:bodyPr wrap="square" anchor="t" lIns="0" rIns="0" tIns="0" bIns="0">
            <a:spAutoFit/>
          </a:bodyPr>
          <a:lstStyle/>
          <a:p>
            <a:pPr algn="l">
              <a:spcBef>
                <a:spcPts val="0"/>
              </a:spcBef>
              <a:spcAft>
                <a:spcPts val="400"/>
              </a:spcAft>
            </a:pPr>
            <a:r>
              <a:rPr sz="1250" b="1" i="0">
                <a:solidFill>
                  <a:srgbClr val="F85149"/>
                </a:solidFill>
                <a:latin typeface="Segoe UI"/>
              </a:rPr>
              <a:t>LIVE DEMO</a:t>
            </a:r>
          </a:p>
          <a:p>
            <a:pPr algn="l">
              <a:lnSpc>
                <a:spcPct val="100000"/>
              </a:lnSpc>
              <a:spcBef>
                <a:spcPts val="0"/>
              </a:spcBef>
              <a:spcAft>
                <a:spcPts val="400"/>
              </a:spcAft>
            </a:pPr>
            <a:r>
              <a:rPr sz="3600" b="1" i="0">
                <a:solidFill>
                  <a:srgbClr val="E6EDF3"/>
                </a:solidFill>
                <a:latin typeface="Segoe UI"/>
              </a:rPr>
              <a:t>One defect, start to finish</a:t>
            </a:r>
          </a:p>
          <a:p>
            <a:pPr algn="l">
              <a:spcBef>
                <a:spcPts val="0"/>
              </a:spcBef>
              <a:spcAft>
                <a:spcPts val="0"/>
              </a:spcAft>
            </a:pPr>
            <a:r>
              <a:rPr sz="1550" b="0" i="0">
                <a:solidFill>
                  <a:srgbClr val="8B949E"/>
                </a:solidFill>
                <a:latin typeface="Segoe UI"/>
              </a:rPr>
              <a:t>The billing page, a failing offers service, and the evidence to prove it.</a:t>
            </a:r>
          </a:p>
        </p:txBody>
      </p:sp>
      <p:sp>
        <p:nvSpPr>
          <p:cNvPr id="4" name="Rounded Rectangle 3"/>
          <p:cNvSpPr/>
          <p:nvPr/>
        </p:nvSpPr>
        <p:spPr>
          <a:xfrm>
            <a:off x="777240" y="1965960"/>
            <a:ext cx="384048" cy="384048"/>
          </a:xfrm>
          <a:prstGeom prst="roundRect">
            <a:avLst>
              <a:gd name="adj" fmla="val 50000"/>
            </a:avLst>
          </a:prstGeom>
          <a:noFill/>
          <a:ln w="1905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300" b="1" i="0">
                <a:solidFill>
                  <a:srgbClr val="F85149"/>
                </a:solidFill>
                <a:latin typeface="Consolas"/>
              </a:rPr>
              <a:t>1</a:t>
            </a:r>
          </a:p>
        </p:txBody>
      </p:sp>
      <p:sp>
        <p:nvSpPr>
          <p:cNvPr id="5" name="TextBox 4"/>
          <p:cNvSpPr txBox="1"/>
          <p:nvPr/>
        </p:nvSpPr>
        <p:spPr>
          <a:xfrm>
            <a:off x="1325880" y="1947672"/>
            <a:ext cx="4587087" cy="685800"/>
          </a:xfrm>
          <a:prstGeom prst="rect">
            <a:avLst/>
          </a:prstGeom>
          <a:noFill/>
        </p:spPr>
        <p:txBody>
          <a:bodyPr wrap="square" anchor="t" lIns="0" rIns="0" tIns="0" bIns="0">
            <a:spAutoFit/>
          </a:bodyPr>
          <a:lstStyle/>
          <a:p>
            <a:pPr algn="l">
              <a:spcBef>
                <a:spcPts val="0"/>
              </a:spcBef>
              <a:spcAft>
                <a:spcPts val="100"/>
              </a:spcAft>
            </a:pPr>
            <a:r>
              <a:rPr sz="1550" b="1" i="0">
                <a:solidFill>
                  <a:srgbClr val="E6EDF3"/>
                </a:solidFill>
                <a:latin typeface="Segoe UI"/>
              </a:rPr>
              <a:t>Capture</a:t>
            </a:r>
          </a:p>
          <a:p>
            <a:pPr algn="l">
              <a:lnSpc>
                <a:spcPct val="115000"/>
              </a:lnSpc>
              <a:spcBef>
                <a:spcPts val="0"/>
              </a:spcBef>
              <a:spcAft>
                <a:spcPts val="0"/>
              </a:spcAft>
            </a:pPr>
            <a:r>
              <a:rPr sz="1250" b="0" i="0">
                <a:solidFill>
                  <a:srgbClr val="8B949E"/>
                </a:solidFill>
                <a:latin typeface="Segoe UI"/>
              </a:rPr>
              <a:t>Start a session, open the billing page, watch the calls arrive.</a:t>
            </a:r>
          </a:p>
        </p:txBody>
      </p:sp>
      <p:sp>
        <p:nvSpPr>
          <p:cNvPr id="6" name="Rounded Rectangle 5"/>
          <p:cNvSpPr/>
          <p:nvPr/>
        </p:nvSpPr>
        <p:spPr>
          <a:xfrm>
            <a:off x="6233007" y="1965960"/>
            <a:ext cx="384048" cy="384048"/>
          </a:xfrm>
          <a:prstGeom prst="roundRect">
            <a:avLst>
              <a:gd name="adj" fmla="val 50000"/>
            </a:avLst>
          </a:prstGeom>
          <a:noFill/>
          <a:ln w="1905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300" b="1" i="0">
                <a:solidFill>
                  <a:srgbClr val="F85149"/>
                </a:solidFill>
                <a:latin typeface="Consolas"/>
              </a:rPr>
              <a:t>2</a:t>
            </a:r>
          </a:p>
        </p:txBody>
      </p:sp>
      <p:sp>
        <p:nvSpPr>
          <p:cNvPr id="7" name="TextBox 6"/>
          <p:cNvSpPr txBox="1"/>
          <p:nvPr/>
        </p:nvSpPr>
        <p:spPr>
          <a:xfrm>
            <a:off x="6781647" y="1947672"/>
            <a:ext cx="4587087" cy="685800"/>
          </a:xfrm>
          <a:prstGeom prst="rect">
            <a:avLst/>
          </a:prstGeom>
          <a:noFill/>
        </p:spPr>
        <p:txBody>
          <a:bodyPr wrap="square" anchor="t" lIns="0" rIns="0" tIns="0" bIns="0">
            <a:spAutoFit/>
          </a:bodyPr>
          <a:lstStyle/>
          <a:p>
            <a:pPr algn="l">
              <a:spcBef>
                <a:spcPts val="0"/>
              </a:spcBef>
              <a:spcAft>
                <a:spcPts val="100"/>
              </a:spcAft>
            </a:pPr>
            <a:r>
              <a:rPr sz="1550" b="1" i="0">
                <a:solidFill>
                  <a:srgbClr val="E6EDF3"/>
                </a:solidFill>
                <a:latin typeface="Segoe UI"/>
              </a:rPr>
              <a:t>Find</a:t>
            </a:r>
          </a:p>
          <a:p>
            <a:pPr algn="l">
              <a:lnSpc>
                <a:spcPct val="115000"/>
              </a:lnSpc>
              <a:spcBef>
                <a:spcPts val="0"/>
              </a:spcBef>
              <a:spcAft>
                <a:spcPts val="0"/>
              </a:spcAft>
            </a:pPr>
            <a:r>
              <a:rPr sz="1250" b="0" i="0">
                <a:solidFill>
                  <a:srgbClr val="8B949E"/>
                </a:solidFill>
                <a:latin typeface="Segoe UI"/>
              </a:rPr>
              <a:t>Filter with status:5xx, then clear it and search for offers.</a:t>
            </a:r>
          </a:p>
        </p:txBody>
      </p:sp>
      <p:sp>
        <p:nvSpPr>
          <p:cNvPr id="8" name="Rounded Rectangle 7"/>
          <p:cNvSpPr/>
          <p:nvPr/>
        </p:nvSpPr>
        <p:spPr>
          <a:xfrm>
            <a:off x="777240" y="2807208"/>
            <a:ext cx="384048" cy="384048"/>
          </a:xfrm>
          <a:prstGeom prst="roundRect">
            <a:avLst>
              <a:gd name="adj" fmla="val 50000"/>
            </a:avLst>
          </a:prstGeom>
          <a:noFill/>
          <a:ln w="1905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300" b="1" i="0">
                <a:solidFill>
                  <a:srgbClr val="F85149"/>
                </a:solidFill>
                <a:latin typeface="Consolas"/>
              </a:rPr>
              <a:t>3</a:t>
            </a:r>
          </a:p>
        </p:txBody>
      </p:sp>
      <p:sp>
        <p:nvSpPr>
          <p:cNvPr id="9" name="TextBox 8"/>
          <p:cNvSpPr txBox="1"/>
          <p:nvPr/>
        </p:nvSpPr>
        <p:spPr>
          <a:xfrm>
            <a:off x="1325880" y="2788920"/>
            <a:ext cx="4587087" cy="685800"/>
          </a:xfrm>
          <a:prstGeom prst="rect">
            <a:avLst/>
          </a:prstGeom>
          <a:noFill/>
        </p:spPr>
        <p:txBody>
          <a:bodyPr wrap="square" anchor="t" lIns="0" rIns="0" tIns="0" bIns="0">
            <a:spAutoFit/>
          </a:bodyPr>
          <a:lstStyle/>
          <a:p>
            <a:pPr algn="l">
              <a:spcBef>
                <a:spcPts val="0"/>
              </a:spcBef>
              <a:spcAft>
                <a:spcPts val="100"/>
              </a:spcAft>
            </a:pPr>
            <a:r>
              <a:rPr sz="1550" b="1" i="0">
                <a:solidFill>
                  <a:srgbClr val="E6EDF3"/>
                </a:solidFill>
                <a:latin typeface="Segoe UI"/>
              </a:rPr>
              <a:t>Inspect</a:t>
            </a:r>
          </a:p>
          <a:p>
            <a:pPr algn="l">
              <a:lnSpc>
                <a:spcPct val="115000"/>
              </a:lnSpc>
              <a:spcBef>
                <a:spcPts val="0"/>
              </a:spcBef>
              <a:spcAft>
                <a:spcPts val="0"/>
              </a:spcAft>
            </a:pPr>
            <a:r>
              <a:rPr sz="1250" b="0" i="0">
                <a:solidFill>
                  <a:srgbClr val="8B949E"/>
                </a:solidFill>
                <a:latin typeface="Segoe UI"/>
              </a:rPr>
              <a:t>Open the call, read the response payload and the failure analysis.</a:t>
            </a:r>
          </a:p>
        </p:txBody>
      </p:sp>
      <p:sp>
        <p:nvSpPr>
          <p:cNvPr id="10" name="Rounded Rectangle 9"/>
          <p:cNvSpPr/>
          <p:nvPr/>
        </p:nvSpPr>
        <p:spPr>
          <a:xfrm>
            <a:off x="6233007" y="2807208"/>
            <a:ext cx="384048" cy="384048"/>
          </a:xfrm>
          <a:prstGeom prst="roundRect">
            <a:avLst>
              <a:gd name="adj" fmla="val 50000"/>
            </a:avLst>
          </a:prstGeom>
          <a:noFill/>
          <a:ln w="1905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300" b="1" i="0">
                <a:solidFill>
                  <a:srgbClr val="F85149"/>
                </a:solidFill>
                <a:latin typeface="Consolas"/>
              </a:rPr>
              <a:t>4</a:t>
            </a:r>
          </a:p>
        </p:txBody>
      </p:sp>
      <p:sp>
        <p:nvSpPr>
          <p:cNvPr id="11" name="TextBox 10"/>
          <p:cNvSpPr txBox="1"/>
          <p:nvPr/>
        </p:nvSpPr>
        <p:spPr>
          <a:xfrm>
            <a:off x="6781647" y="2788920"/>
            <a:ext cx="4587087" cy="685800"/>
          </a:xfrm>
          <a:prstGeom prst="rect">
            <a:avLst/>
          </a:prstGeom>
          <a:noFill/>
        </p:spPr>
        <p:txBody>
          <a:bodyPr wrap="square" anchor="t" lIns="0" rIns="0" tIns="0" bIns="0">
            <a:spAutoFit/>
          </a:bodyPr>
          <a:lstStyle/>
          <a:p>
            <a:pPr algn="l">
              <a:spcBef>
                <a:spcPts val="0"/>
              </a:spcBef>
              <a:spcAft>
                <a:spcPts val="100"/>
              </a:spcAft>
            </a:pPr>
            <a:r>
              <a:rPr sz="1550" b="1" i="0">
                <a:solidFill>
                  <a:srgbClr val="E6EDF3"/>
                </a:solidFill>
                <a:latin typeface="Segoe UI"/>
              </a:rPr>
              <a:t>Scope</a:t>
            </a:r>
          </a:p>
          <a:p>
            <a:pPr algn="l">
              <a:lnSpc>
                <a:spcPct val="115000"/>
              </a:lnSpc>
              <a:spcBef>
                <a:spcPts val="0"/>
              </a:spcBef>
              <a:spcAft>
                <a:spcPts val="0"/>
              </a:spcAft>
            </a:pPr>
            <a:r>
              <a:rPr sz="1250" b="0" i="0">
                <a:solidFill>
                  <a:srgbClr val="8B949E"/>
                </a:solidFill>
                <a:latin typeface="Segoe UI"/>
              </a:rPr>
              <a:t>Switch to “This page”, then navigate and show the page filter working.</a:t>
            </a:r>
          </a:p>
        </p:txBody>
      </p:sp>
      <p:sp>
        <p:nvSpPr>
          <p:cNvPr id="12" name="Rounded Rectangle 11"/>
          <p:cNvSpPr/>
          <p:nvPr/>
        </p:nvSpPr>
        <p:spPr>
          <a:xfrm>
            <a:off x="777240" y="3648456"/>
            <a:ext cx="384048" cy="384048"/>
          </a:xfrm>
          <a:prstGeom prst="roundRect">
            <a:avLst>
              <a:gd name="adj" fmla="val 50000"/>
            </a:avLst>
          </a:prstGeom>
          <a:noFill/>
          <a:ln w="1905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300" b="1" i="0">
                <a:solidFill>
                  <a:srgbClr val="F85149"/>
                </a:solidFill>
                <a:latin typeface="Consolas"/>
              </a:rPr>
              <a:t>5</a:t>
            </a:r>
          </a:p>
        </p:txBody>
      </p:sp>
      <p:sp>
        <p:nvSpPr>
          <p:cNvPr id="13" name="TextBox 12"/>
          <p:cNvSpPr txBox="1"/>
          <p:nvPr/>
        </p:nvSpPr>
        <p:spPr>
          <a:xfrm>
            <a:off x="1325880" y="3630168"/>
            <a:ext cx="4587087" cy="685800"/>
          </a:xfrm>
          <a:prstGeom prst="rect">
            <a:avLst/>
          </a:prstGeom>
          <a:noFill/>
        </p:spPr>
        <p:txBody>
          <a:bodyPr wrap="square" anchor="t" lIns="0" rIns="0" tIns="0" bIns="0">
            <a:spAutoFit/>
          </a:bodyPr>
          <a:lstStyle/>
          <a:p>
            <a:pPr algn="l">
              <a:spcBef>
                <a:spcPts val="0"/>
              </a:spcBef>
              <a:spcAft>
                <a:spcPts val="100"/>
              </a:spcAft>
            </a:pPr>
            <a:r>
              <a:rPr sz="1550" b="1" i="0">
                <a:solidFill>
                  <a:srgbClr val="E6EDF3"/>
                </a:solidFill>
                <a:latin typeface="Segoe UI"/>
              </a:rPr>
              <a:t>Mock</a:t>
            </a:r>
          </a:p>
          <a:p>
            <a:pPr algn="l">
              <a:lnSpc>
                <a:spcPct val="115000"/>
              </a:lnSpc>
              <a:spcBef>
                <a:spcPts val="0"/>
              </a:spcBef>
              <a:spcAft>
                <a:spcPts val="0"/>
              </a:spcAft>
            </a:pPr>
            <a:r>
              <a:rPr sz="1250" b="0" i="0">
                <a:solidFill>
                  <a:srgbClr val="8B949E"/>
                </a:solidFill>
                <a:latin typeface="Segoe UI"/>
              </a:rPr>
              <a:t>Mock this call → Service unavailable (503) → enable it.</a:t>
            </a:r>
          </a:p>
        </p:txBody>
      </p:sp>
      <p:sp>
        <p:nvSpPr>
          <p:cNvPr id="14" name="Rounded Rectangle 13"/>
          <p:cNvSpPr/>
          <p:nvPr/>
        </p:nvSpPr>
        <p:spPr>
          <a:xfrm>
            <a:off x="6233007" y="3648456"/>
            <a:ext cx="384048" cy="384048"/>
          </a:xfrm>
          <a:prstGeom prst="roundRect">
            <a:avLst>
              <a:gd name="adj" fmla="val 50000"/>
            </a:avLst>
          </a:prstGeom>
          <a:noFill/>
          <a:ln w="1905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300" b="1" i="0">
                <a:solidFill>
                  <a:srgbClr val="F85149"/>
                </a:solidFill>
                <a:latin typeface="Consolas"/>
              </a:rPr>
              <a:t>6</a:t>
            </a:r>
          </a:p>
        </p:txBody>
      </p:sp>
      <p:sp>
        <p:nvSpPr>
          <p:cNvPr id="15" name="TextBox 14"/>
          <p:cNvSpPr txBox="1"/>
          <p:nvPr/>
        </p:nvSpPr>
        <p:spPr>
          <a:xfrm>
            <a:off x="6781647" y="3630168"/>
            <a:ext cx="4587087" cy="685800"/>
          </a:xfrm>
          <a:prstGeom prst="rect">
            <a:avLst/>
          </a:prstGeom>
          <a:noFill/>
        </p:spPr>
        <p:txBody>
          <a:bodyPr wrap="square" anchor="t" lIns="0" rIns="0" tIns="0" bIns="0">
            <a:spAutoFit/>
          </a:bodyPr>
          <a:lstStyle/>
          <a:p>
            <a:pPr algn="l">
              <a:spcBef>
                <a:spcPts val="0"/>
              </a:spcBef>
              <a:spcAft>
                <a:spcPts val="100"/>
              </a:spcAft>
            </a:pPr>
            <a:r>
              <a:rPr sz="1550" b="1" i="0">
                <a:solidFill>
                  <a:srgbClr val="E6EDF3"/>
                </a:solidFill>
                <a:latin typeface="Segoe UI"/>
              </a:rPr>
              <a:t>Verify</a:t>
            </a:r>
          </a:p>
          <a:p>
            <a:pPr algn="l">
              <a:lnSpc>
                <a:spcPct val="115000"/>
              </a:lnSpc>
              <a:spcBef>
                <a:spcPts val="0"/>
              </a:spcBef>
              <a:spcAft>
                <a:spcPts val="0"/>
              </a:spcAft>
            </a:pPr>
            <a:r>
              <a:rPr sz="1250" b="0" i="0">
                <a:solidFill>
                  <a:srgbClr val="8B949E"/>
                </a:solidFill>
                <a:latin typeface="Segoe UI"/>
              </a:rPr>
              <a:t>Repeat the journey and watch how the UI handles the failure.</a:t>
            </a:r>
          </a:p>
        </p:txBody>
      </p:sp>
      <p:sp>
        <p:nvSpPr>
          <p:cNvPr id="16" name="Rounded Rectangle 15"/>
          <p:cNvSpPr/>
          <p:nvPr/>
        </p:nvSpPr>
        <p:spPr>
          <a:xfrm>
            <a:off x="777240" y="4489704"/>
            <a:ext cx="384048" cy="384048"/>
          </a:xfrm>
          <a:prstGeom prst="roundRect">
            <a:avLst>
              <a:gd name="adj" fmla="val 50000"/>
            </a:avLst>
          </a:prstGeom>
          <a:noFill/>
          <a:ln w="1905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r>
              <a:rPr sz="1300" b="1" i="0">
                <a:solidFill>
                  <a:srgbClr val="F85149"/>
                </a:solidFill>
                <a:latin typeface="Consolas"/>
              </a:rPr>
              <a:t>7</a:t>
            </a:r>
          </a:p>
        </p:txBody>
      </p:sp>
      <p:sp>
        <p:nvSpPr>
          <p:cNvPr id="17" name="TextBox 16"/>
          <p:cNvSpPr txBox="1"/>
          <p:nvPr/>
        </p:nvSpPr>
        <p:spPr>
          <a:xfrm>
            <a:off x="1325880" y="4471416"/>
            <a:ext cx="4587087" cy="685800"/>
          </a:xfrm>
          <a:prstGeom prst="rect">
            <a:avLst/>
          </a:prstGeom>
          <a:noFill/>
        </p:spPr>
        <p:txBody>
          <a:bodyPr wrap="square" anchor="t" lIns="0" rIns="0" tIns="0" bIns="0">
            <a:spAutoFit/>
          </a:bodyPr>
          <a:lstStyle/>
          <a:p>
            <a:pPr algn="l">
              <a:spcBef>
                <a:spcPts val="0"/>
              </a:spcBef>
              <a:spcAft>
                <a:spcPts val="100"/>
              </a:spcAft>
            </a:pPr>
            <a:r>
              <a:rPr sz="1550" b="1" i="0">
                <a:solidFill>
                  <a:srgbClr val="E6EDF3"/>
                </a:solidFill>
                <a:latin typeface="Segoe UI"/>
              </a:rPr>
              <a:t>Prove</a:t>
            </a:r>
          </a:p>
          <a:p>
            <a:pPr algn="l">
              <a:lnSpc>
                <a:spcPct val="115000"/>
              </a:lnSpc>
              <a:spcBef>
                <a:spcPts val="0"/>
              </a:spcBef>
              <a:spcAft>
                <a:spcPts val="0"/>
              </a:spcAft>
            </a:pPr>
            <a:r>
              <a:rPr sz="1250" b="0" i="0">
                <a:solidFill>
                  <a:srgbClr val="8B949E"/>
                </a:solidFill>
                <a:latin typeface="Segoe UI"/>
              </a:rPr>
              <a:t>Extract → cURL for the developer, then the full evidence pack.</a:t>
            </a:r>
          </a:p>
        </p:txBody>
      </p:sp>
      <p:sp>
        <p:nvSpPr>
          <p:cNvPr id="18" name="TextBox 17"/>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19" name="TextBox 18"/>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58A6FF"/>
                </a:solidFill>
                <a:latin typeface="Segoe UI"/>
              </a:rPr>
              <a:t>ACCESSIBILITY</a:t>
            </a:r>
          </a:p>
          <a:p>
            <a:pPr algn="l">
              <a:lnSpc>
                <a:spcPct val="100000"/>
              </a:lnSpc>
              <a:spcBef>
                <a:spcPts val="0"/>
              </a:spcBef>
              <a:spcAft>
                <a:spcPts val="400"/>
              </a:spcAft>
            </a:pPr>
            <a:r>
              <a:rPr sz="3300" b="1" i="0">
                <a:solidFill>
                  <a:srgbClr val="E6EDF3"/>
                </a:solidFill>
                <a:latin typeface="Segoe UI"/>
              </a:rPr>
              <a:t>Usable without a mouse</a:t>
            </a:r>
          </a:p>
          <a:p>
            <a:pPr algn="l">
              <a:lnSpc>
                <a:spcPct val="115000"/>
              </a:lnSpc>
              <a:spcBef>
                <a:spcPts val="0"/>
              </a:spcBef>
              <a:spcAft>
                <a:spcPts val="0"/>
              </a:spcAft>
            </a:pPr>
            <a:r>
              <a:rPr sz="1550" b="0" i="0">
                <a:solidFill>
                  <a:srgbClr val="8B949E"/>
                </a:solidFill>
                <a:latin typeface="Segoe UI"/>
              </a:rPr>
              <a:t>Every control is reachable by keyboard, with visible focus throughout.</a:t>
            </a:r>
          </a:p>
        </p:txBody>
      </p:sp>
      <p:sp>
        <p:nvSpPr>
          <p:cNvPr id="4" name="Rounded Rectangle 3"/>
          <p:cNvSpPr/>
          <p:nvPr/>
        </p:nvSpPr>
        <p:spPr>
          <a:xfrm>
            <a:off x="777240" y="1783080"/>
            <a:ext cx="5158587" cy="25146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1000"/>
              </a:spcAft>
            </a:pPr>
            <a:r>
              <a:rPr sz="1100" b="1" i="0">
                <a:solidFill>
                  <a:srgbClr val="58A6FF"/>
                </a:solidFill>
                <a:latin typeface="Segoe UI"/>
              </a:rPr>
              <a:t>SHORTCUTS</a:t>
            </a:r>
          </a:p>
          <a:p>
            <a:pPr>
              <a:spcAft>
                <a:spcPts val="800"/>
              </a:spcAft>
            </a:pPr>
            <a:r>
              <a:rPr sz="1300" b="1" i="0">
                <a:solidFill>
                  <a:srgbClr val="58A6FF"/>
                </a:solidFill>
                <a:latin typeface="Consolas"/>
              </a:rPr>
              <a:t>/               </a:t>
            </a:r>
            <a:r>
              <a:rPr sz="1300" b="0" i="0">
                <a:solidFill>
                  <a:srgbClr val="B9C2CC"/>
                </a:solidFill>
                <a:latin typeface="Segoe UI"/>
              </a:rPr>
              <a:t>Focus the search box from anywhere</a:t>
            </a:r>
          </a:p>
          <a:p>
            <a:pPr>
              <a:spcAft>
                <a:spcPts val="800"/>
              </a:spcAft>
            </a:pPr>
            <a:r>
              <a:rPr sz="1300" b="1" i="0">
                <a:solidFill>
                  <a:srgbClr val="58A6FF"/>
                </a:solidFill>
                <a:latin typeface="Consolas"/>
              </a:rPr>
              <a:t>Esc             </a:t>
            </a:r>
            <a:r>
              <a:rPr sz="1300" b="0" i="0">
                <a:solidFill>
                  <a:srgbClr val="B9C2CC"/>
                </a:solidFill>
                <a:latin typeface="Segoe UI"/>
              </a:rPr>
              <a:t>Clear the search, close a popover or the tour</a:t>
            </a:r>
          </a:p>
          <a:p>
            <a:pPr>
              <a:spcAft>
                <a:spcPts val="800"/>
              </a:spcAft>
            </a:pPr>
            <a:r>
              <a:rPr sz="1300" b="1" i="0">
                <a:solidFill>
                  <a:srgbClr val="58A6FF"/>
                </a:solidFill>
                <a:latin typeface="Consolas"/>
              </a:rPr>
              <a:t>Tab             </a:t>
            </a:r>
            <a:r>
              <a:rPr sz="1300" b="0" i="0">
                <a:solidFill>
                  <a:srgbClr val="B9C2CC"/>
                </a:solidFill>
                <a:latin typeface="Segoe UI"/>
              </a:rPr>
              <a:t>Move through controls in reading order</a:t>
            </a:r>
          </a:p>
          <a:p>
            <a:pPr>
              <a:spcAft>
                <a:spcPts val="800"/>
              </a:spcAft>
            </a:pPr>
            <a:r>
              <a:rPr sz="1300" b="1" i="0">
                <a:solidFill>
                  <a:srgbClr val="58A6FF"/>
                </a:solidFill>
                <a:latin typeface="Consolas"/>
              </a:rPr>
              <a:t>Enter / Space   </a:t>
            </a:r>
            <a:r>
              <a:rPr sz="1300" b="0" i="0">
                <a:solidFill>
                  <a:srgbClr val="B9C2CC"/>
                </a:solidFill>
                <a:latin typeface="Segoe UI"/>
              </a:rPr>
              <a:t>Open the selected row or toggle a switch</a:t>
            </a:r>
          </a:p>
          <a:p>
            <a:pPr>
              <a:spcAft>
                <a:spcPts val="800"/>
              </a:spcAft>
            </a:pPr>
            <a:r>
              <a:rPr sz="1300" b="1" i="0">
                <a:solidFill>
                  <a:srgbClr val="58A6FF"/>
                </a:solidFill>
                <a:latin typeface="Consolas"/>
              </a:rPr>
              <a:t>← →             </a:t>
            </a:r>
            <a:r>
              <a:rPr sz="1300" b="0" i="0">
                <a:solidFill>
                  <a:srgbClr val="B9C2CC"/>
                </a:solidFill>
                <a:latin typeface="Segoe UI"/>
              </a:rPr>
              <a:t>Move through walkthrough slides</a:t>
            </a:r>
          </a:p>
          <a:p>
            <a:pPr>
              <a:spcAft>
                <a:spcPts val="800"/>
              </a:spcAft>
            </a:pPr>
            <a:r>
              <a:rPr sz="1300" b="1" i="0">
                <a:solidFill>
                  <a:srgbClr val="58A6FF"/>
                </a:solidFill>
                <a:latin typeface="Consolas"/>
              </a:rPr>
              <a:t>Home / End      </a:t>
            </a:r>
            <a:r>
              <a:rPr sz="1300" b="0" i="0">
                <a:solidFill>
                  <a:srgbClr val="B9C2CC"/>
                </a:solidFill>
                <a:latin typeface="Segoe UI"/>
              </a:rPr>
              <a:t>Jump to the first or last slide</a:t>
            </a:r>
          </a:p>
        </p:txBody>
      </p:sp>
      <p:sp>
        <p:nvSpPr>
          <p:cNvPr id="5" name="Rounded Rectangle 4"/>
          <p:cNvSpPr/>
          <p:nvPr/>
        </p:nvSpPr>
        <p:spPr>
          <a:xfrm>
            <a:off x="6255867" y="1783080"/>
            <a:ext cx="5158587" cy="2514600"/>
          </a:xfrm>
          <a:prstGeom prst="roundRect">
            <a:avLst>
              <a:gd name="adj" fmla="val 4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1000"/>
              </a:spcAft>
            </a:pPr>
            <a:r>
              <a:rPr sz="1100" b="1" i="0">
                <a:solidFill>
                  <a:srgbClr val="3FB950"/>
                </a:solidFill>
                <a:latin typeface="Segoe UI"/>
              </a:rPr>
              <a:t>BUILT IN</a:t>
            </a:r>
          </a:p>
          <a:p>
            <a:pPr>
              <a:lnSpc>
                <a:spcPct val="120000"/>
              </a:lnSpc>
              <a:spcAft>
                <a:spcPts val="900"/>
              </a:spcAft>
            </a:pPr>
            <a:r>
              <a:rPr sz="1300" b="1" i="0">
                <a:solidFill>
                  <a:srgbClr val="3FB950"/>
                </a:solidFill>
                <a:latin typeface="Segoe UI"/>
              </a:rPr>
              <a:t>▪  </a:t>
            </a:r>
            <a:r>
              <a:rPr sz="1300" b="0" i="0">
                <a:solidFill>
                  <a:srgbClr val="B9C2CC"/>
                </a:solidFill>
                <a:latin typeface="Segoe UI"/>
              </a:rPr>
              <a:t>Dark and light themes, both meeting contrast requirements</a:t>
            </a:r>
          </a:p>
          <a:p>
            <a:pPr>
              <a:lnSpc>
                <a:spcPct val="120000"/>
              </a:lnSpc>
              <a:spcAft>
                <a:spcPts val="900"/>
              </a:spcAft>
            </a:pPr>
            <a:r>
              <a:rPr sz="1300" b="1" i="0">
                <a:solidFill>
                  <a:srgbClr val="3FB950"/>
                </a:solidFill>
                <a:latin typeface="Segoe UI"/>
              </a:rPr>
              <a:t>▪  </a:t>
            </a:r>
            <a:r>
              <a:rPr sz="1300" b="0" i="0">
                <a:solidFill>
                  <a:srgbClr val="B9C2CC"/>
                </a:solidFill>
                <a:latin typeface="Segoe UI"/>
              </a:rPr>
              <a:t>Status changes announced politely, never interrupting</a:t>
            </a:r>
          </a:p>
          <a:p>
            <a:pPr>
              <a:lnSpc>
                <a:spcPct val="120000"/>
              </a:lnSpc>
              <a:spcAft>
                <a:spcPts val="900"/>
              </a:spcAft>
            </a:pPr>
            <a:r>
              <a:rPr sz="1300" b="1" i="0">
                <a:solidFill>
                  <a:srgbClr val="3FB950"/>
                </a:solidFill>
                <a:latin typeface="Segoe UI"/>
              </a:rPr>
              <a:t>▪  </a:t>
            </a:r>
            <a:r>
              <a:rPr sz="1300" b="0" i="0">
                <a:solidFill>
                  <a:srgbClr val="B9C2CC"/>
                </a:solidFill>
                <a:latin typeface="Segoe UI"/>
              </a:rPr>
              <a:t>Tables expose rows to assistive technology</a:t>
            </a:r>
          </a:p>
          <a:p>
            <a:pPr>
              <a:lnSpc>
                <a:spcPct val="120000"/>
              </a:lnSpc>
              <a:spcAft>
                <a:spcPts val="900"/>
              </a:spcAft>
            </a:pPr>
            <a:r>
              <a:rPr sz="1300" b="1" i="0">
                <a:solidFill>
                  <a:srgbClr val="3FB950"/>
                </a:solidFill>
                <a:latin typeface="Segoe UI"/>
              </a:rPr>
              <a:t>▪  </a:t>
            </a:r>
            <a:r>
              <a:rPr sz="1300" b="0" i="0">
                <a:solidFill>
                  <a:srgbClr val="B9C2CC"/>
                </a:solidFill>
                <a:latin typeface="Segoe UI"/>
              </a:rPr>
              <a:t>Modal dialogs trap focus and restore it on close</a:t>
            </a:r>
          </a:p>
          <a:p>
            <a:pPr>
              <a:lnSpc>
                <a:spcPct val="120000"/>
              </a:lnSpc>
              <a:spcAft>
                <a:spcPts val="900"/>
              </a:spcAft>
            </a:pPr>
            <a:r>
              <a:rPr sz="1300" b="1" i="0">
                <a:solidFill>
                  <a:srgbClr val="3FB950"/>
                </a:solidFill>
                <a:latin typeface="Segoe UI"/>
              </a:rPr>
              <a:t>▪  </a:t>
            </a:r>
            <a:r>
              <a:rPr sz="1300" b="0" i="0">
                <a:solidFill>
                  <a:srgbClr val="B9C2CC"/>
                </a:solidFill>
                <a:latin typeface="Segoe UI"/>
              </a:rPr>
              <a:t>Respects the reduced-motion system preference</a:t>
            </a:r>
          </a:p>
        </p:txBody>
      </p:sp>
      <p:sp>
        <p:nvSpPr>
          <p:cNvPr id="6" name="Rounded Rectangle 5"/>
          <p:cNvSpPr/>
          <p:nvPr/>
        </p:nvSpPr>
        <p:spPr>
          <a:xfrm>
            <a:off x="777240" y="4507992"/>
            <a:ext cx="10637215" cy="713232"/>
          </a:xfrm>
          <a:prstGeom prst="roundRect">
            <a:avLst>
              <a:gd name="adj" fmla="val 4000"/>
            </a:avLst>
          </a:prstGeom>
          <a:solidFill>
            <a:srgbClr val="1C2128"/>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r>
              <a:rPr sz="1350" b="1" i="0">
                <a:solidFill>
                  <a:srgbClr val="E6EDF3"/>
                </a:solidFill>
                <a:latin typeface="Segoe UI"/>
              </a:rPr>
              <a:t>Why this is in a QA deck:  </a:t>
            </a:r>
            <a:r>
              <a:rPr sz="1350" b="0" i="0">
                <a:solidFill>
                  <a:srgbClr val="B9C2CC"/>
                </a:solidFill>
                <a:latin typeface="Segoe UI"/>
              </a:rPr>
              <a:t>we test accessibility for our customers. A tool that fails the same standards would be hard to defend.</a:t>
            </a:r>
          </a:p>
        </p:txBody>
      </p:sp>
      <p:sp>
        <p:nvSpPr>
          <p:cNvPr id="7" name="TextBox 6"/>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8" name="TextBox 7"/>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76072" y="566928"/>
            <a:ext cx="64008" cy="384048"/>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637215" cy="1143000"/>
          </a:xfrm>
          <a:prstGeom prst="rect">
            <a:avLst/>
          </a:prstGeom>
          <a:noFill/>
        </p:spPr>
        <p:txBody>
          <a:bodyPr wrap="square" anchor="t" lIns="0" rIns="0" tIns="0" bIns="0">
            <a:spAutoFit/>
          </a:bodyPr>
          <a:lstStyle/>
          <a:p>
            <a:pPr algn="l">
              <a:spcBef>
                <a:spcPts val="0"/>
              </a:spcBef>
              <a:spcAft>
                <a:spcPts val="400"/>
              </a:spcAft>
            </a:pPr>
            <a:r>
              <a:rPr sz="1250" b="1" i="0">
                <a:solidFill>
                  <a:srgbClr val="3FB950"/>
                </a:solidFill>
                <a:latin typeface="Segoe UI"/>
              </a:rPr>
              <a:t>NEXT STEPS</a:t>
            </a:r>
          </a:p>
          <a:p>
            <a:pPr algn="l">
              <a:lnSpc>
                <a:spcPct val="100000"/>
              </a:lnSpc>
              <a:spcBef>
                <a:spcPts val="0"/>
              </a:spcBef>
              <a:spcAft>
                <a:spcPts val="400"/>
              </a:spcAft>
            </a:pPr>
            <a:r>
              <a:rPr sz="3300" b="1" i="0">
                <a:solidFill>
                  <a:srgbClr val="E6EDF3"/>
                </a:solidFill>
                <a:latin typeface="Segoe UI"/>
              </a:rPr>
              <a:t>How we roll this out</a:t>
            </a:r>
          </a:p>
          <a:p>
            <a:pPr algn="l">
              <a:lnSpc>
                <a:spcPct val="115000"/>
              </a:lnSpc>
              <a:spcBef>
                <a:spcPts val="0"/>
              </a:spcBef>
              <a:spcAft>
                <a:spcPts val="0"/>
              </a:spcAft>
            </a:pPr>
            <a:r>
              <a:rPr sz="1550" b="0" i="0">
                <a:solidFill>
                  <a:srgbClr val="8B949E"/>
                </a:solidFill>
                <a:latin typeface="Segoe UI"/>
              </a:rPr>
              <a:t>Browser-side testing needs nothing from anyone. Server-side needs a conversation.</a:t>
            </a:r>
          </a:p>
        </p:txBody>
      </p:sp>
      <p:sp>
        <p:nvSpPr>
          <p:cNvPr id="4" name="Rounded Rectangle 3"/>
          <p:cNvSpPr/>
          <p:nvPr/>
        </p:nvSpPr>
        <p:spPr>
          <a:xfrm>
            <a:off x="777240" y="1783080"/>
            <a:ext cx="3393338" cy="2743200"/>
          </a:xfrm>
          <a:prstGeom prst="roundRect">
            <a:avLst>
              <a:gd name="adj" fmla="val 4000"/>
            </a:avLst>
          </a:prstGeom>
          <a:solidFill>
            <a:srgbClr val="161B22"/>
          </a:solidFill>
          <a:ln w="15875">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300"/>
              </a:spcAft>
            </a:pPr>
            <a:r>
              <a:rPr sz="1150" b="1" i="0">
                <a:solidFill>
                  <a:srgbClr val="3FB950"/>
                </a:solidFill>
                <a:latin typeface="Segoe UI"/>
              </a:rPr>
              <a:t>THIS WEEK</a:t>
            </a:r>
          </a:p>
          <a:p>
            <a:pPr algn="l">
              <a:lnSpc>
                <a:spcPct val="105000"/>
              </a:lnSpc>
              <a:spcBef>
                <a:spcPts val="0"/>
              </a:spcBef>
              <a:spcAft>
                <a:spcPts val="1100"/>
              </a:spcAft>
            </a:pPr>
            <a:r>
              <a:rPr sz="1700" b="1" i="0">
                <a:solidFill>
                  <a:srgbClr val="E6EDF3"/>
                </a:solidFill>
                <a:latin typeface="Segoe UI"/>
              </a:rPr>
              <a:t>Everyone</a:t>
            </a:r>
          </a:p>
          <a:p>
            <a:pPr>
              <a:lnSpc>
                <a:spcPct val="120000"/>
              </a:lnSpc>
              <a:spcAft>
                <a:spcPts val="800"/>
              </a:spcAft>
            </a:pPr>
            <a:r>
              <a:rPr sz="1250" b="1" i="0">
                <a:solidFill>
                  <a:srgbClr val="3FB950"/>
                </a:solidFill>
                <a:latin typeface="Segoe UI"/>
              </a:rPr>
              <a:t>▪  </a:t>
            </a:r>
            <a:r>
              <a:rPr sz="1250" b="0" i="0">
                <a:solidFill>
                  <a:srgbClr val="B9C2CC"/>
                </a:solidFill>
                <a:latin typeface="Segoe UI"/>
              </a:rPr>
              <a:t>Install the extension and run the walkthrough</a:t>
            </a:r>
          </a:p>
          <a:p>
            <a:pPr>
              <a:lnSpc>
                <a:spcPct val="120000"/>
              </a:lnSpc>
              <a:spcAft>
                <a:spcPts val="800"/>
              </a:spcAft>
            </a:pPr>
            <a:r>
              <a:rPr sz="1250" b="1" i="0">
                <a:solidFill>
                  <a:srgbClr val="3FB950"/>
                </a:solidFill>
                <a:latin typeface="Segoe UI"/>
              </a:rPr>
              <a:t>▪  </a:t>
            </a:r>
            <a:r>
              <a:rPr sz="1250" b="0" i="0">
                <a:solidFill>
                  <a:srgbClr val="B9C2CC"/>
                </a:solidFill>
                <a:latin typeface="Segoe UI"/>
              </a:rPr>
              <a:t>Capture one real journey on your current story</a:t>
            </a:r>
          </a:p>
          <a:p>
            <a:pPr>
              <a:lnSpc>
                <a:spcPct val="120000"/>
              </a:lnSpc>
              <a:spcAft>
                <a:spcPts val="800"/>
              </a:spcAft>
            </a:pPr>
            <a:r>
              <a:rPr sz="1250" b="1" i="0">
                <a:solidFill>
                  <a:srgbClr val="3FB950"/>
                </a:solidFill>
                <a:latin typeface="Segoe UI"/>
              </a:rPr>
              <a:t>▪  </a:t>
            </a:r>
            <a:r>
              <a:rPr sz="1250" b="0" i="0">
                <a:solidFill>
                  <a:srgbClr val="B9C2CC"/>
                </a:solidFill>
                <a:latin typeface="Segoe UI"/>
              </a:rPr>
              <a:t>Export a cURL into your next defect</a:t>
            </a:r>
          </a:p>
        </p:txBody>
      </p:sp>
      <p:sp>
        <p:nvSpPr>
          <p:cNvPr id="5" name="Rounded Rectangle 4"/>
          <p:cNvSpPr/>
          <p:nvPr/>
        </p:nvSpPr>
        <p:spPr>
          <a:xfrm>
            <a:off x="4399178" y="1783080"/>
            <a:ext cx="3393338" cy="2743200"/>
          </a:xfrm>
          <a:prstGeom prst="roundRect">
            <a:avLst>
              <a:gd name="adj" fmla="val 4000"/>
            </a:avLst>
          </a:prstGeom>
          <a:solidFill>
            <a:srgbClr val="161B22"/>
          </a:solidFill>
          <a:ln w="15875">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300"/>
              </a:spcAft>
            </a:pPr>
            <a:r>
              <a:rPr sz="1150" b="1" i="0">
                <a:solidFill>
                  <a:srgbClr val="58A6FF"/>
                </a:solidFill>
                <a:latin typeface="Segoe UI"/>
              </a:rPr>
              <a:t>THIS SPRINT</a:t>
            </a:r>
          </a:p>
          <a:p>
            <a:pPr algn="l">
              <a:lnSpc>
                <a:spcPct val="105000"/>
              </a:lnSpc>
              <a:spcBef>
                <a:spcPts val="0"/>
              </a:spcBef>
              <a:spcAft>
                <a:spcPts val="1100"/>
              </a:spcAft>
            </a:pPr>
            <a:r>
              <a:rPr sz="1700" b="1" i="0">
                <a:solidFill>
                  <a:srgbClr val="E6EDF3"/>
                </a:solidFill>
                <a:latin typeface="Segoe UI"/>
              </a:rPr>
              <a:t>Per squad</a:t>
            </a:r>
          </a:p>
          <a:p>
            <a:pPr>
              <a:lnSpc>
                <a:spcPct val="120000"/>
              </a:lnSpc>
              <a:spcAft>
                <a:spcPts val="800"/>
              </a:spcAft>
            </a:pPr>
            <a:r>
              <a:rPr sz="1250" b="1" i="0">
                <a:solidFill>
                  <a:srgbClr val="58A6FF"/>
                </a:solidFill>
                <a:latin typeface="Segoe UI"/>
              </a:rPr>
              <a:t>▪  </a:t>
            </a:r>
            <a:r>
              <a:rPr sz="1250" b="0" i="0">
                <a:solidFill>
                  <a:srgbClr val="B9C2CC"/>
                </a:solidFill>
                <a:latin typeface="Segoe UI"/>
              </a:rPr>
              <a:t>Pick one negative path you have never tested</a:t>
            </a:r>
          </a:p>
          <a:p>
            <a:pPr>
              <a:lnSpc>
                <a:spcPct val="120000"/>
              </a:lnSpc>
              <a:spcAft>
                <a:spcPts val="800"/>
              </a:spcAft>
            </a:pPr>
            <a:r>
              <a:rPr sz="1250" b="1" i="0">
                <a:solidFill>
                  <a:srgbClr val="58A6FF"/>
                </a:solidFill>
                <a:latin typeface="Segoe UI"/>
              </a:rPr>
              <a:t>▪  </a:t>
            </a:r>
            <a:r>
              <a:rPr sz="1250" b="0" i="0">
                <a:solidFill>
                  <a:srgbClr val="B9C2CC"/>
                </a:solidFill>
                <a:latin typeface="Segoe UI"/>
              </a:rPr>
              <a:t>Mock it, verify the UI, attach the evidence pack</a:t>
            </a:r>
          </a:p>
          <a:p>
            <a:pPr>
              <a:lnSpc>
                <a:spcPct val="120000"/>
              </a:lnSpc>
              <a:spcAft>
                <a:spcPts val="800"/>
              </a:spcAft>
            </a:pPr>
            <a:r>
              <a:rPr sz="1250" b="1" i="0">
                <a:solidFill>
                  <a:srgbClr val="58A6FF"/>
                </a:solidFill>
                <a:latin typeface="Segoe UI"/>
              </a:rPr>
              <a:t>▪  </a:t>
            </a:r>
            <a:r>
              <a:rPr sz="1250" b="0" i="0">
                <a:solidFill>
                  <a:srgbClr val="B9C2CC"/>
                </a:solidFill>
                <a:latin typeface="Segoe UI"/>
              </a:rPr>
              <a:t>Bring the result to the next guild session</a:t>
            </a:r>
          </a:p>
        </p:txBody>
      </p:sp>
      <p:sp>
        <p:nvSpPr>
          <p:cNvPr id="6" name="Rounded Rectangle 5"/>
          <p:cNvSpPr/>
          <p:nvPr/>
        </p:nvSpPr>
        <p:spPr>
          <a:xfrm>
            <a:off x="8021116" y="1783080"/>
            <a:ext cx="3393338" cy="2743200"/>
          </a:xfrm>
          <a:prstGeom prst="roundRect">
            <a:avLst>
              <a:gd name="adj" fmla="val 4000"/>
            </a:avLst>
          </a:prstGeom>
          <a:solidFill>
            <a:srgbClr val="161B22"/>
          </a:solidFill>
          <a:ln w="15875">
            <a:solidFill>
              <a:srgbClr val="39C5C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300"/>
              </a:spcAft>
            </a:pPr>
            <a:r>
              <a:rPr sz="1150" b="1" i="0">
                <a:solidFill>
                  <a:srgbClr val="39C5CF"/>
                </a:solidFill>
                <a:latin typeface="Segoe UI"/>
              </a:rPr>
              <a:t>NEXT SPRINT</a:t>
            </a:r>
          </a:p>
          <a:p>
            <a:pPr algn="l">
              <a:lnSpc>
                <a:spcPct val="105000"/>
              </a:lnSpc>
              <a:spcBef>
                <a:spcPts val="0"/>
              </a:spcBef>
              <a:spcAft>
                <a:spcPts val="1100"/>
              </a:spcAft>
            </a:pPr>
            <a:r>
              <a:rPr sz="1700" b="1" i="0">
                <a:solidFill>
                  <a:srgbClr val="E6EDF3"/>
                </a:solidFill>
                <a:latin typeface="Segoe UI"/>
              </a:rPr>
              <a:t>With developers</a:t>
            </a:r>
          </a:p>
          <a:p>
            <a:pPr>
              <a:lnSpc>
                <a:spcPct val="120000"/>
              </a:lnSpc>
              <a:spcAft>
                <a:spcPts val="800"/>
              </a:spcAft>
            </a:pPr>
            <a:r>
              <a:rPr sz="1250" b="1" i="0">
                <a:solidFill>
                  <a:srgbClr val="39C5CF"/>
                </a:solidFill>
                <a:latin typeface="Segoe UI"/>
              </a:rPr>
              <a:t>▪  </a:t>
            </a:r>
            <a:r>
              <a:rPr sz="1250" b="0" i="0">
                <a:solidFill>
                  <a:srgbClr val="B9C2CC"/>
                </a:solidFill>
                <a:latin typeface="Segoe UI"/>
              </a:rPr>
              <a:t>Request the server SDK on a dev environment</a:t>
            </a:r>
          </a:p>
          <a:p>
            <a:pPr>
              <a:lnSpc>
                <a:spcPct val="120000"/>
              </a:lnSpc>
              <a:spcAft>
                <a:spcPts val="800"/>
              </a:spcAft>
            </a:pPr>
            <a:r>
              <a:rPr sz="1250" b="1" i="0">
                <a:solidFill>
                  <a:srgbClr val="39C5CF"/>
                </a:solidFill>
                <a:latin typeface="Segoe UI"/>
              </a:rPr>
              <a:t>▪  </a:t>
            </a:r>
            <a:r>
              <a:rPr sz="1250" b="0" i="0">
                <a:solidFill>
                  <a:srgbClr val="B9C2CC"/>
                </a:solidFill>
                <a:latin typeface="Segoe UI"/>
              </a:rPr>
              <a:t>Agree the control token handling with the team</a:t>
            </a:r>
          </a:p>
          <a:p>
            <a:pPr>
              <a:lnSpc>
                <a:spcPct val="120000"/>
              </a:lnSpc>
              <a:spcAft>
                <a:spcPts val="800"/>
              </a:spcAft>
            </a:pPr>
            <a:r>
              <a:rPr sz="1250" b="1" i="0">
                <a:solidFill>
                  <a:srgbClr val="39C5CF"/>
                </a:solidFill>
                <a:latin typeface="Segoe UI"/>
              </a:rPr>
              <a:t>▪  </a:t>
            </a:r>
            <a:r>
              <a:rPr sz="1250" b="0" i="0">
                <a:solidFill>
                  <a:srgbClr val="B9C2CC"/>
                </a:solidFill>
                <a:latin typeface="Segoe UI"/>
              </a:rPr>
              <a:t>Trial end-to-end traces on one journey</a:t>
            </a:r>
          </a:p>
        </p:txBody>
      </p:sp>
      <p:sp>
        <p:nvSpPr>
          <p:cNvPr id="7" name="Rounded Rectangle 6"/>
          <p:cNvSpPr/>
          <p:nvPr/>
        </p:nvSpPr>
        <p:spPr>
          <a:xfrm>
            <a:off x="777240" y="4754880"/>
            <a:ext cx="10637215" cy="749808"/>
          </a:xfrm>
          <a:prstGeom prst="roundRect">
            <a:avLst>
              <a:gd name="adj" fmla="val 4000"/>
            </a:avLst>
          </a:prstGeom>
          <a:solidFill>
            <a:srgbClr val="1C2128"/>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r>
              <a:rPr sz="1350" b="1" i="0">
                <a:solidFill>
                  <a:srgbClr val="58A6FF"/>
                </a:solidFill>
                <a:latin typeface="Segoe UI"/>
              </a:rPr>
              <a:t>Documentation:  </a:t>
            </a:r>
            <a:r>
              <a:rPr sz="1300" b="0" i="0">
                <a:solidFill>
                  <a:srgbClr val="B9C2CC"/>
                </a:solidFill>
                <a:latin typeface="Consolas"/>
              </a:rPr>
              <a:t>README.md for the quick reference  ·  docs/extension.md for the full panel guide  ·  sdks/next/README.md for the developer-facing SDK setup</a:t>
            </a:r>
          </a:p>
        </p:txBody>
      </p:sp>
      <p:sp>
        <p:nvSpPr>
          <p:cNvPr id="8" name="TextBox 7"/>
          <p:cNvSpPr txBox="1"/>
          <p:nvPr/>
        </p:nvSpPr>
        <p:spPr>
          <a:xfrm>
            <a:off x="777240" y="6382512"/>
            <a:ext cx="10637215" cy="274320"/>
          </a:xfrm>
          <a:prstGeom prst="rect">
            <a:avLst/>
          </a:prstGeom>
          <a:noFill/>
        </p:spPr>
        <p:txBody>
          <a:bodyPr wrap="square" anchor="t" lIns="0" rIns="0" tIns="0" bIns="0">
            <a:spAutoFit/>
          </a:bodyPr>
          <a:lstStyle/>
          <a:p>
            <a:pPr algn="l"/>
            <a:r>
              <a:rPr sz="1050" b="0" i="0">
                <a:solidFill>
                  <a:srgbClr val="8B949E"/>
                </a:solidFill>
                <a:latin typeface="Segoe UI"/>
              </a:rPr>
              <a:t>ApiLens · Testing Guild KT</a:t>
            </a:r>
          </a:p>
        </p:txBody>
      </p:sp>
      <p:sp>
        <p:nvSpPr>
          <p:cNvPr id="9" name="TextBox 8"/>
          <p:cNvSpPr txBox="1"/>
          <p:nvPr/>
        </p:nvSpPr>
        <p:spPr>
          <a:xfrm>
            <a:off x="10317175" y="6382512"/>
            <a:ext cx="1097280" cy="274320"/>
          </a:xfrm>
          <a:prstGeom prst="rect">
            <a:avLst/>
          </a:prstGeom>
          <a:noFill/>
        </p:spPr>
        <p:txBody>
          <a:bodyPr wrap="square" anchor="t" lIns="0" rIns="0" tIns="0" bIns="0">
            <a:spAutoFit/>
          </a:bodyPr>
          <a:lstStyle/>
          <a:p>
            <a:pPr algn="r"/>
            <a:r>
              <a:rPr sz="1050" b="0" i="0">
                <a:solidFill>
                  <a:srgbClr val="8B949E"/>
                </a:solidFill>
                <a:latin typeface="Consolas"/>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10409"/>
        </a:solidFill>
        <a:effectLst/>
      </p:bgPr>
    </p:bg>
    <p:spTree>
      <p:nvGrpSpPr>
        <p:cNvPr id="1" name=""/>
        <p:cNvGrpSpPr/>
        <p:nvPr/>
      </p:nvGrpSpPr>
      <p:grpSpPr/>
      <p:sp>
        <p:nvSpPr>
          <p:cNvPr id="2" name="Oval 1"/>
          <p:cNvSpPr/>
          <p:nvPr/>
        </p:nvSpPr>
        <p:spPr>
          <a:xfrm>
            <a:off x="6583680" y="-1463040"/>
            <a:ext cx="7498079" cy="7498079"/>
          </a:xfrm>
          <a:prstGeom prst="ellipse">
            <a:avLst/>
          </a:prstGeom>
          <a:solidFill>
            <a:srgbClr val="0F18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p>
        </p:txBody>
      </p:sp>
      <p:sp>
        <p:nvSpPr>
          <p:cNvPr id="3" name="TextBox 2"/>
          <p:cNvSpPr txBox="1"/>
          <p:nvPr/>
        </p:nvSpPr>
        <p:spPr>
          <a:xfrm>
            <a:off x="777240" y="1371600"/>
            <a:ext cx="8778240" cy="1828800"/>
          </a:xfrm>
          <a:prstGeom prst="rect">
            <a:avLst/>
          </a:prstGeom>
          <a:noFill/>
        </p:spPr>
        <p:txBody>
          <a:bodyPr wrap="square" anchor="t" lIns="0" rIns="0" tIns="0" bIns="0">
            <a:spAutoFit/>
          </a:bodyPr>
          <a:lstStyle/>
          <a:p>
            <a:pPr algn="l">
              <a:lnSpc>
                <a:spcPct val="100000"/>
              </a:lnSpc>
              <a:spcBef>
                <a:spcPts val="0"/>
              </a:spcBef>
              <a:spcAft>
                <a:spcPts val="1200"/>
              </a:spcAft>
            </a:pPr>
            <a:r>
              <a:rPr sz="5200" b="1" i="0">
                <a:solidFill>
                  <a:srgbClr val="E6EDF3"/>
                </a:solidFill>
                <a:latin typeface="Segoe UI"/>
              </a:rPr>
              <a:t>Questions?</a:t>
            </a:r>
          </a:p>
          <a:p>
            <a:pPr algn="l">
              <a:lnSpc>
                <a:spcPct val="110000"/>
              </a:lnSpc>
              <a:spcBef>
                <a:spcPts val="0"/>
              </a:spcBef>
              <a:spcAft>
                <a:spcPts val="0"/>
              </a:spcAft>
            </a:pPr>
            <a:r>
              <a:rPr sz="2000" b="0" i="0">
                <a:solidFill>
                  <a:srgbClr val="58A6FF"/>
                </a:solidFill>
                <a:latin typeface="Segoe UI"/>
              </a:rPr>
              <a:t>Then let us go and break something on purpose.</a:t>
            </a:r>
          </a:p>
        </p:txBody>
      </p:sp>
      <p:sp>
        <p:nvSpPr>
          <p:cNvPr id="4" name="Rectangle 3"/>
          <p:cNvSpPr/>
          <p:nvPr/>
        </p:nvSpPr>
        <p:spPr>
          <a:xfrm>
            <a:off x="777240" y="3566160"/>
            <a:ext cx="2377440" cy="3175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931920"/>
            <a:ext cx="8686800" cy="457200"/>
          </a:xfrm>
          <a:prstGeom prst="rect">
            <a:avLst/>
          </a:prstGeom>
          <a:noFill/>
        </p:spPr>
        <p:txBody>
          <a:bodyPr wrap="square" anchor="t" lIns="0" rIns="0" tIns="0" bIns="0">
            <a:spAutoFit/>
          </a:bodyPr>
          <a:lstStyle/>
          <a:p>
            <a:pPr algn="l"/>
            <a:r>
              <a:rPr sz="1500" b="1" i="0">
                <a:solidFill>
                  <a:srgbClr val="58A6FF"/>
                </a:solidFill>
                <a:latin typeface="Segoe UI"/>
              </a:rPr>
              <a:t>▪  </a:t>
            </a:r>
            <a:r>
              <a:rPr sz="1500" b="1" i="0">
                <a:solidFill>
                  <a:srgbClr val="E6EDF3"/>
                </a:solidFill>
                <a:latin typeface="Segoe UI"/>
              </a:rPr>
              <a:t>Capture a real call</a:t>
            </a:r>
            <a:r>
              <a:rPr sz="1500" b="0" i="0">
                <a:solidFill>
                  <a:srgbClr val="B9C2CC"/>
                </a:solidFill>
                <a:latin typeface="Segoe UI"/>
              </a:rPr>
              <a:t>  —  before you try to mock anything</a:t>
            </a:r>
          </a:p>
        </p:txBody>
      </p:sp>
      <p:sp>
        <p:nvSpPr>
          <p:cNvPr id="6" name="TextBox 5"/>
          <p:cNvSpPr txBox="1"/>
          <p:nvPr/>
        </p:nvSpPr>
        <p:spPr>
          <a:xfrm>
            <a:off x="777240" y="4407408"/>
            <a:ext cx="8686800" cy="457200"/>
          </a:xfrm>
          <a:prstGeom prst="rect">
            <a:avLst/>
          </a:prstGeom>
          <a:noFill/>
        </p:spPr>
        <p:txBody>
          <a:bodyPr wrap="square" anchor="t" lIns="0" rIns="0" tIns="0" bIns="0">
            <a:spAutoFit/>
          </a:bodyPr>
          <a:lstStyle/>
          <a:p>
            <a:pPr algn="l"/>
            <a:r>
              <a:rPr sz="1500" b="1" i="0">
                <a:solidFill>
                  <a:srgbClr val="58A6FF"/>
                </a:solidFill>
                <a:latin typeface="Segoe UI"/>
              </a:rPr>
              <a:t>▪  </a:t>
            </a:r>
            <a:r>
              <a:rPr sz="1500" b="1" i="0">
                <a:solidFill>
                  <a:srgbClr val="E6EDF3"/>
                </a:solidFill>
                <a:latin typeface="Segoe UI"/>
              </a:rPr>
              <a:t>Rules start disabled</a:t>
            </a:r>
            <a:r>
              <a:rPr sz="1500" b="0" i="0">
                <a:solidFill>
                  <a:srgbClr val="B9C2CC"/>
                </a:solidFill>
                <a:latin typeface="Segoe UI"/>
              </a:rPr>
              <a:t>  —  and scoped — keep them that way</a:t>
            </a:r>
          </a:p>
        </p:txBody>
      </p:sp>
      <p:sp>
        <p:nvSpPr>
          <p:cNvPr id="7" name="TextBox 6"/>
          <p:cNvSpPr txBox="1"/>
          <p:nvPr/>
        </p:nvSpPr>
        <p:spPr>
          <a:xfrm>
            <a:off x="777240" y="4882896"/>
            <a:ext cx="8686800" cy="457200"/>
          </a:xfrm>
          <a:prstGeom prst="rect">
            <a:avLst/>
          </a:prstGeom>
          <a:noFill/>
        </p:spPr>
        <p:txBody>
          <a:bodyPr wrap="square" anchor="t" lIns="0" rIns="0" tIns="0" bIns="0">
            <a:spAutoFit/>
          </a:bodyPr>
          <a:lstStyle/>
          <a:p>
            <a:pPr algn="l"/>
            <a:r>
              <a:rPr sz="1500" b="1" i="0">
                <a:solidFill>
                  <a:srgbClr val="58A6FF"/>
                </a:solidFill>
                <a:latin typeface="Segoe UI"/>
              </a:rPr>
              <a:t>▪  </a:t>
            </a:r>
            <a:r>
              <a:rPr sz="1500" b="1" i="0">
                <a:solidFill>
                  <a:srgbClr val="E6EDF3"/>
                </a:solidFill>
                <a:latin typeface="Segoe UI"/>
              </a:rPr>
              <a:t>Extract the evidence</a:t>
            </a:r>
            <a:r>
              <a:rPr sz="1500" b="0" i="0">
                <a:solidFill>
                  <a:srgbClr val="B9C2CC"/>
                </a:solidFill>
                <a:latin typeface="Segoe UI"/>
              </a:rPr>
              <a:t>  —  a cURL beats a screenshot every time</a:t>
            </a:r>
          </a:p>
        </p:txBody>
      </p:sp>
      <p:sp>
        <p:nvSpPr>
          <p:cNvPr id="8" name="TextBox 7"/>
          <p:cNvSpPr txBox="1"/>
          <p:nvPr/>
        </p:nvSpPr>
        <p:spPr>
          <a:xfrm>
            <a:off x="777240" y="5943600"/>
            <a:ext cx="8686800" cy="548640"/>
          </a:xfrm>
          <a:prstGeom prst="rect">
            <a:avLst/>
          </a:prstGeom>
          <a:noFill/>
        </p:spPr>
        <p:txBody>
          <a:bodyPr wrap="square" anchor="t" lIns="0" rIns="0" tIns="0" bIns="0">
            <a:spAutoFit/>
          </a:bodyPr>
          <a:lstStyle/>
          <a:p>
            <a:pPr algn="l">
              <a:spcBef>
                <a:spcPts val="0"/>
              </a:spcBef>
              <a:spcAft>
                <a:spcPts val="0"/>
              </a:spcAft>
            </a:pPr>
            <a:r>
              <a:rPr sz="1250" b="0" i="0">
                <a:solidFill>
                  <a:srgbClr val="8B949E"/>
                </a:solidFill>
                <a:latin typeface="Segoe UI"/>
              </a:rPr>
              <a:t>ApiLens  ·  Testing Guild Knowledge Transfer  ·  VOIS IE Quality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